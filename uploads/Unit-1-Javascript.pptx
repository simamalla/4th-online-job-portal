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8"/>
  </p:notesMasterIdLst>
  <p:sldIdLst>
    <p:sldId id="256" r:id="rId5"/>
    <p:sldId id="319" r:id="rId6"/>
    <p:sldId id="260" r:id="rId7"/>
    <p:sldId id="257" r:id="rId8"/>
    <p:sldId id="258" r:id="rId9"/>
    <p:sldId id="259" r:id="rId10"/>
    <p:sldId id="261" r:id="rId11"/>
    <p:sldId id="262" r:id="rId12"/>
    <p:sldId id="263" r:id="rId13"/>
    <p:sldId id="264" r:id="rId14"/>
    <p:sldId id="265" r:id="rId15"/>
    <p:sldId id="266"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8" r:id="rId40"/>
    <p:sldId id="377" r:id="rId41"/>
    <p:sldId id="373" r:id="rId42"/>
    <p:sldId id="374" r:id="rId43"/>
    <p:sldId id="375" r:id="rId44"/>
    <p:sldId id="376" r:id="rId45"/>
    <p:sldId id="382" r:id="rId46"/>
    <p:sldId id="267" r:id="rId47"/>
    <p:sldId id="268" r:id="rId48"/>
    <p:sldId id="269" r:id="rId49"/>
    <p:sldId id="270" r:id="rId50"/>
    <p:sldId id="271" r:id="rId51"/>
    <p:sldId id="272" r:id="rId52"/>
    <p:sldId id="273" r:id="rId53"/>
    <p:sldId id="278" r:id="rId54"/>
    <p:sldId id="279" r:id="rId55"/>
    <p:sldId id="280" r:id="rId56"/>
    <p:sldId id="281" r:id="rId57"/>
    <p:sldId id="282" r:id="rId58"/>
    <p:sldId id="283" r:id="rId59"/>
    <p:sldId id="285" r:id="rId60"/>
    <p:sldId id="286" r:id="rId61"/>
    <p:sldId id="287" r:id="rId62"/>
    <p:sldId id="288" r:id="rId63"/>
    <p:sldId id="289" r:id="rId64"/>
    <p:sldId id="290" r:id="rId65"/>
    <p:sldId id="291" r:id="rId66"/>
    <p:sldId id="292" r:id="rId67"/>
    <p:sldId id="293" r:id="rId68"/>
    <p:sldId id="294" r:id="rId69"/>
    <p:sldId id="295" r:id="rId70"/>
    <p:sldId id="296" r:id="rId71"/>
    <p:sldId id="297" r:id="rId72"/>
    <p:sldId id="298" r:id="rId73"/>
    <p:sldId id="299" r:id="rId74"/>
    <p:sldId id="300" r:id="rId75"/>
    <p:sldId id="301" r:id="rId76"/>
    <p:sldId id="302" r:id="rId77"/>
    <p:sldId id="303" r:id="rId78"/>
    <p:sldId id="304" r:id="rId79"/>
    <p:sldId id="305" r:id="rId80"/>
    <p:sldId id="306" r:id="rId81"/>
    <p:sldId id="307" r:id="rId82"/>
    <p:sldId id="349" r:id="rId83"/>
    <p:sldId id="308" r:id="rId84"/>
    <p:sldId id="309" r:id="rId85"/>
    <p:sldId id="310" r:id="rId86"/>
    <p:sldId id="311" r:id="rId87"/>
    <p:sldId id="312" r:id="rId88"/>
    <p:sldId id="313" r:id="rId89"/>
    <p:sldId id="314" r:id="rId90"/>
    <p:sldId id="315" r:id="rId91"/>
    <p:sldId id="316" r:id="rId92"/>
    <p:sldId id="317" r:id="rId93"/>
    <p:sldId id="318" r:id="rId94"/>
    <p:sldId id="379" r:id="rId95"/>
    <p:sldId id="380" r:id="rId96"/>
    <p:sldId id="381"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p:scale>
          <a:sx n="81" d="100"/>
          <a:sy n="81" d="100"/>
        </p:scale>
        <p:origin x="-105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slide" Target="slides/slide85.xml"/><Relationship Id="rId97" Type="http://schemas.openxmlformats.org/officeDocument/2006/relationships/slide" Target="slides/slide9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59A248-5027-4E02-86DF-8500B1AC572C}" type="datetimeFigureOut">
              <a:rPr lang="en-US" smtClean="0"/>
              <a:pPr/>
              <a:t>8/3/2024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29833E-2FDE-4C7C-8F04-1BA72667E71B}" type="slidenum">
              <a:rPr lang="en-US" smtClean="0"/>
              <a:pPr/>
              <a:t>‹#›</a:t>
            </a:fld>
            <a:endParaRPr lang="en-US"/>
          </a:p>
        </p:txBody>
      </p:sp>
    </p:spTree>
    <p:extLst>
      <p:ext uri="{BB962C8B-B14F-4D97-AF65-F5344CB8AC3E}">
        <p14:creationId xmlns:p14="http://schemas.microsoft.com/office/powerpoint/2010/main" val="344481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629833E-2FDE-4C7C-8F04-1BA72667E71B}"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71382DC-8B05-44A1-802E-A7927BAF6565}" type="datetimeFigureOut">
              <a:rPr lang="en-US" smtClean="0"/>
              <a:pPr/>
              <a:t>8/3/2024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1382DC-8B05-44A1-802E-A7927BAF6565}" type="datetimeFigureOut">
              <a:rPr lang="en-US" smtClean="0"/>
              <a:pPr/>
              <a:t>8/3/2024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1382DC-8B05-44A1-802E-A7927BAF6565}" type="datetimeFigureOut">
              <a:rPr lang="en-US" smtClean="0"/>
              <a:pPr/>
              <a:t>8/3/2024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71382DC-8B05-44A1-802E-A7927BAF6565}" type="datetimeFigureOut">
              <a:rPr lang="en-US" smtClean="0"/>
              <a:pPr/>
              <a:t>8/3/2024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1382DC-8B05-44A1-802E-A7927BAF6565}" type="datetimeFigureOut">
              <a:rPr lang="en-US" smtClean="0"/>
              <a:pPr/>
              <a:t>8/3/2024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1382DC-8B05-44A1-802E-A7927BAF6565}" type="datetimeFigureOut">
              <a:rPr lang="en-US" smtClean="0"/>
              <a:pPr/>
              <a:t>8/3/2024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382DC-8B05-44A1-802E-A7927BAF6565}" type="datetimeFigureOut">
              <a:rPr lang="en-US" smtClean="0"/>
              <a:pPr/>
              <a:t>8/3/2024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1382DC-8B05-44A1-802E-A7927BAF6565}" type="datetimeFigureOut">
              <a:rPr lang="en-US" smtClean="0"/>
              <a:pPr/>
              <a:t>8/3/2024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1382DC-8B05-44A1-802E-A7927BAF6565}" type="datetimeFigureOut">
              <a:rPr lang="en-US" smtClean="0"/>
              <a:pPr/>
              <a:t>8/3/2024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1382DC-8B05-44A1-802E-A7927BAF6565}" type="datetimeFigureOut">
              <a:rPr lang="en-US" smtClean="0"/>
              <a:pPr/>
              <a:t>8/3/2024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1382DC-8B05-44A1-802E-A7927BAF6565}" type="datetimeFigureOut">
              <a:rPr lang="en-US" smtClean="0"/>
              <a:pPr/>
              <a:t>8/3/2024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B772E2-07EF-48EB-A7C1-EBD9A458371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1382DC-8B05-44A1-802E-A7927BAF6565}" type="datetimeFigureOut">
              <a:rPr lang="en-US" smtClean="0"/>
              <a:pPr/>
              <a:t>8/3/2024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B772E2-07EF-48EB-A7C1-EBD9A458371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Unit-1</a:t>
            </a:r>
            <a:r>
              <a:rPr lang="en-US" dirty="0"/>
              <a:t/>
            </a:r>
            <a:br>
              <a:rPr lang="en-US" dirty="0"/>
            </a:br>
            <a:r>
              <a:rPr lang="en-US" dirty="0"/>
              <a:t>Java </a:t>
            </a:r>
            <a:r>
              <a:rPr lang="en-US" dirty="0" smtClean="0"/>
              <a:t>Script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Java script</a:t>
            </a:r>
          </a:p>
        </p:txBody>
      </p:sp>
      <p:sp>
        <p:nvSpPr>
          <p:cNvPr id="3" name="Content Placeholder 2"/>
          <p:cNvSpPr>
            <a:spLocks noGrp="1"/>
          </p:cNvSpPr>
          <p:nvPr>
            <p:ph idx="1"/>
          </p:nvPr>
        </p:nvSpPr>
        <p:spPr/>
        <p:txBody>
          <a:bodyPr>
            <a:normAutofit fontScale="85000" lnSpcReduction="20000"/>
          </a:bodyPr>
          <a:lstStyle/>
          <a:p>
            <a:pPr algn="just">
              <a:lnSpc>
                <a:spcPct val="160000"/>
              </a:lnSpc>
            </a:pPr>
            <a:r>
              <a:rPr lang="en-US" dirty="0">
                <a:latin typeface="Times New Roman" pitchFamily="18" charset="0"/>
                <a:cs typeface="Times New Roman" pitchFamily="18" charset="0"/>
              </a:rPr>
              <a:t>JavaScript was created in 10 days in may 1995 by Brendan </a:t>
            </a:r>
            <a:r>
              <a:rPr lang="en-US" dirty="0" err="1">
                <a:latin typeface="Times New Roman" pitchFamily="18" charset="0"/>
                <a:cs typeface="Times New Roman" pitchFamily="18" charset="0"/>
              </a:rPr>
              <a:t>Eich</a:t>
            </a:r>
            <a:r>
              <a:rPr lang="en-US" dirty="0">
                <a:latin typeface="Times New Roman" pitchFamily="18" charset="0"/>
                <a:cs typeface="Times New Roman" pitchFamily="18" charset="0"/>
              </a:rPr>
              <a:t>, then working at Netscape  and now Mozilla.</a:t>
            </a:r>
          </a:p>
          <a:p>
            <a:pPr algn="just">
              <a:lnSpc>
                <a:spcPct val="160000"/>
              </a:lnSpc>
            </a:pPr>
            <a:r>
              <a:rPr lang="en-US" dirty="0">
                <a:latin typeface="Times New Roman" pitchFamily="18" charset="0"/>
                <a:cs typeface="Times New Roman" pitchFamily="18" charset="0"/>
              </a:rPr>
              <a:t>The original name of JavaScript was mocha(name chosen by founder of Netscape)</a:t>
            </a:r>
          </a:p>
          <a:p>
            <a:pPr algn="just">
              <a:lnSpc>
                <a:spcPct val="160000"/>
              </a:lnSpc>
            </a:pPr>
            <a:r>
              <a:rPr lang="en-US" dirty="0">
                <a:latin typeface="Times New Roman" pitchFamily="18" charset="0"/>
                <a:cs typeface="Times New Roman" pitchFamily="18" charset="0"/>
              </a:rPr>
              <a:t>In September 1995, name changed to </a:t>
            </a:r>
            <a:r>
              <a:rPr lang="en-US" dirty="0" err="1">
                <a:latin typeface="Times New Roman" pitchFamily="18" charset="0"/>
                <a:cs typeface="Times New Roman" pitchFamily="18" charset="0"/>
              </a:rPr>
              <a:t>LiveScript</a:t>
            </a:r>
            <a:r>
              <a:rPr lang="en-US" dirty="0">
                <a:latin typeface="Times New Roman" pitchFamily="18" charset="0"/>
                <a:cs typeface="Times New Roman" pitchFamily="18" charset="0"/>
              </a:rPr>
              <a:t> .</a:t>
            </a:r>
          </a:p>
          <a:p>
            <a:pPr algn="just">
              <a:lnSpc>
                <a:spcPct val="160000"/>
              </a:lnSpc>
            </a:pPr>
            <a:r>
              <a:rPr lang="en-US" dirty="0">
                <a:latin typeface="Times New Roman" pitchFamily="18" charset="0"/>
                <a:cs typeface="Times New Roman" pitchFamily="18" charset="0"/>
              </a:rPr>
              <a:t>Again in December 1995, name changed to JavaScript.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Overview/Introduction </a:t>
            </a:r>
            <a:r>
              <a:rPr lang="en-US" dirty="0"/>
              <a:t>Of JavaScript</a:t>
            </a:r>
          </a:p>
        </p:txBody>
      </p:sp>
      <p:sp>
        <p:nvSpPr>
          <p:cNvPr id="3" name="Content Placeholder 2"/>
          <p:cNvSpPr>
            <a:spLocks noGrp="1"/>
          </p:cNvSpPr>
          <p:nvPr>
            <p:ph idx="1"/>
          </p:nvPr>
        </p:nvSpPr>
        <p:spPr/>
        <p:txBody>
          <a:bodyPr>
            <a:normAutofit lnSpcReduction="10000"/>
          </a:bodyPr>
          <a:lstStyle/>
          <a:p>
            <a:pPr marL="457200" lvl="0" indent="-457200">
              <a:lnSpc>
                <a:spcPct val="150000"/>
              </a:lnSpc>
              <a:spcBef>
                <a:spcPts val="0"/>
              </a:spcBef>
              <a:buSzPts val="3200"/>
              <a:buFont typeface="Arial"/>
              <a:buChar char="•"/>
            </a:pPr>
            <a:r>
              <a:rPr lang="en-US" dirty="0">
                <a:latin typeface="Times New Roman" pitchFamily="18" charset="0"/>
                <a:cs typeface="Times New Roman" pitchFamily="18" charset="0"/>
              </a:rPr>
              <a:t>Java script is high level, un-typed interpreted client-side scripting language.</a:t>
            </a:r>
          </a:p>
          <a:p>
            <a:pPr marL="457200" lvl="0" indent="-457200">
              <a:lnSpc>
                <a:spcPct val="150000"/>
              </a:lnSpc>
              <a:spcBef>
                <a:spcPts val="0"/>
              </a:spcBef>
              <a:buSzPts val="3200"/>
              <a:buFont typeface="Arial"/>
              <a:buChar char="•"/>
            </a:pPr>
            <a:r>
              <a:rPr lang="en-US" dirty="0">
                <a:latin typeface="Times New Roman" pitchFamily="18" charset="0"/>
                <a:cs typeface="Times New Roman" pitchFamily="18" charset="0"/>
              </a:rPr>
              <a:t>Designed to add interactivity to HTML pages</a:t>
            </a:r>
          </a:p>
          <a:p>
            <a:pPr marL="457200" lvl="0" indent="-457200">
              <a:lnSpc>
                <a:spcPct val="150000"/>
              </a:lnSpc>
              <a:spcBef>
                <a:spcPts val="640"/>
              </a:spcBef>
              <a:buSzPts val="3200"/>
              <a:buFont typeface="Arial"/>
              <a:buChar char="•"/>
            </a:pPr>
            <a:r>
              <a:rPr lang="en-US" dirty="0">
                <a:latin typeface="Times New Roman" pitchFamily="18" charset="0"/>
                <a:cs typeface="Times New Roman" pitchFamily="18" charset="0"/>
              </a:rPr>
              <a:t>Lightweight scripting programming language</a:t>
            </a:r>
          </a:p>
          <a:p>
            <a:pPr marL="457200" lvl="0" indent="-457200">
              <a:lnSpc>
                <a:spcPct val="150000"/>
              </a:lnSpc>
              <a:spcBef>
                <a:spcPts val="640"/>
              </a:spcBef>
              <a:buSzPts val="3200"/>
              <a:buFont typeface="Arial"/>
              <a:buChar char="•"/>
            </a:pPr>
            <a:r>
              <a:rPr lang="en-US" dirty="0">
                <a:latin typeface="Times New Roman" pitchFamily="18" charset="0"/>
                <a:cs typeface="Times New Roman" pitchFamily="18" charset="0"/>
              </a:rPr>
              <a:t>Interpreted and embedded directly into HTML pages</a:t>
            </a:r>
          </a:p>
          <a:p>
            <a:pPr marL="457200" lvl="0" indent="-254000">
              <a:lnSpc>
                <a:spcPct val="150000"/>
              </a:lnSpc>
              <a:spcBef>
                <a:spcPts val="640"/>
              </a:spcBef>
              <a:buSzPts val="3200"/>
              <a:buNone/>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Overview/Introduction </a:t>
            </a:r>
            <a:r>
              <a:rPr lang="en-US" dirty="0"/>
              <a:t>Of JavaScript</a:t>
            </a:r>
          </a:p>
        </p:txBody>
      </p:sp>
      <p:sp>
        <p:nvSpPr>
          <p:cNvPr id="3" name="Content Placeholder 2"/>
          <p:cNvSpPr>
            <a:spLocks noGrp="1"/>
          </p:cNvSpPr>
          <p:nvPr>
            <p:ph idx="1"/>
          </p:nvPr>
        </p:nvSpPr>
        <p:spPr/>
        <p:txBody>
          <a:bodyPr>
            <a:normAutofit fontScale="85000" lnSpcReduction="20000"/>
          </a:bodyPr>
          <a:lstStyle/>
          <a:p>
            <a:pPr marL="457200" lvl="0" indent="-457200">
              <a:lnSpc>
                <a:spcPct val="160000"/>
              </a:lnSpc>
              <a:spcBef>
                <a:spcPts val="0"/>
              </a:spcBef>
              <a:buSzPts val="2800"/>
              <a:buFont typeface="Arial"/>
              <a:buChar char="•"/>
            </a:pPr>
            <a:r>
              <a:rPr lang="en-US" dirty="0">
                <a:latin typeface="Times New Roman" pitchFamily="18" charset="0"/>
                <a:cs typeface="Times New Roman" pitchFamily="18" charset="0"/>
              </a:rPr>
              <a:t>JavaScript gives HTML designers a programming tool</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pages</a:t>
            </a:r>
          </a:p>
          <a:p>
            <a:pPr marL="457200" lvl="0" indent="-457200">
              <a:lnSpc>
                <a:spcPct val="160000"/>
              </a:lnSpc>
              <a:spcBef>
                <a:spcPts val="560"/>
              </a:spcBef>
              <a:buSzPts val="2800"/>
              <a:buFont typeface="Arial"/>
              <a:buChar char="•"/>
            </a:pPr>
            <a:r>
              <a:rPr lang="en-US" dirty="0">
                <a:latin typeface="Times New Roman" pitchFamily="18" charset="0"/>
                <a:cs typeface="Times New Roman" pitchFamily="18" charset="0"/>
              </a:rPr>
              <a:t>JavaScript can put dynamic text into an HTML page </a:t>
            </a:r>
          </a:p>
          <a:p>
            <a:pPr marL="457200" lvl="0" indent="-457200">
              <a:lnSpc>
                <a:spcPct val="160000"/>
              </a:lnSpc>
              <a:spcBef>
                <a:spcPts val="560"/>
              </a:spcBef>
              <a:buSzPts val="2800"/>
              <a:buFont typeface="Arial"/>
              <a:buChar char="•"/>
            </a:pPr>
            <a:r>
              <a:rPr lang="en-US" dirty="0">
                <a:latin typeface="Times New Roman" pitchFamily="18" charset="0"/>
                <a:cs typeface="Times New Roman" pitchFamily="18" charset="0"/>
              </a:rPr>
              <a:t>JavaScript can react to events</a:t>
            </a:r>
          </a:p>
          <a:p>
            <a:pPr marL="457200" lvl="0" indent="-457200">
              <a:lnSpc>
                <a:spcPct val="160000"/>
              </a:lnSpc>
              <a:spcBef>
                <a:spcPts val="560"/>
              </a:spcBef>
              <a:buSzPts val="2800"/>
              <a:buFont typeface="Arial"/>
              <a:buChar char="•"/>
            </a:pPr>
            <a:r>
              <a:rPr lang="en-US" dirty="0">
                <a:latin typeface="Times New Roman" pitchFamily="18" charset="0"/>
                <a:cs typeface="Times New Roman" pitchFamily="18" charset="0"/>
              </a:rPr>
              <a:t>JavaScript can read and write HTML elements</a:t>
            </a:r>
          </a:p>
          <a:p>
            <a:pPr marL="457200" lvl="0" indent="-457200">
              <a:lnSpc>
                <a:spcPct val="160000"/>
              </a:lnSpc>
              <a:spcBef>
                <a:spcPts val="560"/>
              </a:spcBef>
              <a:buSzPts val="2800"/>
              <a:buFont typeface="Arial"/>
              <a:buChar char="•"/>
            </a:pPr>
            <a:r>
              <a:rPr lang="en-US" dirty="0">
                <a:latin typeface="Times New Roman" pitchFamily="18" charset="0"/>
                <a:cs typeface="Times New Roman" pitchFamily="18" charset="0"/>
              </a:rPr>
              <a:t>JavaScript can be used to validate data</a:t>
            </a:r>
          </a:p>
          <a:p>
            <a:pPr marL="457200" lvl="0" indent="-457200">
              <a:lnSpc>
                <a:spcPct val="160000"/>
              </a:lnSpc>
              <a:spcBef>
                <a:spcPts val="560"/>
              </a:spcBef>
              <a:buSzPts val="2800"/>
              <a:buFont typeface="Arial"/>
              <a:buChar char="•"/>
            </a:pPr>
            <a:r>
              <a:rPr lang="en-US" dirty="0">
                <a:latin typeface="Times New Roman" pitchFamily="18" charset="0"/>
                <a:cs typeface="Times New Roman" pitchFamily="18" charset="0"/>
              </a:rPr>
              <a:t>JavaScript can be used to create cookies</a:t>
            </a:r>
          </a:p>
          <a:p>
            <a:pPr>
              <a:lnSpc>
                <a:spcPct val="160000"/>
              </a:lnSpc>
            </a:pPr>
            <a:endParaRPr 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10;p16"/>
          <p:cNvPicPr preferRelativeResize="0">
            <a:picLocks noGrp="1"/>
          </p:cNvPicPr>
          <p:nvPr>
            <p:ph idx="1"/>
          </p:nvPr>
        </p:nvPicPr>
        <p:blipFill rotWithShape="1">
          <a:blip r:embed="rId2">
            <a:alphaModFix/>
          </a:blip>
          <a:srcRect/>
          <a:stretch/>
        </p:blipFill>
        <p:spPr>
          <a:xfrm>
            <a:off x="533400" y="457200"/>
            <a:ext cx="8382000" cy="60960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to Put the JavaScript</a:t>
            </a:r>
          </a:p>
        </p:txBody>
      </p:sp>
      <p:sp>
        <p:nvSpPr>
          <p:cNvPr id="3" name="Content Placeholder 2"/>
          <p:cNvSpPr>
            <a:spLocks noGrp="1"/>
          </p:cNvSpPr>
          <p:nvPr>
            <p:ph idx="1"/>
          </p:nvPr>
        </p:nvSpPr>
        <p:spPr/>
        <p:txBody>
          <a:bodyPr>
            <a:normAutofit fontScale="85000" lnSpcReduction="20000"/>
          </a:bodyPr>
          <a:lstStyle/>
          <a:p>
            <a:pPr marL="514350" lvl="0" indent="-514350">
              <a:lnSpc>
                <a:spcPct val="150000"/>
              </a:lnSpc>
              <a:spcBef>
                <a:spcPts val="0"/>
              </a:spcBef>
              <a:buSzPts val="2800"/>
              <a:buFont typeface="Arial"/>
              <a:buChar char="•"/>
            </a:pPr>
            <a:r>
              <a:rPr lang="en-US" dirty="0">
                <a:latin typeface="Times New Roman" pitchFamily="18" charset="0"/>
                <a:cs typeface="Times New Roman" pitchFamily="18" charset="0"/>
              </a:rPr>
              <a:t>JavaScript executes immediately while the page loads into the browser. </a:t>
            </a:r>
          </a:p>
          <a:p>
            <a:pPr marL="514350" lvl="0" indent="-514350">
              <a:lnSpc>
                <a:spcPct val="150000"/>
              </a:lnSpc>
              <a:spcBef>
                <a:spcPts val="560"/>
              </a:spcBef>
              <a:buSzPts val="2800"/>
              <a:buFont typeface="Arial"/>
              <a:buChar char="•"/>
            </a:pPr>
            <a:r>
              <a:rPr lang="en-US" dirty="0">
                <a:latin typeface="Times New Roman" pitchFamily="18" charset="0"/>
                <a:cs typeface="Times New Roman" pitchFamily="18" charset="0"/>
              </a:rPr>
              <a:t>This is not always what we want. Sometimes we want to execute a script when a page loads, or at a later event, such as when a user clicks a button.</a:t>
            </a:r>
          </a:p>
          <a:p>
            <a:pPr marL="514350" lvl="0" indent="-514350">
              <a:lnSpc>
                <a:spcPct val="150000"/>
              </a:lnSpc>
              <a:spcBef>
                <a:spcPts val="560"/>
              </a:spcBef>
              <a:buSzPts val="2800"/>
              <a:buFont typeface="Arial"/>
              <a:buChar char="•"/>
            </a:pPr>
            <a:r>
              <a:rPr lang="en-US" dirty="0">
                <a:latin typeface="Times New Roman" pitchFamily="18" charset="0"/>
                <a:cs typeface="Times New Roman" pitchFamily="18" charset="0"/>
              </a:rPr>
              <a:t>When this is the case we put the script inside a function, head, body and both in head and body.</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Primitives</a:t>
            </a:r>
          </a:p>
        </p:txBody>
      </p:sp>
      <p:sp>
        <p:nvSpPr>
          <p:cNvPr id="3" name="Content Placeholder 2"/>
          <p:cNvSpPr>
            <a:spLocks noGrp="1"/>
          </p:cNvSpPr>
          <p:nvPr>
            <p:ph idx="1"/>
          </p:nvPr>
        </p:nvSpPr>
        <p:spPr/>
        <p:txBody>
          <a:bodyPr>
            <a:normAutofit fontScale="92500" lnSpcReduction="10000"/>
          </a:bodyPr>
          <a:lstStyle/>
          <a:p>
            <a:pPr marL="457200" lvl="0" indent="-279400">
              <a:spcBef>
                <a:spcPts val="0"/>
              </a:spcBef>
              <a:buSzPts val="2800"/>
              <a:buNone/>
            </a:pPr>
            <a:r>
              <a:rPr lang="en-US" b="1" dirty="0"/>
              <a:t>JS has 5 primitives :</a:t>
            </a:r>
          </a:p>
          <a:p>
            <a:pPr marL="457200" lvl="0" indent="-406400" algn="just">
              <a:lnSpc>
                <a:spcPct val="150000"/>
              </a:lnSpc>
              <a:spcBef>
                <a:spcPts val="0"/>
              </a:spcBef>
              <a:buSzPts val="2800"/>
              <a:buAutoNum type="arabicPeriod"/>
            </a:pPr>
            <a:r>
              <a:rPr lang="en-US" dirty="0">
                <a:latin typeface="Times New Roman" pitchFamily="18" charset="0"/>
                <a:cs typeface="Times New Roman" pitchFamily="18" charset="0"/>
              </a:rPr>
              <a:t>numbers: 2, 3.7, -7</a:t>
            </a:r>
          </a:p>
          <a:p>
            <a:pPr marL="457200" lvl="0" indent="-406400" algn="just">
              <a:lnSpc>
                <a:spcPct val="150000"/>
              </a:lnSpc>
              <a:spcBef>
                <a:spcPts val="0"/>
              </a:spcBef>
              <a:buSzPts val="2800"/>
              <a:buAutoNum type="arabicPeriod"/>
            </a:pPr>
            <a:r>
              <a:rPr lang="en-US" dirty="0">
                <a:latin typeface="Times New Roman" pitchFamily="18" charset="0"/>
                <a:cs typeface="Times New Roman" pitchFamily="18" charset="0"/>
              </a:rPr>
              <a:t>string: “hello”, “123”</a:t>
            </a:r>
          </a:p>
          <a:p>
            <a:pPr marL="457200" lvl="0" indent="-406400" algn="just">
              <a:lnSpc>
                <a:spcPct val="150000"/>
              </a:lnSpc>
              <a:spcBef>
                <a:spcPts val="0"/>
              </a:spcBef>
              <a:buSzPts val="2800"/>
              <a:buAutoNum type="arabicPeriod"/>
            </a:pPr>
            <a:r>
              <a:rPr lang="en-US" dirty="0" err="1">
                <a:latin typeface="Times New Roman" pitchFamily="18" charset="0"/>
                <a:cs typeface="Times New Roman" pitchFamily="18" charset="0"/>
              </a:rPr>
              <a:t>booleans</a:t>
            </a:r>
            <a:r>
              <a:rPr lang="en-US" dirty="0">
                <a:latin typeface="Times New Roman" pitchFamily="18" charset="0"/>
                <a:cs typeface="Times New Roman" pitchFamily="18" charset="0"/>
              </a:rPr>
              <a:t>: true , false</a:t>
            </a:r>
          </a:p>
          <a:p>
            <a:pPr marL="457200" lvl="0" indent="-406400" algn="just">
              <a:lnSpc>
                <a:spcPct val="150000"/>
              </a:lnSpc>
              <a:spcBef>
                <a:spcPts val="0"/>
              </a:spcBef>
              <a:buSzPts val="2800"/>
              <a:buAutoNum type="arabicPeriod"/>
            </a:pPr>
            <a:r>
              <a:rPr lang="en-US" dirty="0">
                <a:latin typeface="Times New Roman" pitchFamily="18" charset="0"/>
                <a:cs typeface="Times New Roman" pitchFamily="18" charset="0"/>
              </a:rPr>
              <a:t>null: variables whose value are set to null</a:t>
            </a:r>
          </a:p>
          <a:p>
            <a:pPr marL="457200" lvl="0" indent="-406400" algn="just">
              <a:lnSpc>
                <a:spcPct val="150000"/>
              </a:lnSpc>
              <a:spcBef>
                <a:spcPts val="0"/>
              </a:spcBef>
              <a:buSzPts val="2800"/>
              <a:buAutoNum type="arabicPeriod"/>
            </a:pPr>
            <a:r>
              <a:rPr lang="en-US" dirty="0">
                <a:latin typeface="Times New Roman" pitchFamily="18" charset="0"/>
                <a:cs typeface="Times New Roman" pitchFamily="18" charset="0"/>
              </a:rPr>
              <a:t>undefined:  variables which are declared but not initialized</a:t>
            </a:r>
          </a:p>
          <a:p>
            <a:pPr marL="457200" lvl="0" indent="-279400">
              <a:spcBef>
                <a:spcPts val="0"/>
              </a:spcBef>
              <a:buSzPts val="2800"/>
              <a:buNone/>
            </a:pPr>
            <a:endParaRPr lang="en-US" dirty="0"/>
          </a:p>
          <a:p>
            <a:pPr marL="457200" lvl="0" indent="-279400">
              <a:spcBef>
                <a:spcPts val="0"/>
              </a:spcBef>
              <a:buSzPts val="2800"/>
              <a:buNone/>
            </a:pP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JavaScript Variables</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pPr marL="457200" lvl="0" indent="-406400" algn="just">
              <a:lnSpc>
                <a:spcPct val="170000"/>
              </a:lnSpc>
              <a:spcBef>
                <a:spcPts val="0"/>
              </a:spcBef>
              <a:buSzPts val="2800"/>
              <a:buChar char="●"/>
            </a:pPr>
            <a:r>
              <a:rPr lang="en-US" dirty="0">
                <a:latin typeface="Times New Roman" pitchFamily="18" charset="0"/>
                <a:cs typeface="Times New Roman" pitchFamily="18" charset="0"/>
              </a:rPr>
              <a:t>hold values or expressions</a:t>
            </a:r>
          </a:p>
          <a:p>
            <a:pPr marL="457200" lvl="0" indent="-406400" algn="just">
              <a:lnSpc>
                <a:spcPct val="170000"/>
              </a:lnSpc>
              <a:spcBef>
                <a:spcPts val="0"/>
              </a:spcBef>
              <a:buSzPts val="2800"/>
              <a:buChar char="●"/>
            </a:pPr>
            <a:r>
              <a:rPr lang="en-US" dirty="0">
                <a:latin typeface="Times New Roman" pitchFamily="18" charset="0"/>
                <a:cs typeface="Times New Roman" pitchFamily="18" charset="0"/>
              </a:rPr>
              <a:t>Variable names are case sensitive </a:t>
            </a:r>
          </a:p>
          <a:p>
            <a:pPr marL="457200" lvl="0" indent="-406400" algn="just">
              <a:lnSpc>
                <a:spcPct val="170000"/>
              </a:lnSpc>
              <a:spcBef>
                <a:spcPts val="0"/>
              </a:spcBef>
              <a:buSzPts val="2800"/>
              <a:buChar char="●"/>
            </a:pPr>
            <a:r>
              <a:rPr lang="en-US" dirty="0">
                <a:latin typeface="Times New Roman" pitchFamily="18" charset="0"/>
                <a:cs typeface="Times New Roman" pitchFamily="18" charset="0"/>
              </a:rPr>
              <a:t>Variable names must begin with a letter or the underscore character</a:t>
            </a:r>
          </a:p>
          <a:p>
            <a:pPr marL="457200" lvl="0" indent="-406400" algn="just">
              <a:lnSpc>
                <a:spcPct val="170000"/>
              </a:lnSpc>
              <a:spcBef>
                <a:spcPts val="0"/>
              </a:spcBef>
              <a:buSzPts val="2800"/>
              <a:buChar char="●"/>
            </a:pPr>
            <a:r>
              <a:rPr lang="en-US" dirty="0">
                <a:latin typeface="Times New Roman" pitchFamily="18" charset="0"/>
                <a:cs typeface="Times New Roman" pitchFamily="18" charset="0"/>
              </a:rPr>
              <a:t>declare JavaScript variables with the </a:t>
            </a: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statement:</a:t>
            </a:r>
          </a:p>
          <a:p>
            <a:pPr marL="457200" lvl="0" indent="0" algn="just">
              <a:lnSpc>
                <a:spcPct val="170000"/>
              </a:lnSpc>
              <a:spcBef>
                <a:spcPts val="0"/>
              </a:spcBef>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name; (deceleration)</a:t>
            </a:r>
          </a:p>
          <a:p>
            <a:pPr marL="457200" lvl="0" indent="0" algn="just">
              <a:lnSpc>
                <a:spcPct val="170000"/>
              </a:lnSpc>
              <a:spcBef>
                <a:spcPts val="0"/>
              </a:spcBef>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age;</a:t>
            </a:r>
          </a:p>
          <a:p>
            <a:pPr marL="457200" lvl="0" indent="0" algn="just">
              <a:lnSpc>
                <a:spcPct val="170000"/>
              </a:lnSpc>
              <a:spcBef>
                <a:spcPts val="0"/>
              </a:spcBef>
              <a:buNone/>
            </a:pPr>
            <a:r>
              <a:rPr lang="en-US" dirty="0">
                <a:latin typeface="Times New Roman" pitchFamily="18" charset="0"/>
                <a:cs typeface="Times New Roman" pitchFamily="18" charset="0"/>
              </a:rPr>
              <a:t> age = 23; (initialization)</a:t>
            </a:r>
          </a:p>
          <a:p>
            <a:pPr marL="457200" lvl="0" indent="0" algn="just">
              <a:lnSpc>
                <a:spcPct val="170000"/>
              </a:lnSpc>
              <a:spcBef>
                <a:spcPts val="0"/>
              </a:spcBef>
              <a:buNone/>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city= “Kathmandu”;( declaration and initialization)</a:t>
            </a:r>
          </a:p>
          <a:p>
            <a:pPr marL="457200" lvl="0" indent="-279400" algn="just">
              <a:lnSpc>
                <a:spcPct val="170000"/>
              </a:lnSpc>
              <a:spcBef>
                <a:spcPts val="0"/>
              </a:spcBef>
              <a:buSzPts val="2800"/>
              <a:buNone/>
            </a:pPr>
            <a:endParaRPr lang="en-US" dirty="0">
              <a:latin typeface="Times New Roman" pitchFamily="18" charset="0"/>
              <a:cs typeface="Times New Roman" pitchFamily="18" charset="0"/>
            </a:endParaRPr>
          </a:p>
          <a:p>
            <a:pPr algn="just">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Variables</a:t>
            </a:r>
          </a:p>
        </p:txBody>
      </p:sp>
      <p:pic>
        <p:nvPicPr>
          <p:cNvPr id="4" name="Google Shape;171;p24"/>
          <p:cNvPicPr preferRelativeResize="0">
            <a:picLocks noGrp="1"/>
          </p:cNvPicPr>
          <p:nvPr>
            <p:ph idx="1"/>
          </p:nvPr>
        </p:nvPicPr>
        <p:blipFill>
          <a:blip r:embed="rId2">
            <a:alphaModFix/>
          </a:blip>
          <a:stretch>
            <a:fillRect/>
          </a:stretch>
        </p:blipFill>
        <p:spPr>
          <a:xfrm>
            <a:off x="457200" y="1600200"/>
            <a:ext cx="8229600" cy="47243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 to include java script in html</a:t>
            </a:r>
          </a:p>
        </p:txBody>
      </p:sp>
      <p:sp>
        <p:nvSpPr>
          <p:cNvPr id="3" name="Content Placeholder 2"/>
          <p:cNvSpPr>
            <a:spLocks noGrp="1"/>
          </p:cNvSpPr>
          <p:nvPr>
            <p:ph idx="1"/>
          </p:nvPr>
        </p:nvSpPr>
        <p:spPr>
          <a:xfrm>
            <a:off x="228600" y="1600200"/>
            <a:ext cx="8686800" cy="4876800"/>
          </a:xfrm>
        </p:spPr>
        <p:txBody>
          <a:bodyPr>
            <a:normAutofit/>
          </a:bodyPr>
          <a:lstStyle/>
          <a:p>
            <a:pPr marL="514350" indent="-514350">
              <a:lnSpc>
                <a:spcPct val="150000"/>
              </a:lnSpc>
              <a:buNone/>
            </a:pPr>
            <a:r>
              <a:rPr lang="en-US" sz="2400" b="1" dirty="0">
                <a:latin typeface="Times New Roman" pitchFamily="18" charset="0"/>
                <a:cs typeface="Times New Roman" pitchFamily="18" charset="0"/>
              </a:rPr>
              <a:t>1. Internal:</a:t>
            </a:r>
          </a:p>
          <a:p>
            <a:pPr marL="514350" indent="-514350">
              <a:lnSpc>
                <a:spcPct val="150000"/>
              </a:lnSpc>
              <a:buNone/>
            </a:pPr>
            <a:r>
              <a:rPr lang="en-US" sz="2400" dirty="0">
                <a:latin typeface="Times New Roman" pitchFamily="18" charset="0"/>
                <a:cs typeface="Times New Roman" pitchFamily="18" charset="0"/>
              </a:rPr>
              <a:t>JavaScript code must be inserted between </a:t>
            </a:r>
          </a:p>
          <a:p>
            <a:pPr marL="514350" indent="-514350">
              <a:lnSpc>
                <a:spcPct val="150000"/>
              </a:lnSpc>
              <a:buNone/>
            </a:pPr>
            <a:r>
              <a:rPr lang="en-US" sz="2400" dirty="0">
                <a:latin typeface="Times New Roman" pitchFamily="18" charset="0"/>
                <a:cs typeface="Times New Roman" pitchFamily="18" charset="0"/>
              </a:rPr>
              <a:t> &lt;script&gt;  and &lt;/script&gt;tags.</a:t>
            </a:r>
          </a:p>
          <a:p>
            <a:pPr marL="514350" indent="-514350">
              <a:lnSpc>
                <a:spcPct val="150000"/>
              </a:lnSpc>
              <a:buNone/>
            </a:pPr>
            <a:r>
              <a:rPr lang="en-US" sz="2400" b="1" dirty="0">
                <a:latin typeface="Times New Roman" pitchFamily="18" charset="0"/>
                <a:cs typeface="Times New Roman" pitchFamily="18" charset="0"/>
              </a:rPr>
              <a:t>2. External</a:t>
            </a:r>
          </a:p>
          <a:p>
            <a:pPr marL="514350" indent="-514350">
              <a:lnSpc>
                <a:spcPct val="150000"/>
              </a:lnSpc>
              <a:buNone/>
            </a:pPr>
            <a:r>
              <a:rPr lang="en-US" sz="2400" dirty="0">
                <a:latin typeface="Times New Roman" pitchFamily="18" charset="0"/>
                <a:cs typeface="Times New Roman" pitchFamily="18" charset="0"/>
              </a:rPr>
              <a:t>	An external JavaScript file must be saved by .</a:t>
            </a:r>
            <a:r>
              <a:rPr lang="en-US" sz="2400" dirty="0" err="1">
                <a:latin typeface="Times New Roman" pitchFamily="18" charset="0"/>
                <a:cs typeface="Times New Roman" pitchFamily="18" charset="0"/>
              </a:rPr>
              <a:t>js</a:t>
            </a:r>
            <a:r>
              <a:rPr lang="en-US" sz="2400" dirty="0">
                <a:latin typeface="Times New Roman" pitchFamily="18" charset="0"/>
                <a:cs typeface="Times New Roman" pitchFamily="18" charset="0"/>
              </a:rPr>
              <a:t> extension. It is recommended to embed all JavaScript files into a single file. It increases the speed of the webpage.</a:t>
            </a:r>
          </a:p>
          <a:p>
            <a:pPr marL="914400" lvl="1" indent="-514350">
              <a:lnSpc>
                <a:spcPct val="150000"/>
              </a:lnSpc>
              <a:buNone/>
            </a:pPr>
            <a:r>
              <a:rPr lang="en-US" sz="2000" dirty="0">
                <a:solidFill>
                  <a:srgbClr val="FF0000"/>
                </a:solidFill>
                <a:latin typeface="Times New Roman" pitchFamily="18" charset="0"/>
                <a:cs typeface="Times New Roman" pitchFamily="18" charset="0"/>
              </a:rPr>
              <a:t>Syntax: </a:t>
            </a:r>
            <a:r>
              <a:rPr lang="en-US" sz="2000" dirty="0">
                <a:solidFill>
                  <a:srgbClr val="FF0000"/>
                </a:solidFill>
              </a:rPr>
              <a:t>&lt;script </a:t>
            </a:r>
            <a:r>
              <a:rPr lang="en-US" sz="2000" dirty="0" err="1">
                <a:solidFill>
                  <a:srgbClr val="FF0000"/>
                </a:solidFill>
              </a:rPr>
              <a:t>src</a:t>
            </a:r>
            <a:r>
              <a:rPr lang="en-US" sz="2000" dirty="0">
                <a:solidFill>
                  <a:srgbClr val="FF0000"/>
                </a:solidFill>
              </a:rPr>
              <a:t>="</a:t>
            </a:r>
            <a:r>
              <a:rPr lang="en-US" sz="2000" i="1" dirty="0">
                <a:solidFill>
                  <a:srgbClr val="FF0000"/>
                </a:solidFill>
              </a:rPr>
              <a:t>URL</a:t>
            </a:r>
            <a:r>
              <a:rPr lang="en-US" sz="2000" dirty="0">
                <a:solidFill>
                  <a:srgbClr val="FF0000"/>
                </a:solidFill>
              </a:rPr>
              <a:t>"&gt;</a:t>
            </a:r>
            <a:endParaRPr lang="en-US" sz="2000" dirty="0">
              <a:solidFill>
                <a:srgbClr val="FF0000"/>
              </a:solidFill>
              <a:latin typeface="Times New Roman" pitchFamily="18" charset="0"/>
              <a:cs typeface="Times New Roman" pitchFamily="18" charset="0"/>
            </a:endParaRPr>
          </a:p>
          <a:p>
            <a:pPr marL="514350" indent="-514350">
              <a:lnSpc>
                <a:spcPct val="150000"/>
              </a:lnSpc>
              <a:buNone/>
            </a:pPr>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Operators</a:t>
            </a:r>
          </a:p>
        </p:txBody>
      </p:sp>
      <p:sp>
        <p:nvSpPr>
          <p:cNvPr id="3" name="Content Placeholder 2"/>
          <p:cNvSpPr>
            <a:spLocks noGrp="1"/>
          </p:cNvSpPr>
          <p:nvPr>
            <p:ph idx="1"/>
          </p:nvPr>
        </p:nvSpPr>
        <p:spPr/>
        <p:txBody>
          <a:bodyPr>
            <a:normAutofit fontScale="92500" lnSpcReduction="20000"/>
          </a:bodyPr>
          <a:lstStyle/>
          <a:p>
            <a:pPr marL="457200" lvl="0" indent="-406400">
              <a:lnSpc>
                <a:spcPct val="150000"/>
              </a:lnSpc>
              <a:spcBef>
                <a:spcPts val="0"/>
              </a:spcBef>
              <a:buSzPts val="2800"/>
              <a:buChar char="●"/>
            </a:pPr>
            <a:r>
              <a:rPr lang="en-US" dirty="0">
                <a:latin typeface="Times New Roman" pitchFamily="18" charset="0"/>
                <a:cs typeface="Times New Roman" pitchFamily="18" charset="0"/>
              </a:rPr>
              <a:t>operators are used to perform an operation</a:t>
            </a:r>
          </a:p>
          <a:p>
            <a:pPr marL="457200" lvl="0" indent="-406400">
              <a:lnSpc>
                <a:spcPct val="150000"/>
              </a:lnSpc>
              <a:spcBef>
                <a:spcPts val="0"/>
              </a:spcBef>
              <a:buSzPts val="2800"/>
              <a:buChar char="●"/>
            </a:pPr>
            <a:r>
              <a:rPr lang="en-US" dirty="0">
                <a:latin typeface="Times New Roman" pitchFamily="18" charset="0"/>
                <a:cs typeface="Times New Roman" pitchFamily="18" charset="0"/>
              </a:rPr>
              <a:t>types of operator in JS are:</a:t>
            </a:r>
          </a:p>
          <a:p>
            <a:pPr marL="1371600" lvl="0" indent="-406400">
              <a:lnSpc>
                <a:spcPct val="150000"/>
              </a:lnSpc>
              <a:spcBef>
                <a:spcPts val="0"/>
              </a:spcBef>
              <a:buSzPts val="2800"/>
              <a:buAutoNum type="arabicPeriod"/>
            </a:pPr>
            <a:r>
              <a:rPr lang="en-US" dirty="0">
                <a:latin typeface="Times New Roman" pitchFamily="18" charset="0"/>
                <a:cs typeface="Times New Roman" pitchFamily="18" charset="0"/>
              </a:rPr>
              <a:t> Arithmetic Operators</a:t>
            </a:r>
          </a:p>
          <a:p>
            <a:pPr marL="1371600" lvl="0" indent="-406400">
              <a:lnSpc>
                <a:spcPct val="150000"/>
              </a:lnSpc>
              <a:spcBef>
                <a:spcPts val="0"/>
              </a:spcBef>
              <a:buSzPts val="2800"/>
              <a:buAutoNum type="arabicPeriod"/>
            </a:pPr>
            <a:r>
              <a:rPr lang="en-US" dirty="0">
                <a:latin typeface="Times New Roman" pitchFamily="18" charset="0"/>
                <a:cs typeface="Times New Roman" pitchFamily="18" charset="0"/>
              </a:rPr>
              <a:t> Assignment Operators</a:t>
            </a:r>
          </a:p>
          <a:p>
            <a:pPr marL="1371600" lvl="0" indent="-406400">
              <a:lnSpc>
                <a:spcPct val="150000"/>
              </a:lnSpc>
              <a:spcBef>
                <a:spcPts val="0"/>
              </a:spcBef>
              <a:buSzPts val="2800"/>
              <a:buAutoNum type="arabicPeriod"/>
            </a:pPr>
            <a:r>
              <a:rPr lang="en-US" dirty="0">
                <a:latin typeface="Times New Roman" pitchFamily="18" charset="0"/>
                <a:cs typeface="Times New Roman" pitchFamily="18" charset="0"/>
              </a:rPr>
              <a:t> Comparison Operators</a:t>
            </a:r>
          </a:p>
          <a:p>
            <a:pPr marL="1371600" lvl="0" indent="-406400">
              <a:lnSpc>
                <a:spcPct val="150000"/>
              </a:lnSpc>
              <a:spcBef>
                <a:spcPts val="0"/>
              </a:spcBef>
              <a:buSzPts val="2800"/>
              <a:buAutoNum type="arabicPeriod"/>
            </a:pPr>
            <a:r>
              <a:rPr lang="en-US" dirty="0">
                <a:latin typeface="Times New Roman" pitchFamily="18" charset="0"/>
                <a:cs typeface="Times New Roman" pitchFamily="18" charset="0"/>
              </a:rPr>
              <a:t> Logical/</a:t>
            </a:r>
            <a:r>
              <a:rPr lang="en-US" dirty="0" err="1">
                <a:latin typeface="Times New Roman" pitchFamily="18" charset="0"/>
                <a:cs typeface="Times New Roman" pitchFamily="18" charset="0"/>
              </a:rPr>
              <a:t>boolean</a:t>
            </a:r>
            <a:r>
              <a:rPr lang="en-US" dirty="0">
                <a:latin typeface="Times New Roman" pitchFamily="18" charset="0"/>
                <a:cs typeface="Times New Roman" pitchFamily="18" charset="0"/>
              </a:rPr>
              <a:t> Operators</a:t>
            </a:r>
          </a:p>
          <a:p>
            <a:pPr marL="1371600" lvl="0" indent="-406400">
              <a:lnSpc>
                <a:spcPct val="150000"/>
              </a:lnSpc>
              <a:spcBef>
                <a:spcPts val="0"/>
              </a:spcBef>
              <a:buSzPts val="2800"/>
              <a:buAutoNum type="arabicPeriod"/>
            </a:pPr>
            <a:r>
              <a:rPr lang="en-US" dirty="0">
                <a:latin typeface="Times New Roman" pitchFamily="18" charset="0"/>
                <a:cs typeface="Times New Roman" pitchFamily="18" charset="0"/>
              </a:rPr>
              <a:t> String Operators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Statement</a:t>
            </a: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Branching statement</a:t>
            </a:r>
          </a:p>
          <a:p>
            <a:r>
              <a:rPr lang="en-US" dirty="0">
                <a:latin typeface="Times New Roman" pitchFamily="18" charset="0"/>
                <a:cs typeface="Times New Roman" pitchFamily="18" charset="0"/>
              </a:rPr>
              <a:t>Looping statement</a:t>
            </a:r>
          </a:p>
          <a:p>
            <a:pPr>
              <a:buNone/>
            </a:pPr>
            <a:endParaRPr lang="en-US"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 statement</a:t>
            </a:r>
            <a:endParaRPr lang="en-US" dirty="0"/>
          </a:p>
        </p:txBody>
      </p:sp>
      <p:sp>
        <p:nvSpPr>
          <p:cNvPr id="3" name="Content Placeholder 2"/>
          <p:cNvSpPr>
            <a:spLocks noGrp="1"/>
          </p:cNvSpPr>
          <p:nvPr>
            <p:ph idx="1"/>
          </p:nvPr>
        </p:nvSpPr>
        <p:spPr/>
        <p:txBody>
          <a:bodyPr/>
          <a:lstStyle/>
          <a:p>
            <a:pPr fontAlgn="base"/>
            <a:r>
              <a:rPr lang="en-US" dirty="0"/>
              <a:t>There are mainly four kinds of branching statements are available in JavaScript. These branching statements are as follows.</a:t>
            </a:r>
          </a:p>
          <a:p>
            <a:pPr fontAlgn="base"/>
            <a:r>
              <a:rPr lang="en-US" dirty="0"/>
              <a:t>If Statement</a:t>
            </a:r>
          </a:p>
          <a:p>
            <a:pPr fontAlgn="base"/>
            <a:r>
              <a:rPr lang="en-US" dirty="0"/>
              <a:t>If else Statement</a:t>
            </a:r>
          </a:p>
          <a:p>
            <a:pPr fontAlgn="base"/>
            <a:r>
              <a:rPr lang="en-US" dirty="0"/>
              <a:t>Else if Statement</a:t>
            </a:r>
          </a:p>
          <a:p>
            <a:pPr fontAlgn="base"/>
            <a:r>
              <a:rPr lang="en-US" dirty="0"/>
              <a:t>Switch </a:t>
            </a:r>
            <a:r>
              <a:rPr lang="en-US" dirty="0" smtClean="0"/>
              <a:t>Statement</a:t>
            </a:r>
            <a:endParaRPr lang="en-US" dirty="0"/>
          </a:p>
        </p:txBody>
      </p:sp>
    </p:spTree>
    <p:extLst>
      <p:ext uri="{BB962C8B-B14F-4D97-AF65-F5344CB8AC3E}">
        <p14:creationId xmlns:p14="http://schemas.microsoft.com/office/powerpoint/2010/main" val="142627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lstStyle/>
          <a:p>
            <a:pPr marL="0" indent="0" fontAlgn="base">
              <a:buNone/>
            </a:pPr>
            <a:r>
              <a:rPr lang="en-US" b="1" dirty="0">
                <a:solidFill>
                  <a:srgbClr val="FF0000"/>
                </a:solidFill>
              </a:rPr>
              <a:t>If Statement: </a:t>
            </a:r>
          </a:p>
          <a:p>
            <a:pPr fontAlgn="base"/>
            <a:r>
              <a:rPr lang="en-US" dirty="0"/>
              <a:t>We use the</a:t>
            </a:r>
            <a:r>
              <a:rPr lang="en-US" b="1" dirty="0"/>
              <a:t> if statement </a:t>
            </a:r>
            <a:r>
              <a:rPr lang="en-US" dirty="0"/>
              <a:t>when we want to run a piece of code only if a certain condition will be true. Please check out the syntax of the if statement</a:t>
            </a:r>
            <a:r>
              <a:rPr lang="en-US" dirty="0" smtClean="0"/>
              <a:t>.</a:t>
            </a:r>
          </a:p>
          <a:p>
            <a:pPr marL="0" indent="0" fontAlgn="base">
              <a:buNone/>
            </a:pPr>
            <a:r>
              <a:rPr lang="en-US" b="1" u="sng" dirty="0" smtClean="0"/>
              <a:t>Syntax:-</a:t>
            </a:r>
            <a:endParaRPr lang="en-US" b="1" u="sng" dirty="0"/>
          </a:p>
          <a:p>
            <a:pPr marL="0" indent="0">
              <a:buNone/>
            </a:pPr>
            <a:r>
              <a:rPr lang="en-US" dirty="0"/>
              <a:t>if(condition</a:t>
            </a:r>
            <a:r>
              <a:rPr lang="en-US" dirty="0" smtClean="0"/>
              <a:t>)</a:t>
            </a:r>
          </a:p>
          <a:p>
            <a:pPr marL="0" indent="0">
              <a:buNone/>
            </a:pPr>
            <a:r>
              <a:rPr lang="en-US" dirty="0" smtClean="0"/>
              <a:t> {</a:t>
            </a:r>
          </a:p>
          <a:p>
            <a:pPr marL="0" indent="0">
              <a:buNone/>
            </a:pPr>
            <a:r>
              <a:rPr lang="en-US" dirty="0" smtClean="0"/>
              <a:t>Statements;</a:t>
            </a:r>
            <a:endParaRPr lang="en-US" dirty="0"/>
          </a:p>
          <a:p>
            <a:pPr marL="0" indent="0">
              <a:buNone/>
            </a:pPr>
            <a:r>
              <a:rPr lang="en-US" dirty="0" smtClean="0"/>
              <a:t>}</a:t>
            </a:r>
            <a:endParaRPr lang="en-US" dirty="0"/>
          </a:p>
        </p:txBody>
      </p:sp>
    </p:spTree>
    <p:extLst>
      <p:ext uri="{BB962C8B-B14F-4D97-AF65-F5344CB8AC3E}">
        <p14:creationId xmlns:p14="http://schemas.microsoft.com/office/powerpoint/2010/main" val="121783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92500" lnSpcReduction="20000"/>
          </a:bodyPr>
          <a:lstStyle/>
          <a:p>
            <a:pPr marL="0" indent="0" fontAlgn="base">
              <a:buNone/>
            </a:pPr>
            <a:r>
              <a:rPr lang="en-US" b="1" u="sng" dirty="0" smtClean="0">
                <a:solidFill>
                  <a:srgbClr val="FF0000"/>
                </a:solidFill>
              </a:rPr>
              <a:t>Example of If statement:</a:t>
            </a:r>
          </a:p>
          <a:p>
            <a:pPr marL="0" indent="0" fontAlgn="base">
              <a:buNone/>
            </a:pPr>
            <a:r>
              <a:rPr lang="en-US" dirty="0" smtClean="0"/>
              <a:t>&lt;html&gt;</a:t>
            </a:r>
          </a:p>
          <a:p>
            <a:pPr marL="0" indent="0" fontAlgn="base">
              <a:buNone/>
            </a:pPr>
            <a:r>
              <a:rPr lang="en-US" dirty="0" smtClean="0"/>
              <a:t>&lt;head&gt;&lt;title&gt;&lt;/head&gt;</a:t>
            </a:r>
          </a:p>
          <a:p>
            <a:pPr marL="0" indent="0" fontAlgn="base">
              <a:buNone/>
            </a:pPr>
            <a:r>
              <a:rPr lang="en-US" dirty="0" smtClean="0"/>
              <a:t>&lt;body&gt;</a:t>
            </a:r>
          </a:p>
          <a:p>
            <a:pPr marL="0" indent="0" fontAlgn="base">
              <a:buNone/>
            </a:pPr>
            <a:r>
              <a:rPr lang="en-US" dirty="0" smtClean="0"/>
              <a:t>&lt;</a:t>
            </a:r>
            <a:r>
              <a:rPr lang="en-US" dirty="0"/>
              <a:t>script&gt; </a:t>
            </a:r>
            <a:endParaRPr lang="en-US" dirty="0" smtClean="0"/>
          </a:p>
          <a:p>
            <a:pPr marL="0" indent="0" fontAlgn="base">
              <a:buNone/>
            </a:pPr>
            <a:r>
              <a:rPr lang="en-US" dirty="0" err="1" smtClean="0"/>
              <a:t>var</a:t>
            </a:r>
            <a:r>
              <a:rPr lang="en-US" dirty="0" smtClean="0"/>
              <a:t> </a:t>
            </a:r>
            <a:r>
              <a:rPr lang="en-US" dirty="0" err="1"/>
              <a:t>num</a:t>
            </a:r>
            <a:r>
              <a:rPr lang="en-US" dirty="0"/>
              <a:t>=10; </a:t>
            </a:r>
            <a:endParaRPr lang="en-US" dirty="0" smtClean="0"/>
          </a:p>
          <a:p>
            <a:pPr marL="0" indent="0" fontAlgn="base">
              <a:buNone/>
            </a:pPr>
            <a:r>
              <a:rPr lang="en-US" dirty="0" smtClean="0"/>
              <a:t>if(</a:t>
            </a:r>
            <a:r>
              <a:rPr lang="en-US" dirty="0" err="1" smtClean="0"/>
              <a:t>num</a:t>
            </a:r>
            <a:r>
              <a:rPr lang="en-US" dirty="0"/>
              <a:t>==10</a:t>
            </a:r>
            <a:r>
              <a:rPr lang="en-US" dirty="0" smtClean="0"/>
              <a:t>)</a:t>
            </a:r>
          </a:p>
          <a:p>
            <a:pPr marL="0" indent="0" fontAlgn="base">
              <a:buNone/>
            </a:pPr>
            <a:r>
              <a:rPr lang="en-US" dirty="0" smtClean="0"/>
              <a:t>{ </a:t>
            </a:r>
          </a:p>
          <a:p>
            <a:pPr marL="0" indent="0" fontAlgn="base">
              <a:buNone/>
            </a:pPr>
            <a:r>
              <a:rPr lang="en-US" dirty="0" err="1" smtClean="0"/>
              <a:t>document.write</a:t>
            </a:r>
            <a:r>
              <a:rPr lang="en-US" dirty="0"/>
              <a:t>("</a:t>
            </a:r>
            <a:r>
              <a:rPr lang="en-US" dirty="0" err="1"/>
              <a:t>num</a:t>
            </a:r>
            <a:r>
              <a:rPr lang="en-US" dirty="0"/>
              <a:t> is equal to 10"); </a:t>
            </a:r>
            <a:endParaRPr lang="en-US" dirty="0" smtClean="0"/>
          </a:p>
          <a:p>
            <a:pPr marL="0" indent="0" fontAlgn="base">
              <a:buNone/>
            </a:pPr>
            <a:r>
              <a:rPr lang="en-US" dirty="0" smtClean="0"/>
              <a:t>} </a:t>
            </a:r>
          </a:p>
          <a:p>
            <a:pPr marL="0" indent="0" fontAlgn="base">
              <a:buNone/>
            </a:pPr>
            <a:r>
              <a:rPr lang="en-US" dirty="0" smtClean="0"/>
              <a:t>&lt;/</a:t>
            </a:r>
            <a:r>
              <a:rPr lang="en-US" dirty="0"/>
              <a:t>script</a:t>
            </a:r>
            <a:r>
              <a:rPr lang="en-US" dirty="0" smtClean="0"/>
              <a:t>&gt;</a:t>
            </a:r>
          </a:p>
          <a:p>
            <a:pPr marL="0" indent="0" fontAlgn="base">
              <a:buNone/>
            </a:pPr>
            <a:r>
              <a:rPr lang="en-US" dirty="0" smtClean="0"/>
              <a:t>&lt;/body&gt;</a:t>
            </a:r>
          </a:p>
          <a:p>
            <a:pPr marL="0" indent="0" fontAlgn="base">
              <a:buNone/>
            </a:pPr>
            <a:r>
              <a:rPr lang="en-US" dirty="0" smtClean="0"/>
              <a:t>&lt;/html&gt;</a:t>
            </a:r>
            <a:endParaRPr lang="en-US" dirty="0"/>
          </a:p>
        </p:txBody>
      </p:sp>
    </p:spTree>
    <p:extLst>
      <p:ext uri="{BB962C8B-B14F-4D97-AF65-F5344CB8AC3E}">
        <p14:creationId xmlns:p14="http://schemas.microsoft.com/office/powerpoint/2010/main" val="1516050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92500" lnSpcReduction="20000"/>
          </a:bodyPr>
          <a:lstStyle/>
          <a:p>
            <a:pPr marL="0" indent="0" fontAlgn="base">
              <a:buNone/>
            </a:pPr>
            <a:r>
              <a:rPr lang="en-US" b="1" dirty="0">
                <a:solidFill>
                  <a:srgbClr val="FF0000"/>
                </a:solidFill>
              </a:rPr>
              <a:t>If else Statement:</a:t>
            </a:r>
          </a:p>
          <a:p>
            <a:pPr fontAlgn="base"/>
            <a:r>
              <a:rPr lang="en-US" dirty="0"/>
              <a:t>We use an if-else statement in case we want to run separate pieces of code for both conditions(true and false). In the</a:t>
            </a:r>
            <a:r>
              <a:rPr lang="en-US" b="1" dirty="0"/>
              <a:t> if-else statement,</a:t>
            </a:r>
            <a:r>
              <a:rPr lang="en-US" dirty="0"/>
              <a:t> in the case of the true condition if block will run, and in the case of false condition else block will run. </a:t>
            </a:r>
            <a:endParaRPr lang="en-US" dirty="0" smtClean="0"/>
          </a:p>
          <a:p>
            <a:pPr marL="0" indent="0" fontAlgn="base">
              <a:buNone/>
            </a:pPr>
            <a:r>
              <a:rPr lang="en-US" b="1" u="sng" dirty="0" smtClean="0"/>
              <a:t>Syntax:-</a:t>
            </a:r>
            <a:endParaRPr lang="en-US" b="1" u="sng" dirty="0"/>
          </a:p>
          <a:p>
            <a:pPr marL="0" indent="0">
              <a:buNone/>
            </a:pPr>
            <a:r>
              <a:rPr lang="en-US" dirty="0"/>
              <a:t>if(condition) </a:t>
            </a:r>
            <a:r>
              <a:rPr lang="en-US" dirty="0" smtClean="0"/>
              <a:t>{</a:t>
            </a:r>
          </a:p>
          <a:p>
            <a:pPr marL="0" indent="0">
              <a:buNone/>
            </a:pPr>
            <a:r>
              <a:rPr lang="en-US" dirty="0" smtClean="0"/>
              <a:t>Statements;</a:t>
            </a:r>
          </a:p>
          <a:p>
            <a:pPr marL="0" indent="0">
              <a:buNone/>
            </a:pPr>
            <a:r>
              <a:rPr lang="en-US" dirty="0" smtClean="0"/>
              <a:t>}</a:t>
            </a:r>
          </a:p>
          <a:p>
            <a:pPr marL="0" indent="0">
              <a:buNone/>
            </a:pPr>
            <a:r>
              <a:rPr lang="en-US" dirty="0" smtClean="0"/>
              <a:t>else{</a:t>
            </a:r>
          </a:p>
          <a:p>
            <a:pPr marL="0" indent="0">
              <a:buNone/>
            </a:pPr>
            <a:r>
              <a:rPr lang="en-US" dirty="0" smtClean="0"/>
              <a:t>Statements;</a:t>
            </a:r>
          </a:p>
          <a:p>
            <a:pPr marL="0" indent="0">
              <a:buNone/>
            </a:pPr>
            <a:r>
              <a:rPr lang="en-US" dirty="0"/>
              <a:t>}</a:t>
            </a:r>
            <a:endParaRPr lang="en-US" dirty="0" smtClean="0"/>
          </a:p>
        </p:txBody>
      </p:sp>
    </p:spTree>
    <p:extLst>
      <p:ext uri="{BB962C8B-B14F-4D97-AF65-F5344CB8AC3E}">
        <p14:creationId xmlns:p14="http://schemas.microsoft.com/office/powerpoint/2010/main" val="648402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70000" lnSpcReduction="20000"/>
          </a:bodyPr>
          <a:lstStyle/>
          <a:p>
            <a:pPr marL="0" indent="0" fontAlgn="base">
              <a:buNone/>
            </a:pPr>
            <a:r>
              <a:rPr lang="en-US" b="1" u="sng" dirty="0" smtClean="0">
                <a:solidFill>
                  <a:srgbClr val="FF0000"/>
                </a:solidFill>
              </a:rPr>
              <a:t>If else example :</a:t>
            </a:r>
          </a:p>
          <a:p>
            <a:pPr marL="0" indent="0" fontAlgn="base">
              <a:buNone/>
            </a:pPr>
            <a:r>
              <a:rPr lang="en-US" dirty="0" smtClean="0"/>
              <a:t>&lt;html&gt;</a:t>
            </a:r>
          </a:p>
          <a:p>
            <a:pPr marL="0" indent="0" fontAlgn="base">
              <a:buNone/>
            </a:pPr>
            <a:r>
              <a:rPr lang="en-US" dirty="0" smtClean="0"/>
              <a:t>&lt;head&gt;&lt;title&gt;&lt;/title&gt;&lt;/head&gt;</a:t>
            </a:r>
          </a:p>
          <a:p>
            <a:pPr marL="0" indent="0" fontAlgn="base">
              <a:buNone/>
            </a:pPr>
            <a:r>
              <a:rPr lang="en-US" dirty="0" smtClean="0"/>
              <a:t>&lt;body&gt;</a:t>
            </a:r>
          </a:p>
          <a:p>
            <a:pPr marL="0" indent="0" fontAlgn="base">
              <a:buNone/>
            </a:pPr>
            <a:r>
              <a:rPr lang="en-US" dirty="0" smtClean="0"/>
              <a:t>&lt;script</a:t>
            </a:r>
            <a:r>
              <a:rPr lang="en-US" dirty="0"/>
              <a:t>&gt; </a:t>
            </a:r>
            <a:endParaRPr lang="en-US" dirty="0" smtClean="0"/>
          </a:p>
          <a:p>
            <a:pPr marL="0" indent="0" fontAlgn="base">
              <a:buNone/>
            </a:pPr>
            <a:r>
              <a:rPr lang="en-US" dirty="0" err="1" smtClean="0"/>
              <a:t>var</a:t>
            </a:r>
            <a:r>
              <a:rPr lang="en-US" dirty="0" smtClean="0"/>
              <a:t> </a:t>
            </a:r>
            <a:r>
              <a:rPr lang="en-US" dirty="0" err="1"/>
              <a:t>num</a:t>
            </a:r>
            <a:r>
              <a:rPr lang="en-US" dirty="0"/>
              <a:t>=5</a:t>
            </a:r>
            <a:r>
              <a:rPr lang="en-US" dirty="0" smtClean="0"/>
              <a:t>;</a:t>
            </a:r>
          </a:p>
          <a:p>
            <a:pPr marL="0" indent="0" fontAlgn="base">
              <a:buNone/>
            </a:pPr>
            <a:r>
              <a:rPr lang="en-US" dirty="0" smtClean="0"/>
              <a:t> </a:t>
            </a:r>
            <a:r>
              <a:rPr lang="en-US" dirty="0"/>
              <a:t>if(num%2==0</a:t>
            </a:r>
            <a:r>
              <a:rPr lang="en-US" dirty="0" smtClean="0"/>
              <a:t>)</a:t>
            </a:r>
          </a:p>
          <a:p>
            <a:pPr marL="0" indent="0" fontAlgn="base">
              <a:buNone/>
            </a:pPr>
            <a:r>
              <a:rPr lang="en-US" dirty="0" smtClean="0"/>
              <a:t>{ </a:t>
            </a:r>
          </a:p>
          <a:p>
            <a:pPr marL="0" indent="0" fontAlgn="base">
              <a:buNone/>
            </a:pPr>
            <a:r>
              <a:rPr lang="en-US" dirty="0" err="1" smtClean="0"/>
              <a:t>document.write</a:t>
            </a:r>
            <a:r>
              <a:rPr lang="en-US" dirty="0"/>
              <a:t>("</a:t>
            </a:r>
            <a:r>
              <a:rPr lang="en-US" dirty="0" err="1"/>
              <a:t>num</a:t>
            </a:r>
            <a:r>
              <a:rPr lang="en-US" dirty="0"/>
              <a:t> is even number"); </a:t>
            </a:r>
            <a:endParaRPr lang="en-US" dirty="0" smtClean="0"/>
          </a:p>
          <a:p>
            <a:pPr marL="0" indent="0" fontAlgn="base">
              <a:buNone/>
            </a:pPr>
            <a:r>
              <a:rPr lang="en-US" dirty="0" smtClean="0"/>
              <a:t>} </a:t>
            </a:r>
          </a:p>
          <a:p>
            <a:pPr marL="0" indent="0" fontAlgn="base">
              <a:buNone/>
            </a:pPr>
            <a:r>
              <a:rPr lang="en-US" dirty="0" smtClean="0"/>
              <a:t>Else</a:t>
            </a:r>
          </a:p>
          <a:p>
            <a:pPr marL="0" indent="0" fontAlgn="base">
              <a:buNone/>
            </a:pPr>
            <a:r>
              <a:rPr lang="en-US" dirty="0" smtClean="0"/>
              <a:t>{ </a:t>
            </a:r>
          </a:p>
          <a:p>
            <a:pPr marL="0" indent="0" fontAlgn="base">
              <a:buNone/>
            </a:pPr>
            <a:r>
              <a:rPr lang="en-US" dirty="0" err="1" smtClean="0"/>
              <a:t>document.write</a:t>
            </a:r>
            <a:r>
              <a:rPr lang="en-US" dirty="0"/>
              <a:t>("</a:t>
            </a:r>
            <a:r>
              <a:rPr lang="en-US" dirty="0" err="1"/>
              <a:t>num</a:t>
            </a:r>
            <a:r>
              <a:rPr lang="en-US" dirty="0"/>
              <a:t> is odd number"); </a:t>
            </a:r>
            <a:endParaRPr lang="en-US" dirty="0" smtClean="0"/>
          </a:p>
          <a:p>
            <a:pPr marL="0" indent="0" fontAlgn="base">
              <a:buNone/>
            </a:pPr>
            <a:r>
              <a:rPr lang="en-US" dirty="0" smtClean="0"/>
              <a:t>} </a:t>
            </a:r>
          </a:p>
          <a:p>
            <a:pPr marL="0" indent="0" fontAlgn="base">
              <a:buNone/>
            </a:pPr>
            <a:r>
              <a:rPr lang="en-US" dirty="0" smtClean="0"/>
              <a:t>&lt;/</a:t>
            </a:r>
            <a:r>
              <a:rPr lang="en-US" dirty="0"/>
              <a:t>script</a:t>
            </a:r>
            <a:r>
              <a:rPr lang="en-US" dirty="0" smtClean="0"/>
              <a:t>&gt;</a:t>
            </a:r>
          </a:p>
          <a:p>
            <a:pPr marL="0" indent="0" fontAlgn="base">
              <a:buNone/>
            </a:pPr>
            <a:r>
              <a:rPr lang="en-US" dirty="0" smtClean="0"/>
              <a:t>&lt;body&gt;</a:t>
            </a:r>
          </a:p>
          <a:p>
            <a:pPr marL="0" indent="0" fontAlgn="base">
              <a:buNone/>
            </a:pPr>
            <a:r>
              <a:rPr lang="en-US" dirty="0" smtClean="0"/>
              <a:t>&lt;/html&gt;</a:t>
            </a:r>
          </a:p>
        </p:txBody>
      </p:sp>
    </p:spTree>
    <p:extLst>
      <p:ext uri="{BB962C8B-B14F-4D97-AF65-F5344CB8AC3E}">
        <p14:creationId xmlns:p14="http://schemas.microsoft.com/office/powerpoint/2010/main" val="749730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a:bodyPr>
          <a:lstStyle/>
          <a:p>
            <a:pPr marL="0" indent="0" algn="just" fontAlgn="base">
              <a:buNone/>
            </a:pPr>
            <a:r>
              <a:rPr lang="en-US" b="1" dirty="0">
                <a:solidFill>
                  <a:srgbClr val="FF0000"/>
                </a:solidFill>
              </a:rPr>
              <a:t>Else if Statement</a:t>
            </a:r>
            <a:r>
              <a:rPr lang="en-US" b="1" dirty="0" smtClean="0">
                <a:solidFill>
                  <a:srgbClr val="FF0000"/>
                </a:solidFill>
              </a:rPr>
              <a:t>:-</a:t>
            </a:r>
            <a:endParaRPr lang="en-US" b="1" dirty="0">
              <a:solidFill>
                <a:srgbClr val="FF0000"/>
              </a:solidFill>
            </a:endParaRPr>
          </a:p>
          <a:p>
            <a:pPr algn="just" fontAlgn="base"/>
            <a:r>
              <a:rPr lang="en-US" dirty="0"/>
              <a:t>We use an else if statement in case we have multiple conditions and we want to run a piece of code from the block where the condition would be true. The construct is also known as a ladder. In this statement, </a:t>
            </a:r>
            <a:r>
              <a:rPr lang="en-US" b="1" dirty="0"/>
              <a:t>if</a:t>
            </a:r>
            <a:r>
              <a:rPr lang="en-US" dirty="0"/>
              <a:t> statement followed by n number of </a:t>
            </a:r>
            <a:r>
              <a:rPr lang="en-US" b="1" dirty="0"/>
              <a:t>else if</a:t>
            </a:r>
            <a:r>
              <a:rPr lang="en-US" dirty="0"/>
              <a:t> statements and at last an</a:t>
            </a:r>
            <a:r>
              <a:rPr lang="en-US" b="1" dirty="0"/>
              <a:t> else</a:t>
            </a:r>
            <a:r>
              <a:rPr lang="en-US" dirty="0"/>
              <a:t> statement comes after the required number of </a:t>
            </a:r>
            <a:r>
              <a:rPr lang="en-US" b="1" dirty="0"/>
              <a:t>else if</a:t>
            </a:r>
            <a:r>
              <a:rPr lang="en-US" dirty="0"/>
              <a:t> statements</a:t>
            </a:r>
            <a:r>
              <a:rPr lang="en-US" dirty="0" smtClean="0"/>
              <a:t>.</a:t>
            </a:r>
          </a:p>
          <a:p>
            <a:pPr marL="0" indent="0" algn="just" fontAlgn="base">
              <a:buNone/>
            </a:pPr>
            <a:endParaRPr lang="en-US" dirty="0" smtClean="0"/>
          </a:p>
        </p:txBody>
      </p:sp>
    </p:spTree>
    <p:extLst>
      <p:ext uri="{BB962C8B-B14F-4D97-AF65-F5344CB8AC3E}">
        <p14:creationId xmlns:p14="http://schemas.microsoft.com/office/powerpoint/2010/main" val="545403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62500" lnSpcReduction="20000"/>
          </a:bodyPr>
          <a:lstStyle/>
          <a:p>
            <a:pPr marL="0" indent="0" fontAlgn="base">
              <a:buNone/>
            </a:pPr>
            <a:r>
              <a:rPr lang="en-US" b="1" u="sng" dirty="0" smtClean="0">
                <a:solidFill>
                  <a:srgbClr val="FF0000"/>
                </a:solidFill>
              </a:rPr>
              <a:t>Example of else if statement:-</a:t>
            </a:r>
            <a:endParaRPr lang="en-US" u="sng" dirty="0"/>
          </a:p>
          <a:p>
            <a:pPr marL="0" indent="0" fontAlgn="base">
              <a:buNone/>
            </a:pPr>
            <a:r>
              <a:rPr lang="en-US" dirty="0" smtClean="0"/>
              <a:t>&lt;html&gt;</a:t>
            </a:r>
          </a:p>
          <a:p>
            <a:pPr marL="0" indent="0" fontAlgn="base">
              <a:buNone/>
            </a:pPr>
            <a:r>
              <a:rPr lang="en-US" dirty="0" smtClean="0"/>
              <a:t>&lt;head&gt;&lt;title&gt;&lt;/title&gt;&lt;/head&gt;</a:t>
            </a:r>
          </a:p>
          <a:p>
            <a:pPr marL="0" indent="0" fontAlgn="base">
              <a:buNone/>
            </a:pPr>
            <a:r>
              <a:rPr lang="en-US" dirty="0" smtClean="0"/>
              <a:t>&lt;body&gt;</a:t>
            </a:r>
          </a:p>
          <a:p>
            <a:pPr marL="0" indent="0" fontAlgn="base">
              <a:buNone/>
            </a:pPr>
            <a:r>
              <a:rPr lang="en-US" dirty="0" smtClean="0"/>
              <a:t>&lt;script</a:t>
            </a:r>
            <a:r>
              <a:rPr lang="en-US" b="1" dirty="0" smtClean="0"/>
              <a:t>&gt;</a:t>
            </a:r>
          </a:p>
          <a:p>
            <a:pPr marL="0" indent="0" fontAlgn="base">
              <a:buNone/>
            </a:pPr>
            <a:r>
              <a:rPr lang="en-US" dirty="0"/>
              <a:t>&lt;script</a:t>
            </a:r>
            <a:r>
              <a:rPr lang="en-US" dirty="0" smtClean="0"/>
              <a:t>&gt;</a:t>
            </a:r>
          </a:p>
          <a:p>
            <a:pPr marL="0" indent="0" fontAlgn="base">
              <a:buNone/>
            </a:pPr>
            <a:r>
              <a:rPr lang="en-US" dirty="0" smtClean="0"/>
              <a:t> </a:t>
            </a:r>
            <a:r>
              <a:rPr lang="en-US" dirty="0" err="1" smtClean="0"/>
              <a:t>var</a:t>
            </a:r>
            <a:r>
              <a:rPr lang="en-US" dirty="0" smtClean="0"/>
              <a:t> marks=75</a:t>
            </a:r>
            <a:r>
              <a:rPr lang="en-US" dirty="0"/>
              <a:t>; </a:t>
            </a:r>
            <a:endParaRPr lang="en-US" dirty="0" smtClean="0"/>
          </a:p>
          <a:p>
            <a:pPr marL="0" indent="0" fontAlgn="base">
              <a:buNone/>
            </a:pPr>
            <a:r>
              <a:rPr lang="en-US" dirty="0" smtClean="0"/>
              <a:t>if(marks</a:t>
            </a:r>
            <a:r>
              <a:rPr lang="en-US" dirty="0"/>
              <a:t>&gt;=80){ </a:t>
            </a:r>
            <a:endParaRPr lang="en-US" dirty="0" smtClean="0"/>
          </a:p>
          <a:p>
            <a:pPr marL="0" indent="0" fontAlgn="base">
              <a:buNone/>
            </a:pPr>
            <a:r>
              <a:rPr lang="en-US" dirty="0" err="1" smtClean="0"/>
              <a:t>document.write</a:t>
            </a:r>
            <a:r>
              <a:rPr lang="en-US" dirty="0"/>
              <a:t>("Grade A"); </a:t>
            </a:r>
            <a:endParaRPr lang="en-US" dirty="0" smtClean="0"/>
          </a:p>
          <a:p>
            <a:pPr marL="0" indent="0" fontAlgn="base">
              <a:buNone/>
            </a:pPr>
            <a:r>
              <a:rPr lang="en-US" dirty="0" smtClean="0"/>
              <a:t>} </a:t>
            </a:r>
          </a:p>
          <a:p>
            <a:pPr marL="0" indent="0" fontAlgn="base">
              <a:buNone/>
            </a:pPr>
            <a:r>
              <a:rPr lang="en-US" dirty="0" smtClean="0"/>
              <a:t>else </a:t>
            </a:r>
            <a:r>
              <a:rPr lang="en-US" dirty="0"/>
              <a:t>if(marks&gt;=60){ </a:t>
            </a:r>
            <a:endParaRPr lang="en-US" dirty="0" smtClean="0"/>
          </a:p>
          <a:p>
            <a:pPr marL="0" indent="0" fontAlgn="base">
              <a:buNone/>
            </a:pPr>
            <a:r>
              <a:rPr lang="en-US" dirty="0" err="1" smtClean="0"/>
              <a:t>document.write</a:t>
            </a:r>
            <a:r>
              <a:rPr lang="en-US" dirty="0"/>
              <a:t>("Grade B</a:t>
            </a:r>
            <a:r>
              <a:rPr lang="en-US" dirty="0" smtClean="0"/>
              <a:t>");</a:t>
            </a:r>
          </a:p>
          <a:p>
            <a:pPr marL="0" indent="0" fontAlgn="base">
              <a:buNone/>
            </a:pPr>
            <a:r>
              <a:rPr lang="en-US" dirty="0" smtClean="0"/>
              <a:t> </a:t>
            </a:r>
            <a:r>
              <a:rPr lang="en-US" dirty="0"/>
              <a:t>} </a:t>
            </a:r>
            <a:endParaRPr lang="en-US" dirty="0" smtClean="0"/>
          </a:p>
          <a:p>
            <a:pPr marL="0" indent="0" fontAlgn="base">
              <a:buNone/>
            </a:pPr>
            <a:r>
              <a:rPr lang="en-US" dirty="0" smtClean="0"/>
              <a:t>else </a:t>
            </a:r>
            <a:r>
              <a:rPr lang="en-US" dirty="0"/>
              <a:t>if(marks&gt;=40){ </a:t>
            </a:r>
            <a:endParaRPr lang="en-US" dirty="0" smtClean="0"/>
          </a:p>
          <a:p>
            <a:pPr marL="0" indent="0" fontAlgn="base">
              <a:buNone/>
            </a:pPr>
            <a:r>
              <a:rPr lang="en-US" dirty="0" err="1" smtClean="0"/>
              <a:t>document.write</a:t>
            </a:r>
            <a:r>
              <a:rPr lang="en-US" dirty="0"/>
              <a:t>("Grade C"); </a:t>
            </a:r>
            <a:endParaRPr lang="en-US" dirty="0" smtClean="0"/>
          </a:p>
          <a:p>
            <a:pPr marL="0" indent="0" fontAlgn="base">
              <a:buNone/>
            </a:pPr>
            <a:r>
              <a:rPr lang="en-US" dirty="0" smtClean="0"/>
              <a:t>} </a:t>
            </a:r>
          </a:p>
          <a:p>
            <a:pPr marL="0" indent="0" fontAlgn="base">
              <a:buNone/>
            </a:pPr>
            <a:r>
              <a:rPr lang="en-US" dirty="0" smtClean="0"/>
              <a:t>else</a:t>
            </a:r>
            <a:r>
              <a:rPr lang="en-US" dirty="0"/>
              <a:t>{ </a:t>
            </a:r>
            <a:r>
              <a:rPr lang="en-US" dirty="0" err="1"/>
              <a:t>document.write</a:t>
            </a:r>
            <a:r>
              <a:rPr lang="en-US" dirty="0"/>
              <a:t>("Fail</a:t>
            </a:r>
            <a:r>
              <a:rPr lang="en-US" dirty="0" smtClean="0"/>
              <a:t>");</a:t>
            </a:r>
          </a:p>
          <a:p>
            <a:pPr marL="0" indent="0" fontAlgn="base">
              <a:buNone/>
            </a:pPr>
            <a:r>
              <a:rPr lang="en-US" dirty="0" smtClean="0"/>
              <a:t> </a:t>
            </a:r>
            <a:r>
              <a:rPr lang="en-US" dirty="0"/>
              <a:t>} </a:t>
            </a:r>
            <a:endParaRPr lang="en-US" dirty="0" smtClean="0"/>
          </a:p>
          <a:p>
            <a:pPr marL="0" indent="0" fontAlgn="base">
              <a:buNone/>
            </a:pPr>
            <a:r>
              <a:rPr lang="en-US" dirty="0" smtClean="0"/>
              <a:t>&lt;/</a:t>
            </a:r>
            <a:r>
              <a:rPr lang="en-US" dirty="0"/>
              <a:t>script</a:t>
            </a:r>
            <a:r>
              <a:rPr lang="en-US" dirty="0" smtClean="0"/>
              <a:t>&gt;&lt;/body&gt;&lt;/html&gt;</a:t>
            </a:r>
            <a:endParaRPr lang="en-US" b="1" dirty="0"/>
          </a:p>
        </p:txBody>
      </p:sp>
    </p:spTree>
    <p:extLst>
      <p:ext uri="{BB962C8B-B14F-4D97-AF65-F5344CB8AC3E}">
        <p14:creationId xmlns:p14="http://schemas.microsoft.com/office/powerpoint/2010/main" val="3668266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62500" lnSpcReduction="20000"/>
          </a:bodyPr>
          <a:lstStyle/>
          <a:p>
            <a:pPr marL="0" indent="0" fontAlgn="base">
              <a:buNone/>
            </a:pPr>
            <a:r>
              <a:rPr lang="en-US" b="1" dirty="0">
                <a:solidFill>
                  <a:srgbClr val="FF0000"/>
                </a:solidFill>
              </a:rPr>
              <a:t>Switch Statement:</a:t>
            </a:r>
          </a:p>
          <a:p>
            <a:pPr algn="just" fontAlgn="base"/>
            <a:r>
              <a:rPr lang="en-US" dirty="0"/>
              <a:t>We use a switch statement in case we have multiple choices. In the case of the switch statement, it tasks an expression and matches this expression will all available cases in the statement. Please check out the following syntax of the switch </a:t>
            </a:r>
            <a:r>
              <a:rPr lang="en-US" dirty="0" smtClean="0"/>
              <a:t>statement</a:t>
            </a:r>
          </a:p>
          <a:p>
            <a:pPr marL="0" indent="0" algn="just" fontAlgn="base">
              <a:buNone/>
            </a:pPr>
            <a:endParaRPr lang="en-US" dirty="0" smtClean="0"/>
          </a:p>
          <a:p>
            <a:pPr marL="0" indent="0" algn="just" fontAlgn="base">
              <a:buNone/>
            </a:pPr>
            <a:r>
              <a:rPr lang="en-US" dirty="0" smtClean="0"/>
              <a:t>Syntax:</a:t>
            </a:r>
          </a:p>
          <a:p>
            <a:pPr marL="0" indent="0" algn="just" fontAlgn="base">
              <a:buNone/>
            </a:pPr>
            <a:r>
              <a:rPr lang="en-US" dirty="0" smtClean="0"/>
              <a:t>witch(expression</a:t>
            </a:r>
            <a:r>
              <a:rPr lang="en-US" dirty="0"/>
              <a:t>) { </a:t>
            </a:r>
            <a:endParaRPr lang="en-US" dirty="0" smtClean="0"/>
          </a:p>
          <a:p>
            <a:pPr marL="0" indent="0" algn="just" fontAlgn="base">
              <a:buNone/>
            </a:pPr>
            <a:r>
              <a:rPr lang="en-US" dirty="0" smtClean="0"/>
              <a:t>case </a:t>
            </a:r>
            <a:r>
              <a:rPr lang="en-US" dirty="0"/>
              <a:t>1: </a:t>
            </a:r>
            <a:endParaRPr lang="en-US" dirty="0" smtClean="0"/>
          </a:p>
          <a:p>
            <a:pPr marL="0" indent="0" algn="just" fontAlgn="base">
              <a:buNone/>
            </a:pPr>
            <a:r>
              <a:rPr lang="en-US" dirty="0" smtClean="0"/>
              <a:t>//</a:t>
            </a:r>
            <a:r>
              <a:rPr lang="en-US" dirty="0"/>
              <a:t>Statements </a:t>
            </a:r>
            <a:endParaRPr lang="en-US" dirty="0" smtClean="0"/>
          </a:p>
          <a:p>
            <a:pPr marL="0" indent="0" algn="just" fontAlgn="base">
              <a:buNone/>
            </a:pPr>
            <a:r>
              <a:rPr lang="en-US" dirty="0" smtClean="0"/>
              <a:t>break</a:t>
            </a:r>
            <a:r>
              <a:rPr lang="en-US" dirty="0"/>
              <a:t>; </a:t>
            </a:r>
            <a:endParaRPr lang="en-US" dirty="0" smtClean="0"/>
          </a:p>
          <a:p>
            <a:pPr marL="0" indent="0" algn="just" fontAlgn="base">
              <a:buNone/>
            </a:pPr>
            <a:r>
              <a:rPr lang="en-US" dirty="0" smtClean="0"/>
              <a:t>case </a:t>
            </a:r>
            <a:r>
              <a:rPr lang="en-US" dirty="0"/>
              <a:t>2: </a:t>
            </a:r>
            <a:endParaRPr lang="en-US" dirty="0" smtClean="0"/>
          </a:p>
          <a:p>
            <a:pPr marL="0" indent="0" algn="just" fontAlgn="base">
              <a:buNone/>
            </a:pPr>
            <a:r>
              <a:rPr lang="en-US" dirty="0" smtClean="0"/>
              <a:t>//Statements</a:t>
            </a:r>
          </a:p>
          <a:p>
            <a:pPr marL="0" indent="0" algn="just" fontAlgn="base">
              <a:buNone/>
            </a:pPr>
            <a:r>
              <a:rPr lang="en-US" dirty="0" smtClean="0"/>
              <a:t> </a:t>
            </a:r>
            <a:r>
              <a:rPr lang="en-US" dirty="0"/>
              <a:t>break; </a:t>
            </a:r>
            <a:endParaRPr lang="en-US" dirty="0" smtClean="0"/>
          </a:p>
          <a:p>
            <a:pPr marL="0" indent="0" algn="just" fontAlgn="base">
              <a:buNone/>
            </a:pPr>
            <a:r>
              <a:rPr lang="en-US" dirty="0" smtClean="0"/>
              <a:t>case </a:t>
            </a:r>
            <a:r>
              <a:rPr lang="en-US" dirty="0"/>
              <a:t>n</a:t>
            </a:r>
            <a:r>
              <a:rPr lang="en-US" dirty="0" smtClean="0"/>
              <a:t>:</a:t>
            </a:r>
          </a:p>
          <a:p>
            <a:pPr marL="0" indent="0" algn="just" fontAlgn="base">
              <a:buNone/>
            </a:pPr>
            <a:r>
              <a:rPr lang="en-US" dirty="0" smtClean="0"/>
              <a:t> </a:t>
            </a:r>
            <a:r>
              <a:rPr lang="en-US" dirty="0"/>
              <a:t>//Statements </a:t>
            </a:r>
            <a:endParaRPr lang="en-US" dirty="0" smtClean="0"/>
          </a:p>
          <a:p>
            <a:pPr marL="0" indent="0" algn="just" fontAlgn="base">
              <a:buNone/>
            </a:pPr>
            <a:r>
              <a:rPr lang="en-US" dirty="0" smtClean="0"/>
              <a:t>break</a:t>
            </a:r>
            <a:r>
              <a:rPr lang="en-US" dirty="0"/>
              <a:t>; </a:t>
            </a:r>
            <a:endParaRPr lang="en-US" dirty="0" smtClean="0"/>
          </a:p>
          <a:p>
            <a:pPr marL="0" indent="0" algn="just" fontAlgn="base">
              <a:buNone/>
            </a:pPr>
            <a:r>
              <a:rPr lang="en-US" dirty="0" smtClean="0"/>
              <a:t>default</a:t>
            </a:r>
            <a:r>
              <a:rPr lang="en-US" dirty="0"/>
              <a:t>: </a:t>
            </a:r>
            <a:endParaRPr lang="en-US" dirty="0" smtClean="0"/>
          </a:p>
          <a:p>
            <a:pPr marL="0" indent="0" algn="just" fontAlgn="base">
              <a:buNone/>
            </a:pPr>
            <a:r>
              <a:rPr lang="en-US" dirty="0" smtClean="0"/>
              <a:t>//</a:t>
            </a:r>
            <a:r>
              <a:rPr lang="en-US" dirty="0"/>
              <a:t>Statements </a:t>
            </a:r>
            <a:endParaRPr lang="en-US" dirty="0" smtClean="0"/>
          </a:p>
          <a:p>
            <a:pPr marL="0" indent="0" algn="just" fontAlgn="base">
              <a:buNone/>
            </a:pPr>
            <a:r>
              <a:rPr lang="en-US" dirty="0" smtClean="0"/>
              <a:t>}</a:t>
            </a:r>
            <a:endParaRPr lang="en-US" dirty="0"/>
          </a:p>
        </p:txBody>
      </p:sp>
    </p:spTree>
    <p:extLst>
      <p:ext uri="{BB962C8B-B14F-4D97-AF65-F5344CB8AC3E}">
        <p14:creationId xmlns:p14="http://schemas.microsoft.com/office/powerpoint/2010/main" val="3633694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55000" lnSpcReduction="20000"/>
          </a:bodyPr>
          <a:lstStyle/>
          <a:p>
            <a:pPr marL="0" indent="0" fontAlgn="base">
              <a:buNone/>
            </a:pPr>
            <a:r>
              <a:rPr lang="en-US" sz="3600" b="1" u="sng" dirty="0" smtClean="0"/>
              <a:t>Example  of  switch  case statement:-</a:t>
            </a:r>
          </a:p>
          <a:p>
            <a:pPr marL="0" indent="0" fontAlgn="base">
              <a:buNone/>
            </a:pPr>
            <a:r>
              <a:rPr lang="en-US" dirty="0" smtClean="0"/>
              <a:t>&lt;html&gt;</a:t>
            </a:r>
          </a:p>
          <a:p>
            <a:pPr marL="0" indent="0" fontAlgn="base">
              <a:buNone/>
            </a:pPr>
            <a:r>
              <a:rPr lang="en-US" dirty="0" smtClean="0"/>
              <a:t>&lt;head&gt;&lt;title&gt;&lt;/title&gt;&lt;/head&gt;</a:t>
            </a:r>
          </a:p>
          <a:p>
            <a:pPr marL="0" indent="0" fontAlgn="base">
              <a:buNone/>
            </a:pPr>
            <a:r>
              <a:rPr lang="en-US" dirty="0" smtClean="0"/>
              <a:t>&lt;body&gt;</a:t>
            </a:r>
          </a:p>
          <a:p>
            <a:pPr marL="0" indent="0" fontAlgn="base">
              <a:buNone/>
            </a:pPr>
            <a:r>
              <a:rPr lang="en-US" dirty="0" smtClean="0"/>
              <a:t>&lt;script</a:t>
            </a:r>
            <a:r>
              <a:rPr lang="en-US" dirty="0"/>
              <a:t>&gt; </a:t>
            </a:r>
            <a:endParaRPr lang="en-US" dirty="0" smtClean="0"/>
          </a:p>
          <a:p>
            <a:pPr marL="0" indent="0" fontAlgn="base">
              <a:buNone/>
            </a:pPr>
            <a:r>
              <a:rPr lang="en-US" dirty="0" err="1" smtClean="0"/>
              <a:t>var</a:t>
            </a:r>
            <a:r>
              <a:rPr lang="en-US" dirty="0" smtClean="0"/>
              <a:t> </a:t>
            </a:r>
            <a:r>
              <a:rPr lang="en-US" dirty="0" err="1"/>
              <a:t>num</a:t>
            </a:r>
            <a:r>
              <a:rPr lang="en-US" dirty="0"/>
              <a:t>=1; </a:t>
            </a:r>
            <a:endParaRPr lang="en-US" dirty="0" smtClean="0"/>
          </a:p>
          <a:p>
            <a:pPr marL="0" indent="0" fontAlgn="base">
              <a:buNone/>
            </a:pPr>
            <a:r>
              <a:rPr lang="en-US" dirty="0" err="1" smtClean="0"/>
              <a:t>var</a:t>
            </a:r>
            <a:r>
              <a:rPr lang="en-US" dirty="0" smtClean="0"/>
              <a:t> </a:t>
            </a:r>
            <a:r>
              <a:rPr lang="en-US" dirty="0"/>
              <a:t>result; </a:t>
            </a:r>
            <a:endParaRPr lang="en-US" dirty="0" smtClean="0"/>
          </a:p>
          <a:p>
            <a:pPr marL="0" indent="0" fontAlgn="base">
              <a:buNone/>
            </a:pPr>
            <a:r>
              <a:rPr lang="en-US" dirty="0" smtClean="0"/>
              <a:t>switch(</a:t>
            </a:r>
            <a:r>
              <a:rPr lang="en-US" dirty="0" err="1" smtClean="0"/>
              <a:t>num</a:t>
            </a:r>
            <a:r>
              <a:rPr lang="en-US" dirty="0" smtClean="0"/>
              <a:t>)</a:t>
            </a:r>
          </a:p>
          <a:p>
            <a:pPr marL="0" indent="0" fontAlgn="base">
              <a:buNone/>
            </a:pPr>
            <a:r>
              <a:rPr lang="en-US" dirty="0" smtClean="0"/>
              <a:t>{ </a:t>
            </a:r>
            <a:r>
              <a:rPr lang="en-US" dirty="0"/>
              <a:t>case 1: </a:t>
            </a:r>
            <a:endParaRPr lang="en-US" dirty="0" smtClean="0"/>
          </a:p>
          <a:p>
            <a:pPr marL="0" indent="0" fontAlgn="base">
              <a:buNone/>
            </a:pPr>
            <a:r>
              <a:rPr lang="en-US" dirty="0" err="1" smtClean="0"/>
              <a:t>document.write</a:t>
            </a:r>
            <a:r>
              <a:rPr lang="en-US" dirty="0"/>
              <a:t>("Red"); </a:t>
            </a:r>
            <a:endParaRPr lang="en-US" dirty="0" smtClean="0"/>
          </a:p>
          <a:p>
            <a:pPr marL="0" indent="0" fontAlgn="base">
              <a:buNone/>
            </a:pPr>
            <a:r>
              <a:rPr lang="en-US" dirty="0" smtClean="0"/>
              <a:t>break;</a:t>
            </a:r>
          </a:p>
          <a:p>
            <a:pPr marL="0" indent="0" fontAlgn="base">
              <a:buNone/>
            </a:pPr>
            <a:r>
              <a:rPr lang="en-US" dirty="0" smtClean="0"/>
              <a:t> </a:t>
            </a:r>
            <a:r>
              <a:rPr lang="en-US" dirty="0"/>
              <a:t>case 2</a:t>
            </a:r>
            <a:r>
              <a:rPr lang="en-US" dirty="0" smtClean="0"/>
              <a:t>:</a:t>
            </a:r>
          </a:p>
          <a:p>
            <a:pPr marL="0" indent="0" fontAlgn="base">
              <a:buNone/>
            </a:pPr>
            <a:r>
              <a:rPr lang="en-US" dirty="0" smtClean="0"/>
              <a:t> </a:t>
            </a:r>
            <a:r>
              <a:rPr lang="en-US" dirty="0" err="1"/>
              <a:t>document.write</a:t>
            </a:r>
            <a:r>
              <a:rPr lang="en-US" dirty="0"/>
              <a:t>("Green"); </a:t>
            </a:r>
            <a:endParaRPr lang="en-US" dirty="0" smtClean="0"/>
          </a:p>
          <a:p>
            <a:pPr marL="0" indent="0" fontAlgn="base">
              <a:buNone/>
            </a:pPr>
            <a:r>
              <a:rPr lang="en-US" dirty="0" smtClean="0"/>
              <a:t>break</a:t>
            </a:r>
            <a:r>
              <a:rPr lang="en-US" dirty="0"/>
              <a:t>; </a:t>
            </a:r>
          </a:p>
          <a:p>
            <a:pPr marL="0" indent="0" fontAlgn="base">
              <a:buNone/>
            </a:pPr>
            <a:r>
              <a:rPr lang="en-US" dirty="0" smtClean="0"/>
              <a:t>case </a:t>
            </a:r>
            <a:r>
              <a:rPr lang="en-US" dirty="0"/>
              <a:t>3: </a:t>
            </a:r>
            <a:endParaRPr lang="en-US" dirty="0" smtClean="0"/>
          </a:p>
          <a:p>
            <a:pPr marL="0" indent="0" fontAlgn="base">
              <a:buNone/>
            </a:pPr>
            <a:r>
              <a:rPr lang="en-US" dirty="0" err="1" smtClean="0"/>
              <a:t>document.write</a:t>
            </a:r>
            <a:r>
              <a:rPr lang="en-US" dirty="0"/>
              <a:t>("Blue"); </a:t>
            </a:r>
            <a:endParaRPr lang="en-US" dirty="0" smtClean="0"/>
          </a:p>
          <a:p>
            <a:pPr marL="0" indent="0" fontAlgn="base">
              <a:buNone/>
            </a:pPr>
            <a:r>
              <a:rPr lang="en-US" dirty="0" smtClean="0"/>
              <a:t>break</a:t>
            </a:r>
            <a:r>
              <a:rPr lang="en-US" dirty="0"/>
              <a:t>; </a:t>
            </a:r>
            <a:endParaRPr lang="en-US" dirty="0" smtClean="0"/>
          </a:p>
          <a:p>
            <a:pPr marL="0" indent="0" fontAlgn="base">
              <a:buNone/>
            </a:pPr>
            <a:r>
              <a:rPr lang="en-US" dirty="0" smtClean="0"/>
              <a:t>default:</a:t>
            </a:r>
          </a:p>
          <a:p>
            <a:pPr marL="0" indent="0" fontAlgn="base">
              <a:buNone/>
            </a:pPr>
            <a:r>
              <a:rPr lang="en-US" dirty="0" smtClean="0"/>
              <a:t> </a:t>
            </a:r>
            <a:r>
              <a:rPr lang="en-US" dirty="0" err="1"/>
              <a:t>document.write</a:t>
            </a:r>
            <a:r>
              <a:rPr lang="en-US" dirty="0"/>
              <a:t>("Black</a:t>
            </a:r>
            <a:r>
              <a:rPr lang="en-US" dirty="0" smtClean="0"/>
              <a:t>");</a:t>
            </a:r>
          </a:p>
          <a:p>
            <a:pPr marL="0" indent="0" fontAlgn="base">
              <a:buNone/>
            </a:pPr>
            <a:r>
              <a:rPr lang="en-US" dirty="0" smtClean="0"/>
              <a:t> </a:t>
            </a:r>
            <a:r>
              <a:rPr lang="en-US" dirty="0"/>
              <a:t>} </a:t>
            </a:r>
            <a:endParaRPr lang="en-US" dirty="0" smtClean="0"/>
          </a:p>
          <a:p>
            <a:pPr marL="0" indent="0" fontAlgn="base">
              <a:buNone/>
            </a:pPr>
            <a:r>
              <a:rPr lang="en-US" dirty="0" smtClean="0"/>
              <a:t>&lt;/</a:t>
            </a:r>
            <a:r>
              <a:rPr lang="en-US" dirty="0"/>
              <a:t>script</a:t>
            </a:r>
            <a:r>
              <a:rPr lang="en-US" dirty="0" smtClean="0"/>
              <a:t>&gt;</a:t>
            </a:r>
          </a:p>
          <a:p>
            <a:pPr marL="0" indent="0" fontAlgn="base">
              <a:buNone/>
            </a:pPr>
            <a:r>
              <a:rPr lang="en-US" dirty="0" smtClean="0"/>
              <a:t>&lt;/body&gt;&lt;/html&gt;</a:t>
            </a:r>
            <a:endParaRPr lang="en-US" dirty="0"/>
          </a:p>
        </p:txBody>
      </p:sp>
    </p:spTree>
    <p:extLst>
      <p:ext uri="{BB962C8B-B14F-4D97-AF65-F5344CB8AC3E}">
        <p14:creationId xmlns:p14="http://schemas.microsoft.com/office/powerpoint/2010/main" val="4255924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a:bodyPr>
          <a:lstStyle/>
          <a:p>
            <a:pPr marL="0" indent="0" fontAlgn="base">
              <a:buNone/>
            </a:pPr>
            <a:r>
              <a:rPr lang="en-US" sz="3600" b="1" u="sng" dirty="0" smtClean="0">
                <a:solidFill>
                  <a:srgbClr val="FF0000"/>
                </a:solidFill>
              </a:rPr>
              <a:t>Looping Statements:</a:t>
            </a:r>
          </a:p>
          <a:p>
            <a:pPr fontAlgn="base"/>
            <a:r>
              <a:rPr lang="en-US" dirty="0"/>
              <a:t>f</a:t>
            </a:r>
            <a:r>
              <a:rPr lang="en-US" dirty="0" smtClean="0"/>
              <a:t>or loop</a:t>
            </a:r>
          </a:p>
          <a:p>
            <a:pPr fontAlgn="base"/>
            <a:r>
              <a:rPr lang="en-US" dirty="0"/>
              <a:t>w</a:t>
            </a:r>
            <a:r>
              <a:rPr lang="en-US" dirty="0" smtClean="0"/>
              <a:t>hile loop </a:t>
            </a:r>
          </a:p>
          <a:p>
            <a:pPr fontAlgn="base"/>
            <a:r>
              <a:rPr lang="en-US" dirty="0" smtClean="0"/>
              <a:t>do ….while loop </a:t>
            </a:r>
          </a:p>
          <a:p>
            <a:pPr fontAlgn="base"/>
            <a:r>
              <a:rPr lang="en-US" dirty="0" smtClean="0"/>
              <a:t>for each loop </a:t>
            </a:r>
            <a:endParaRPr lang="en-US" dirty="0"/>
          </a:p>
        </p:txBody>
      </p:sp>
    </p:spTree>
    <p:extLst>
      <p:ext uri="{BB962C8B-B14F-4D97-AF65-F5344CB8AC3E}">
        <p14:creationId xmlns:p14="http://schemas.microsoft.com/office/powerpoint/2010/main" val="2977153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lnSpcReduction="10000"/>
          </a:bodyPr>
          <a:lstStyle/>
          <a:p>
            <a:pPr marL="0" indent="0">
              <a:buNone/>
            </a:pPr>
            <a:r>
              <a:rPr lang="en-US" sz="3600" b="1" u="sng" dirty="0" smtClean="0"/>
              <a:t>For Loop:  </a:t>
            </a:r>
            <a:r>
              <a:rPr lang="en-US" sz="3600" dirty="0" smtClean="0"/>
              <a:t>The</a:t>
            </a:r>
            <a:r>
              <a:rPr lang="en-US" sz="3600" dirty="0"/>
              <a:t> JavaScript for loop </a:t>
            </a:r>
            <a:r>
              <a:rPr lang="en-US" sz="3600" i="1" dirty="0"/>
              <a:t>iterates the elements for the fixed number of times</a:t>
            </a:r>
            <a:r>
              <a:rPr lang="en-US" sz="3600" dirty="0"/>
              <a:t>. It should be used if number of iteration is known. The syntax of for loop is given below.</a:t>
            </a:r>
          </a:p>
          <a:p>
            <a:pPr marL="0" indent="0">
              <a:buNone/>
            </a:pPr>
            <a:r>
              <a:rPr lang="en-US" sz="3600" dirty="0" smtClean="0"/>
              <a:t> for</a:t>
            </a:r>
            <a:r>
              <a:rPr lang="en-US" sz="3600" dirty="0"/>
              <a:t> (initialization; condition; increment)  </a:t>
            </a:r>
          </a:p>
          <a:p>
            <a:pPr marL="0" indent="0">
              <a:buNone/>
            </a:pPr>
            <a:r>
              <a:rPr lang="en-US" sz="3600" dirty="0"/>
              <a:t>{  </a:t>
            </a:r>
          </a:p>
          <a:p>
            <a:pPr marL="0" indent="0">
              <a:buNone/>
            </a:pPr>
            <a:r>
              <a:rPr lang="en-US" sz="3600" dirty="0"/>
              <a:t>   </a:t>
            </a:r>
            <a:r>
              <a:rPr lang="en-US" sz="3600" dirty="0" smtClean="0"/>
              <a:t>//code</a:t>
            </a:r>
            <a:r>
              <a:rPr lang="en-US" sz="3600" dirty="0"/>
              <a:t> to be executed  </a:t>
            </a:r>
          </a:p>
          <a:p>
            <a:pPr marL="0" indent="0">
              <a:buNone/>
            </a:pPr>
            <a:r>
              <a:rPr lang="en-US" sz="3600" dirty="0"/>
              <a:t>}  </a:t>
            </a:r>
          </a:p>
          <a:p>
            <a:r>
              <a:rPr lang="en-US" sz="3600" dirty="0"/>
              <a:t>Let’s see the simple example of for loop in </a:t>
            </a:r>
            <a:r>
              <a:rPr lang="en-US" sz="3600" dirty="0" err="1"/>
              <a:t>javascript</a:t>
            </a:r>
            <a:r>
              <a:rPr lang="en-US" sz="3600" dirty="0"/>
              <a:t>.</a:t>
            </a:r>
          </a:p>
        </p:txBody>
      </p:sp>
    </p:spTree>
    <p:extLst>
      <p:ext uri="{BB962C8B-B14F-4D97-AF65-F5344CB8AC3E}">
        <p14:creationId xmlns:p14="http://schemas.microsoft.com/office/powerpoint/2010/main" val="1348600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92500" lnSpcReduction="10000"/>
          </a:bodyPr>
          <a:lstStyle/>
          <a:p>
            <a:pPr marL="0" indent="0">
              <a:buNone/>
            </a:pPr>
            <a:r>
              <a:rPr lang="en-US" sz="3600" dirty="0" smtClean="0"/>
              <a:t>&lt;html&gt;</a:t>
            </a:r>
          </a:p>
          <a:p>
            <a:pPr marL="0" indent="0">
              <a:buNone/>
            </a:pPr>
            <a:r>
              <a:rPr lang="en-US" sz="3600" dirty="0" smtClean="0"/>
              <a:t>&lt;head&gt;&lt;title&gt;&lt;/title&gt;</a:t>
            </a:r>
          </a:p>
          <a:p>
            <a:pPr marL="0" indent="0">
              <a:buNone/>
            </a:pPr>
            <a:r>
              <a:rPr lang="en-US" sz="3600" dirty="0" smtClean="0"/>
              <a:t>&lt;/head&gt;</a:t>
            </a:r>
          </a:p>
          <a:p>
            <a:pPr marL="0" indent="0">
              <a:buNone/>
            </a:pPr>
            <a:r>
              <a:rPr lang="en-US" sz="3600" dirty="0" smtClean="0"/>
              <a:t>&lt;</a:t>
            </a:r>
            <a:r>
              <a:rPr lang="en-US" sz="3600" dirty="0"/>
              <a:t>script&gt;  </a:t>
            </a:r>
          </a:p>
          <a:p>
            <a:pPr marL="0" indent="0">
              <a:buNone/>
            </a:pPr>
            <a:r>
              <a:rPr lang="en-US" sz="3600" dirty="0"/>
              <a:t>for (i=1; i&lt;=5; i++)  </a:t>
            </a:r>
          </a:p>
          <a:p>
            <a:pPr marL="0" indent="0">
              <a:buNone/>
            </a:pPr>
            <a:r>
              <a:rPr lang="en-US" sz="3600" dirty="0"/>
              <a:t>{  </a:t>
            </a:r>
          </a:p>
          <a:p>
            <a:pPr marL="0" indent="0">
              <a:buNone/>
            </a:pPr>
            <a:r>
              <a:rPr lang="en-US" sz="3600" dirty="0" err="1"/>
              <a:t>document.write</a:t>
            </a:r>
            <a:r>
              <a:rPr lang="en-US" sz="3600" dirty="0"/>
              <a:t>(i + "&lt;</a:t>
            </a:r>
            <a:r>
              <a:rPr lang="en-US" sz="3600" dirty="0" err="1"/>
              <a:t>br</a:t>
            </a:r>
            <a:r>
              <a:rPr lang="en-US" sz="3600" dirty="0"/>
              <a:t>/&gt;")  </a:t>
            </a:r>
          </a:p>
          <a:p>
            <a:pPr marL="0" indent="0">
              <a:buNone/>
            </a:pPr>
            <a:r>
              <a:rPr lang="en-US" sz="3600" dirty="0"/>
              <a:t>}  </a:t>
            </a:r>
          </a:p>
          <a:p>
            <a:pPr marL="0" indent="0">
              <a:buNone/>
            </a:pPr>
            <a:r>
              <a:rPr lang="en-US" sz="3600" dirty="0"/>
              <a:t>&lt;/script</a:t>
            </a:r>
            <a:r>
              <a:rPr lang="en-US" sz="3600" dirty="0" smtClean="0"/>
              <a:t>&gt;</a:t>
            </a:r>
          </a:p>
          <a:p>
            <a:pPr marL="0" indent="0">
              <a:buNone/>
            </a:pPr>
            <a:r>
              <a:rPr lang="en-US" sz="3600" dirty="0" smtClean="0"/>
              <a:t>&lt;/body&gt;</a:t>
            </a:r>
          </a:p>
          <a:p>
            <a:pPr marL="0" indent="0">
              <a:buNone/>
            </a:pPr>
            <a:r>
              <a:rPr lang="en-US" sz="3600" dirty="0" smtClean="0"/>
              <a:t>&lt;/html&gt;</a:t>
            </a:r>
            <a:r>
              <a:rPr lang="en-US" sz="3600" dirty="0"/>
              <a: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2133600"/>
            <a:ext cx="19812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5845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lnSpcReduction="10000"/>
          </a:bodyPr>
          <a:lstStyle/>
          <a:p>
            <a:pPr marL="0" indent="0">
              <a:buNone/>
            </a:pPr>
            <a:r>
              <a:rPr lang="en-US" sz="3600" b="1" u="sng" dirty="0" smtClean="0"/>
              <a:t> While Loop :-</a:t>
            </a:r>
            <a:r>
              <a:rPr lang="en-US" sz="3600" dirty="0" smtClean="0"/>
              <a:t>The</a:t>
            </a:r>
            <a:r>
              <a:rPr lang="en-US" sz="3600" dirty="0"/>
              <a:t> JavaScript while loop iterates the elements for the infinite number of times. It should be used if number of iteration is not known. The syntax of while loop is given below.</a:t>
            </a:r>
          </a:p>
          <a:p>
            <a:pPr marL="0" indent="0">
              <a:buNone/>
            </a:pPr>
            <a:r>
              <a:rPr lang="en-US" sz="3600" dirty="0"/>
              <a:t>while (condition)  </a:t>
            </a:r>
          </a:p>
          <a:p>
            <a:pPr marL="0" indent="0">
              <a:buNone/>
            </a:pPr>
            <a:r>
              <a:rPr lang="en-US" sz="3600" dirty="0"/>
              <a:t>{  </a:t>
            </a:r>
          </a:p>
          <a:p>
            <a:pPr marL="0" indent="0">
              <a:buNone/>
            </a:pPr>
            <a:r>
              <a:rPr lang="en-US" sz="3600" dirty="0"/>
              <a:t>    code to be executed  </a:t>
            </a:r>
          </a:p>
          <a:p>
            <a:pPr marL="0" indent="0">
              <a:buNone/>
            </a:pPr>
            <a:r>
              <a:rPr lang="en-US" sz="3600" dirty="0"/>
              <a:t>}  </a:t>
            </a:r>
          </a:p>
          <a:p>
            <a:r>
              <a:rPr lang="en-US" sz="3600" dirty="0"/>
              <a:t>Let’s see the simple example of while loop in </a:t>
            </a:r>
            <a:r>
              <a:rPr lang="en-US" sz="3600" dirty="0" err="1"/>
              <a:t>javascript</a:t>
            </a:r>
            <a:r>
              <a:rPr lang="en-US" sz="3600" dirty="0"/>
              <a:t>.</a:t>
            </a:r>
          </a:p>
        </p:txBody>
      </p:sp>
    </p:spTree>
    <p:extLst>
      <p:ext uri="{BB962C8B-B14F-4D97-AF65-F5344CB8AC3E}">
        <p14:creationId xmlns:p14="http://schemas.microsoft.com/office/powerpoint/2010/main" val="1066476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77500" lnSpcReduction="20000"/>
          </a:bodyPr>
          <a:lstStyle/>
          <a:p>
            <a:pPr marL="0" indent="0">
              <a:buNone/>
            </a:pPr>
            <a:r>
              <a:rPr lang="en-US" sz="3600" b="1" dirty="0" smtClean="0"/>
              <a:t>Example:-</a:t>
            </a:r>
          </a:p>
          <a:p>
            <a:pPr marL="0" indent="0">
              <a:buNone/>
            </a:pPr>
            <a:r>
              <a:rPr lang="en-US" sz="3600" dirty="0" smtClean="0"/>
              <a:t>&lt;html&gt;</a:t>
            </a:r>
          </a:p>
          <a:p>
            <a:pPr marL="0" indent="0">
              <a:buNone/>
            </a:pPr>
            <a:r>
              <a:rPr lang="en-US" sz="3600" dirty="0" smtClean="0"/>
              <a:t>&lt;head&gt;&lt;title&gt;&lt;/title&gt;</a:t>
            </a:r>
          </a:p>
          <a:p>
            <a:pPr marL="0" indent="0">
              <a:buNone/>
            </a:pPr>
            <a:r>
              <a:rPr lang="en-US" sz="3600" dirty="0" smtClean="0"/>
              <a:t>&lt;/head&gt;</a:t>
            </a:r>
          </a:p>
          <a:p>
            <a:pPr marL="0" indent="0">
              <a:buNone/>
            </a:pPr>
            <a:r>
              <a:rPr lang="en-US" sz="3600" dirty="0" smtClean="0"/>
              <a:t>&lt;</a:t>
            </a:r>
            <a:r>
              <a:rPr lang="en-US" sz="3600" dirty="0"/>
              <a:t>script&gt;  </a:t>
            </a:r>
          </a:p>
          <a:p>
            <a:pPr marL="0" indent="0">
              <a:buNone/>
            </a:pPr>
            <a:r>
              <a:rPr lang="en-US" sz="3600" dirty="0" err="1"/>
              <a:t>var</a:t>
            </a:r>
            <a:r>
              <a:rPr lang="en-US" sz="3600" dirty="0"/>
              <a:t> i=11;  </a:t>
            </a:r>
          </a:p>
          <a:p>
            <a:pPr marL="0" indent="0">
              <a:buNone/>
            </a:pPr>
            <a:r>
              <a:rPr lang="en-US" sz="3600" dirty="0"/>
              <a:t>while (i&lt;=15)  </a:t>
            </a:r>
          </a:p>
          <a:p>
            <a:pPr marL="0" indent="0">
              <a:buNone/>
            </a:pPr>
            <a:r>
              <a:rPr lang="en-US" sz="3600" dirty="0"/>
              <a:t>{  </a:t>
            </a:r>
          </a:p>
          <a:p>
            <a:pPr marL="0" indent="0">
              <a:buNone/>
            </a:pPr>
            <a:r>
              <a:rPr lang="en-US" sz="3600" dirty="0" err="1" smtClean="0"/>
              <a:t>document.write</a:t>
            </a:r>
            <a:r>
              <a:rPr lang="en-US" sz="3600" dirty="0" smtClean="0"/>
              <a:t>(i</a:t>
            </a:r>
            <a:r>
              <a:rPr lang="en-US" sz="3600" dirty="0"/>
              <a:t> + "&lt;</a:t>
            </a:r>
            <a:r>
              <a:rPr lang="en-US" sz="3600" dirty="0" err="1"/>
              <a:t>br</a:t>
            </a:r>
            <a:r>
              <a:rPr lang="en-US" sz="3600" dirty="0"/>
              <a:t>/&gt;");  </a:t>
            </a:r>
          </a:p>
          <a:p>
            <a:pPr marL="0" indent="0">
              <a:buNone/>
            </a:pPr>
            <a:r>
              <a:rPr lang="en-US" sz="3600" dirty="0"/>
              <a:t>i++;  </a:t>
            </a:r>
          </a:p>
          <a:p>
            <a:pPr marL="0" indent="0">
              <a:buNone/>
            </a:pPr>
            <a:r>
              <a:rPr lang="en-US" sz="3600" dirty="0"/>
              <a:t>}  </a:t>
            </a:r>
          </a:p>
          <a:p>
            <a:pPr marL="0" indent="0">
              <a:buNone/>
            </a:pPr>
            <a:r>
              <a:rPr lang="en-US" sz="3600" dirty="0"/>
              <a:t>&lt;/script</a:t>
            </a:r>
            <a:r>
              <a:rPr lang="en-US" sz="3600" dirty="0" smtClean="0"/>
              <a:t>&gt;</a:t>
            </a:r>
          </a:p>
          <a:p>
            <a:pPr marL="0" indent="0">
              <a:buNone/>
            </a:pPr>
            <a:r>
              <a:rPr lang="en-US" sz="3600" dirty="0" smtClean="0"/>
              <a:t>&lt;body&gt;</a:t>
            </a:r>
          </a:p>
          <a:p>
            <a:pPr marL="0" indent="0">
              <a:buNone/>
            </a:pPr>
            <a:r>
              <a:rPr lang="en-US" sz="3600" dirty="0" smtClean="0"/>
              <a:t>&lt;/html&gt;</a:t>
            </a:r>
            <a:r>
              <a:rPr lang="en-US" sz="3600" dirty="0"/>
              <a:t>  </a:t>
            </a:r>
          </a:p>
          <a:p>
            <a:pPr marL="0" indent="0">
              <a:buNone/>
            </a:pPr>
            <a:endParaRPr lang="en-US" sz="36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2286000"/>
            <a:ext cx="23622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4776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92500" lnSpcReduction="10000"/>
          </a:bodyPr>
          <a:lstStyle/>
          <a:p>
            <a:pPr marL="0" indent="0">
              <a:buNone/>
            </a:pPr>
            <a:r>
              <a:rPr lang="en-US" sz="3600" b="1" u="sng" dirty="0" smtClean="0"/>
              <a:t>Do…while :-</a:t>
            </a:r>
            <a:r>
              <a:rPr lang="en-US" sz="3600" dirty="0" smtClean="0"/>
              <a:t>The</a:t>
            </a:r>
            <a:r>
              <a:rPr lang="en-US" sz="3600" dirty="0"/>
              <a:t> JavaScript do while loop iterates the elements for the infinite number of times like while loop. But, code is executed at least once whether condition is true or false. The syntax of do while loop is given below.</a:t>
            </a:r>
          </a:p>
          <a:p>
            <a:pPr marL="0" indent="0">
              <a:buNone/>
            </a:pPr>
            <a:r>
              <a:rPr lang="en-US" sz="3600" dirty="0"/>
              <a:t>do{  </a:t>
            </a:r>
          </a:p>
          <a:p>
            <a:pPr marL="0" indent="0">
              <a:buNone/>
            </a:pPr>
            <a:r>
              <a:rPr lang="en-US" sz="3600" dirty="0"/>
              <a:t>    code to be executed  </a:t>
            </a:r>
          </a:p>
          <a:p>
            <a:pPr marL="0" indent="0">
              <a:buNone/>
            </a:pPr>
            <a:r>
              <a:rPr lang="en-US" sz="3600" dirty="0"/>
              <a:t>}while (condition);  </a:t>
            </a:r>
          </a:p>
          <a:p>
            <a:r>
              <a:rPr lang="en-US" sz="3600" dirty="0"/>
              <a:t>Let’s see the simple example of do while loop in </a:t>
            </a:r>
            <a:r>
              <a:rPr lang="en-US" sz="3600" dirty="0" smtClean="0"/>
              <a:t>JavaScript.</a:t>
            </a:r>
            <a:r>
              <a:rPr lang="en-US" sz="3600" dirty="0"/>
              <a:t/>
            </a:r>
            <a:br>
              <a:rPr lang="en-US" sz="3600" dirty="0"/>
            </a:br>
            <a:endParaRPr lang="en-US" sz="3600" dirty="0"/>
          </a:p>
        </p:txBody>
      </p:sp>
    </p:spTree>
    <p:extLst>
      <p:ext uri="{BB962C8B-B14F-4D97-AF65-F5344CB8AC3E}">
        <p14:creationId xmlns:p14="http://schemas.microsoft.com/office/powerpoint/2010/main" val="268597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92500" lnSpcReduction="20000"/>
          </a:bodyPr>
          <a:lstStyle/>
          <a:p>
            <a:pPr marL="0" indent="0">
              <a:buNone/>
            </a:pPr>
            <a:r>
              <a:rPr lang="en-US" sz="3600" b="1" u="sng" dirty="0" smtClean="0"/>
              <a:t>Example:</a:t>
            </a:r>
          </a:p>
          <a:p>
            <a:pPr marL="0" indent="0">
              <a:buNone/>
            </a:pPr>
            <a:r>
              <a:rPr lang="en-US" sz="3600" dirty="0" smtClean="0"/>
              <a:t>&lt;html&gt;</a:t>
            </a:r>
          </a:p>
          <a:p>
            <a:pPr marL="0" indent="0">
              <a:buNone/>
            </a:pPr>
            <a:r>
              <a:rPr lang="en-US" sz="3600" dirty="0" smtClean="0"/>
              <a:t>&lt;head&gt;&lt;title&gt;&lt;/title&gt;</a:t>
            </a:r>
          </a:p>
          <a:p>
            <a:pPr marL="0" indent="0">
              <a:buNone/>
            </a:pPr>
            <a:r>
              <a:rPr lang="en-US" sz="3600" dirty="0" smtClean="0"/>
              <a:t>&lt;/head&gt;</a:t>
            </a:r>
          </a:p>
          <a:p>
            <a:pPr marL="0" indent="0">
              <a:buNone/>
            </a:pPr>
            <a:r>
              <a:rPr lang="en-US" sz="3600" dirty="0" smtClean="0"/>
              <a:t>&lt;script</a:t>
            </a:r>
            <a:r>
              <a:rPr lang="en-US" sz="3600" dirty="0"/>
              <a:t>&gt;  </a:t>
            </a:r>
          </a:p>
          <a:p>
            <a:pPr marL="0" indent="0">
              <a:buNone/>
            </a:pPr>
            <a:r>
              <a:rPr lang="en-US" sz="3600" dirty="0" err="1"/>
              <a:t>var</a:t>
            </a:r>
            <a:r>
              <a:rPr lang="en-US" sz="3600" dirty="0"/>
              <a:t> i=21;  </a:t>
            </a:r>
          </a:p>
          <a:p>
            <a:pPr marL="0" indent="0">
              <a:buNone/>
            </a:pPr>
            <a:r>
              <a:rPr lang="en-US" sz="3600" dirty="0"/>
              <a:t>do{  </a:t>
            </a:r>
          </a:p>
          <a:p>
            <a:pPr marL="0" indent="0">
              <a:buNone/>
            </a:pPr>
            <a:r>
              <a:rPr lang="en-US" sz="3600" dirty="0" err="1"/>
              <a:t>document.write</a:t>
            </a:r>
            <a:r>
              <a:rPr lang="en-US" sz="3600" dirty="0"/>
              <a:t>(i + "&lt;</a:t>
            </a:r>
            <a:r>
              <a:rPr lang="en-US" sz="3600" dirty="0" err="1"/>
              <a:t>br</a:t>
            </a:r>
            <a:r>
              <a:rPr lang="en-US" sz="3600" dirty="0"/>
              <a:t>/&gt;");  </a:t>
            </a:r>
          </a:p>
          <a:p>
            <a:pPr marL="0" indent="0">
              <a:buNone/>
            </a:pPr>
            <a:r>
              <a:rPr lang="en-US" sz="3600" dirty="0"/>
              <a:t>i++;  </a:t>
            </a:r>
          </a:p>
          <a:p>
            <a:pPr marL="0" indent="0">
              <a:buNone/>
            </a:pPr>
            <a:r>
              <a:rPr lang="en-US" sz="3600" dirty="0"/>
              <a:t>}while (i&lt;=25);  </a:t>
            </a:r>
          </a:p>
          <a:p>
            <a:pPr marL="0" indent="0">
              <a:buNone/>
            </a:pPr>
            <a:r>
              <a:rPr lang="en-US" sz="3600" dirty="0"/>
              <a:t>&lt;/script</a:t>
            </a:r>
            <a:r>
              <a:rPr lang="en-US" sz="3600" dirty="0" smtClean="0"/>
              <a:t>&gt;&lt;/body&gt;</a:t>
            </a:r>
          </a:p>
          <a:p>
            <a:pPr marL="0" indent="0">
              <a:buNone/>
            </a:pPr>
            <a:r>
              <a:rPr lang="en-US" sz="3600" dirty="0" smtClean="0"/>
              <a:t>&lt;/html&gt;</a:t>
            </a:r>
            <a:r>
              <a:rPr lang="en-US" sz="3600" dirty="0"/>
              <a:t>  </a:t>
            </a:r>
          </a:p>
          <a:p>
            <a:pPr marL="0" indent="0">
              <a:buNone/>
            </a:pPr>
            <a:endParaRPr lang="en-US" sz="3600" b="1" u="sng"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057400"/>
            <a:ext cx="25908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1740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92500" lnSpcReduction="10000"/>
          </a:bodyPr>
          <a:lstStyle/>
          <a:p>
            <a:pPr marL="0" indent="0" algn="ctr">
              <a:buNone/>
            </a:pPr>
            <a:r>
              <a:rPr lang="en-US" sz="4000" b="1" u="sng" dirty="0" smtClean="0">
                <a:solidFill>
                  <a:srgbClr val="FF0000"/>
                </a:solidFill>
              </a:rPr>
              <a:t>Array in JavaScript</a:t>
            </a:r>
          </a:p>
          <a:p>
            <a:r>
              <a:rPr lang="en-US" sz="4000" dirty="0" smtClean="0"/>
              <a:t>Array is a collection of similar elements and represented in a single variable name. Array index is always start form [0]  and ends to [n-1] . There </a:t>
            </a:r>
            <a:r>
              <a:rPr lang="en-US" sz="4000" dirty="0"/>
              <a:t>are 3 ways to construct array in </a:t>
            </a:r>
            <a:r>
              <a:rPr lang="en-US" sz="4000" dirty="0" smtClean="0"/>
              <a:t>JavaScript:-</a:t>
            </a:r>
            <a:endParaRPr lang="en-US" sz="4000" dirty="0"/>
          </a:p>
          <a:p>
            <a:pPr marL="742950" indent="-742950">
              <a:buFont typeface="+mj-lt"/>
              <a:buAutoNum type="arabicPeriod"/>
            </a:pPr>
            <a:r>
              <a:rPr lang="en-US" sz="4000" dirty="0"/>
              <a:t>By array literal</a:t>
            </a:r>
          </a:p>
          <a:p>
            <a:pPr marL="742950" indent="-742950">
              <a:buFont typeface="+mj-lt"/>
              <a:buAutoNum type="arabicPeriod"/>
            </a:pPr>
            <a:r>
              <a:rPr lang="en-US" sz="4000" dirty="0"/>
              <a:t>By creating instance of Array directly (using new keyword)</a:t>
            </a:r>
          </a:p>
          <a:p>
            <a:pPr marL="742950" indent="-742950">
              <a:buFont typeface="+mj-lt"/>
              <a:buAutoNum type="arabicPeriod"/>
            </a:pPr>
            <a:r>
              <a:rPr lang="en-US" sz="4000" dirty="0"/>
              <a:t>By using an Array constructor (using new keyword)</a:t>
            </a:r>
          </a:p>
          <a:p>
            <a:pPr marL="0" indent="0">
              <a:buNone/>
            </a:pPr>
            <a:endParaRPr lang="en-US" sz="4000" dirty="0"/>
          </a:p>
        </p:txBody>
      </p:sp>
    </p:spTree>
    <p:extLst>
      <p:ext uri="{BB962C8B-B14F-4D97-AF65-F5344CB8AC3E}">
        <p14:creationId xmlns:p14="http://schemas.microsoft.com/office/powerpoint/2010/main" val="3298994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85000" lnSpcReduction="20000"/>
          </a:bodyPr>
          <a:lstStyle/>
          <a:p>
            <a:pPr marL="0" indent="0">
              <a:buNone/>
            </a:pPr>
            <a:r>
              <a:rPr lang="en-US" sz="4000" dirty="0" smtClean="0"/>
              <a:t>1.JavaScript by using  </a:t>
            </a:r>
            <a:r>
              <a:rPr lang="en-US" sz="4000" dirty="0"/>
              <a:t>array </a:t>
            </a:r>
            <a:r>
              <a:rPr lang="en-US" sz="4000" dirty="0" smtClean="0"/>
              <a:t>literal:-</a:t>
            </a:r>
            <a:endParaRPr lang="en-US" sz="4000" dirty="0"/>
          </a:p>
          <a:p>
            <a:pPr marL="0" indent="0">
              <a:buNone/>
            </a:pPr>
            <a:r>
              <a:rPr lang="en-US" sz="4000" dirty="0"/>
              <a:t>The syntax of creating array using array literal is given below</a:t>
            </a:r>
            <a:r>
              <a:rPr lang="en-US" sz="4000" dirty="0" smtClean="0"/>
              <a:t>:-</a:t>
            </a:r>
            <a:endParaRPr lang="en-US" sz="4000" dirty="0"/>
          </a:p>
          <a:p>
            <a:pPr marL="0" indent="0">
              <a:buNone/>
            </a:pPr>
            <a:r>
              <a:rPr lang="en-US" sz="4000" dirty="0" err="1" smtClean="0"/>
              <a:t>var</a:t>
            </a:r>
            <a:r>
              <a:rPr lang="en-US" sz="4000" dirty="0"/>
              <a:t> </a:t>
            </a:r>
            <a:r>
              <a:rPr lang="en-US" sz="4000" dirty="0" err="1"/>
              <a:t>arrayname</a:t>
            </a:r>
            <a:r>
              <a:rPr lang="en-US" sz="4000" dirty="0"/>
              <a:t>=[value1,value2.....</a:t>
            </a:r>
            <a:r>
              <a:rPr lang="en-US" sz="4000" dirty="0" err="1"/>
              <a:t>valueN</a:t>
            </a:r>
            <a:r>
              <a:rPr lang="en-US" sz="4000" dirty="0"/>
              <a:t>];  </a:t>
            </a:r>
          </a:p>
          <a:p>
            <a:pPr marL="0" indent="0">
              <a:buNone/>
            </a:pPr>
            <a:r>
              <a:rPr lang="en-US" sz="4000" b="1" u="sng" dirty="0" smtClean="0"/>
              <a:t>For example:</a:t>
            </a:r>
          </a:p>
          <a:p>
            <a:pPr marL="0" indent="0">
              <a:buNone/>
            </a:pPr>
            <a:r>
              <a:rPr lang="en-US" sz="4000" dirty="0"/>
              <a:t>&lt;script&gt; </a:t>
            </a:r>
            <a:endParaRPr lang="en-US" sz="4000" dirty="0" smtClean="0"/>
          </a:p>
          <a:p>
            <a:pPr marL="0" indent="0">
              <a:buNone/>
            </a:pPr>
            <a:r>
              <a:rPr lang="en-US" sz="4000" dirty="0" err="1" smtClean="0"/>
              <a:t>var</a:t>
            </a:r>
            <a:r>
              <a:rPr lang="en-US" sz="4000" dirty="0" smtClean="0"/>
              <a:t> i;</a:t>
            </a:r>
            <a:r>
              <a:rPr lang="en-US" sz="4000" dirty="0"/>
              <a:t> </a:t>
            </a:r>
          </a:p>
          <a:p>
            <a:pPr marL="0" indent="0">
              <a:buNone/>
            </a:pPr>
            <a:r>
              <a:rPr lang="en-US" sz="4000" dirty="0" err="1"/>
              <a:t>var</a:t>
            </a:r>
            <a:r>
              <a:rPr lang="en-US" sz="4000" dirty="0"/>
              <a:t> </a:t>
            </a:r>
            <a:r>
              <a:rPr lang="en-US" sz="4000" dirty="0" err="1"/>
              <a:t>emp</a:t>
            </a:r>
            <a:r>
              <a:rPr lang="en-US" sz="4000" dirty="0"/>
              <a:t>=["</a:t>
            </a:r>
            <a:r>
              <a:rPr lang="en-US" sz="4000" dirty="0" err="1"/>
              <a:t>Sonoo</a:t>
            </a:r>
            <a:r>
              <a:rPr lang="en-US" sz="4000" dirty="0"/>
              <a:t>","</a:t>
            </a:r>
            <a:r>
              <a:rPr lang="en-US" sz="4000" dirty="0" err="1"/>
              <a:t>Vimal</a:t>
            </a:r>
            <a:r>
              <a:rPr lang="en-US" sz="4000" dirty="0"/>
              <a:t>","</a:t>
            </a:r>
            <a:r>
              <a:rPr lang="en-US" sz="4000" dirty="0" err="1"/>
              <a:t>Ratan</a:t>
            </a:r>
            <a:r>
              <a:rPr lang="en-US" sz="4000" dirty="0"/>
              <a:t>"];  </a:t>
            </a:r>
          </a:p>
          <a:p>
            <a:pPr marL="0" indent="0">
              <a:buNone/>
            </a:pPr>
            <a:r>
              <a:rPr lang="en-US" sz="4000" dirty="0"/>
              <a:t>for (i=0;i&lt;</a:t>
            </a:r>
            <a:r>
              <a:rPr lang="en-US" sz="4000" dirty="0" err="1"/>
              <a:t>emp.length;i</a:t>
            </a:r>
            <a:r>
              <a:rPr lang="en-US" sz="4000" dirty="0"/>
              <a:t>++){  </a:t>
            </a:r>
          </a:p>
          <a:p>
            <a:pPr marL="0" indent="0">
              <a:buNone/>
            </a:pPr>
            <a:r>
              <a:rPr lang="en-US" sz="4000" dirty="0" err="1"/>
              <a:t>document.write</a:t>
            </a:r>
            <a:r>
              <a:rPr lang="en-US" sz="4000" dirty="0"/>
              <a:t>(</a:t>
            </a:r>
            <a:r>
              <a:rPr lang="en-US" sz="4000" dirty="0" err="1"/>
              <a:t>emp</a:t>
            </a:r>
            <a:r>
              <a:rPr lang="en-US" sz="4000" dirty="0"/>
              <a:t>[i] + "&lt;</a:t>
            </a:r>
            <a:r>
              <a:rPr lang="en-US" sz="4000" dirty="0" err="1"/>
              <a:t>br</a:t>
            </a:r>
            <a:r>
              <a:rPr lang="en-US" sz="4000" dirty="0"/>
              <a:t>/&gt;");  </a:t>
            </a:r>
          </a:p>
          <a:p>
            <a:pPr marL="0" indent="0">
              <a:buNone/>
            </a:pPr>
            <a:r>
              <a:rPr lang="en-US" sz="4000" dirty="0"/>
              <a:t>}  </a:t>
            </a:r>
          </a:p>
          <a:p>
            <a:pPr marL="0" indent="0">
              <a:buNone/>
            </a:pPr>
            <a:r>
              <a:rPr lang="en-US" sz="4000" dirty="0"/>
              <a:t>&lt;/script&gt;  </a:t>
            </a:r>
          </a:p>
          <a:p>
            <a:pPr marL="0" indent="0">
              <a:buNone/>
            </a:pPr>
            <a:endParaRPr lang="en-US" sz="4000" dirty="0"/>
          </a:p>
        </p:txBody>
      </p:sp>
    </p:spTree>
    <p:extLst>
      <p:ext uri="{BB962C8B-B14F-4D97-AF65-F5344CB8AC3E}">
        <p14:creationId xmlns:p14="http://schemas.microsoft.com/office/powerpoint/2010/main" val="4045195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77500" lnSpcReduction="20000"/>
          </a:bodyPr>
          <a:lstStyle/>
          <a:p>
            <a:pPr marL="0" indent="0">
              <a:buNone/>
            </a:pPr>
            <a:r>
              <a:rPr lang="en-US" sz="3600" b="1" dirty="0" smtClean="0"/>
              <a:t>2.JavaScript </a:t>
            </a:r>
            <a:r>
              <a:rPr lang="en-US" sz="3600" b="1" dirty="0"/>
              <a:t>Array directly (new keyword)</a:t>
            </a:r>
          </a:p>
          <a:p>
            <a:pPr marL="0" indent="0">
              <a:buNone/>
            </a:pPr>
            <a:r>
              <a:rPr lang="en-US" sz="3600" dirty="0" smtClean="0"/>
              <a:t>Syntax is given below:</a:t>
            </a:r>
            <a:endParaRPr lang="en-US" sz="3600" dirty="0"/>
          </a:p>
          <a:p>
            <a:pPr marL="0" indent="0">
              <a:buNone/>
            </a:pPr>
            <a:r>
              <a:rPr lang="en-US" sz="3600" dirty="0" err="1"/>
              <a:t>var</a:t>
            </a:r>
            <a:r>
              <a:rPr lang="en-US" sz="3600" dirty="0"/>
              <a:t> </a:t>
            </a:r>
            <a:r>
              <a:rPr lang="en-US" sz="3600" dirty="0" err="1" smtClean="0"/>
              <a:t>arrayname</a:t>
            </a:r>
            <a:r>
              <a:rPr lang="en-US" sz="3600" dirty="0" smtClean="0"/>
              <a:t>=new</a:t>
            </a:r>
            <a:r>
              <a:rPr lang="en-US" sz="3600" dirty="0"/>
              <a:t> Array();  </a:t>
            </a:r>
            <a:endParaRPr lang="en-US" sz="3600" dirty="0" smtClean="0"/>
          </a:p>
          <a:p>
            <a:pPr marL="0" indent="0">
              <a:buNone/>
            </a:pPr>
            <a:r>
              <a:rPr lang="en-US" sz="3600" b="1" dirty="0" smtClean="0"/>
              <a:t>Example:-</a:t>
            </a:r>
          </a:p>
          <a:p>
            <a:pPr marL="0" indent="0">
              <a:buNone/>
            </a:pPr>
            <a:r>
              <a:rPr lang="en-US" sz="3600" dirty="0" smtClean="0"/>
              <a:t>&lt;</a:t>
            </a:r>
            <a:r>
              <a:rPr lang="en-US" sz="3600" dirty="0"/>
              <a:t>script&gt;  </a:t>
            </a:r>
          </a:p>
          <a:p>
            <a:pPr marL="0" indent="0">
              <a:buNone/>
            </a:pPr>
            <a:r>
              <a:rPr lang="en-US" sz="3600" dirty="0" err="1"/>
              <a:t>var</a:t>
            </a:r>
            <a:r>
              <a:rPr lang="en-US" sz="3600" dirty="0"/>
              <a:t> i;  </a:t>
            </a:r>
          </a:p>
          <a:p>
            <a:pPr marL="0" indent="0">
              <a:buNone/>
            </a:pPr>
            <a:r>
              <a:rPr lang="en-US" sz="3600" dirty="0" err="1"/>
              <a:t>var</a:t>
            </a:r>
            <a:r>
              <a:rPr lang="en-US" sz="3600" dirty="0"/>
              <a:t> </a:t>
            </a:r>
            <a:r>
              <a:rPr lang="en-US" sz="3600" dirty="0" err="1"/>
              <a:t>emp</a:t>
            </a:r>
            <a:r>
              <a:rPr lang="en-US" sz="3600" dirty="0"/>
              <a:t> = new Array();  </a:t>
            </a:r>
          </a:p>
          <a:p>
            <a:pPr marL="0" indent="0">
              <a:buNone/>
            </a:pPr>
            <a:r>
              <a:rPr lang="en-US" sz="3600" dirty="0" err="1"/>
              <a:t>emp</a:t>
            </a:r>
            <a:r>
              <a:rPr lang="en-US" sz="3600" dirty="0"/>
              <a:t>[0] = "</a:t>
            </a:r>
            <a:r>
              <a:rPr lang="en-US" sz="3600" dirty="0" err="1"/>
              <a:t>Arun</a:t>
            </a:r>
            <a:r>
              <a:rPr lang="en-US" sz="3600" dirty="0"/>
              <a:t>";  </a:t>
            </a:r>
          </a:p>
          <a:p>
            <a:pPr marL="0" indent="0">
              <a:buNone/>
            </a:pPr>
            <a:r>
              <a:rPr lang="en-US" sz="3600" dirty="0" err="1"/>
              <a:t>emp</a:t>
            </a:r>
            <a:r>
              <a:rPr lang="en-US" sz="3600" dirty="0"/>
              <a:t>[1] = "</a:t>
            </a:r>
            <a:r>
              <a:rPr lang="en-US" sz="3600" dirty="0" err="1"/>
              <a:t>Varun</a:t>
            </a:r>
            <a:r>
              <a:rPr lang="en-US" sz="3600" dirty="0"/>
              <a:t>";  </a:t>
            </a:r>
          </a:p>
          <a:p>
            <a:pPr marL="0" indent="0">
              <a:buNone/>
            </a:pPr>
            <a:r>
              <a:rPr lang="en-US" sz="3600" dirty="0" err="1"/>
              <a:t>emp</a:t>
            </a:r>
            <a:r>
              <a:rPr lang="en-US" sz="3600" dirty="0"/>
              <a:t>[2] = "John";  </a:t>
            </a:r>
          </a:p>
          <a:p>
            <a:pPr marL="0" indent="0">
              <a:buNone/>
            </a:pPr>
            <a:r>
              <a:rPr lang="en-US" sz="3600" dirty="0"/>
              <a:t>for (i=0;i&lt;</a:t>
            </a:r>
            <a:r>
              <a:rPr lang="en-US" sz="3600" dirty="0" err="1"/>
              <a:t>emp.length;i</a:t>
            </a:r>
            <a:r>
              <a:rPr lang="en-US" sz="3600" dirty="0"/>
              <a:t>++){  </a:t>
            </a:r>
          </a:p>
          <a:p>
            <a:pPr marL="0" indent="0">
              <a:buNone/>
            </a:pPr>
            <a:r>
              <a:rPr lang="en-US" sz="3600" dirty="0" err="1"/>
              <a:t>document.write</a:t>
            </a:r>
            <a:r>
              <a:rPr lang="en-US" sz="3600" dirty="0"/>
              <a:t>(</a:t>
            </a:r>
            <a:r>
              <a:rPr lang="en-US" sz="3600" dirty="0" err="1"/>
              <a:t>emp</a:t>
            </a:r>
            <a:r>
              <a:rPr lang="en-US" sz="3600" dirty="0"/>
              <a:t>[i] + "&lt;</a:t>
            </a:r>
            <a:r>
              <a:rPr lang="en-US" sz="3600" dirty="0" err="1"/>
              <a:t>br</a:t>
            </a:r>
            <a:r>
              <a:rPr lang="en-US" sz="3600" dirty="0"/>
              <a:t>&gt;");  </a:t>
            </a:r>
          </a:p>
          <a:p>
            <a:pPr marL="0" indent="0">
              <a:buNone/>
            </a:pPr>
            <a:r>
              <a:rPr lang="en-US" sz="3600" dirty="0"/>
              <a:t>}  </a:t>
            </a:r>
          </a:p>
          <a:p>
            <a:pPr marL="0" indent="0">
              <a:buNone/>
            </a:pPr>
            <a:r>
              <a:rPr lang="en-US" sz="3600" dirty="0"/>
              <a:t>&lt;/script&gt;  </a:t>
            </a:r>
          </a:p>
          <a:p>
            <a:pPr marL="0" indent="0">
              <a:buNone/>
            </a:pPr>
            <a:endParaRPr lang="en-US" sz="3600" dirty="0"/>
          </a:p>
        </p:txBody>
      </p:sp>
    </p:spTree>
    <p:extLst>
      <p:ext uri="{BB962C8B-B14F-4D97-AF65-F5344CB8AC3E}">
        <p14:creationId xmlns:p14="http://schemas.microsoft.com/office/powerpoint/2010/main" val="1594345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629400"/>
          </a:xfrm>
        </p:spPr>
        <p:txBody>
          <a:bodyPr>
            <a:normAutofit fontScale="92500" lnSpcReduction="20000"/>
          </a:bodyPr>
          <a:lstStyle/>
          <a:p>
            <a:pPr marL="0" indent="0">
              <a:buNone/>
            </a:pPr>
            <a:r>
              <a:rPr lang="en-US" sz="3600" dirty="0" smtClean="0"/>
              <a:t>3. </a:t>
            </a:r>
            <a:r>
              <a:rPr lang="en-US" sz="3600" b="1" dirty="0" smtClean="0"/>
              <a:t>JavaScript </a:t>
            </a:r>
            <a:r>
              <a:rPr lang="en-US" sz="3600" b="1" dirty="0"/>
              <a:t>array constructor (new keyword)</a:t>
            </a:r>
          </a:p>
          <a:p>
            <a:r>
              <a:rPr lang="en-US" sz="3600" dirty="0"/>
              <a:t>Here, </a:t>
            </a:r>
            <a:r>
              <a:rPr lang="en-US" sz="3600" dirty="0" smtClean="0"/>
              <a:t>we </a:t>
            </a:r>
            <a:r>
              <a:rPr lang="en-US" sz="3600" dirty="0"/>
              <a:t>need to create instance of array by passing arguments in constructor so that we don't have to provide value explicitly.</a:t>
            </a:r>
          </a:p>
          <a:p>
            <a:r>
              <a:rPr lang="en-US" sz="3600" dirty="0"/>
              <a:t>The example of creating object by array constructor is given below.</a:t>
            </a:r>
          </a:p>
          <a:p>
            <a:pPr marL="0" indent="0">
              <a:buNone/>
            </a:pPr>
            <a:endParaRPr lang="en-US" sz="3600" dirty="0" smtClean="0"/>
          </a:p>
          <a:p>
            <a:pPr marL="0" indent="0">
              <a:buNone/>
            </a:pPr>
            <a:r>
              <a:rPr lang="en-US" sz="3600" dirty="0" smtClean="0"/>
              <a:t>&lt;</a:t>
            </a:r>
            <a:r>
              <a:rPr lang="en-US" sz="3600" dirty="0"/>
              <a:t>script&gt;  </a:t>
            </a:r>
          </a:p>
          <a:p>
            <a:pPr marL="0" indent="0">
              <a:buNone/>
            </a:pPr>
            <a:r>
              <a:rPr lang="en-US" sz="3600" dirty="0" err="1"/>
              <a:t>var</a:t>
            </a:r>
            <a:r>
              <a:rPr lang="en-US" sz="3600" dirty="0"/>
              <a:t> </a:t>
            </a:r>
            <a:r>
              <a:rPr lang="en-US" sz="3600" dirty="0" err="1"/>
              <a:t>emp</a:t>
            </a:r>
            <a:r>
              <a:rPr lang="en-US" sz="3600" dirty="0"/>
              <a:t>=new Array("</a:t>
            </a:r>
            <a:r>
              <a:rPr lang="en-US" sz="3600" dirty="0" err="1"/>
              <a:t>Jai","Vijay","Smith</a:t>
            </a:r>
            <a:r>
              <a:rPr lang="en-US" sz="3600" dirty="0"/>
              <a:t>");  </a:t>
            </a:r>
          </a:p>
          <a:p>
            <a:pPr marL="0" indent="0">
              <a:buNone/>
            </a:pPr>
            <a:r>
              <a:rPr lang="en-US" sz="3600" dirty="0"/>
              <a:t>for (i=0;i&lt;</a:t>
            </a:r>
            <a:r>
              <a:rPr lang="en-US" sz="3600" dirty="0" err="1"/>
              <a:t>emp.length;i</a:t>
            </a:r>
            <a:r>
              <a:rPr lang="en-US" sz="3600" dirty="0"/>
              <a:t>++){  </a:t>
            </a:r>
          </a:p>
          <a:p>
            <a:pPr marL="0" indent="0">
              <a:buNone/>
            </a:pPr>
            <a:r>
              <a:rPr lang="en-US" sz="3600" dirty="0" err="1"/>
              <a:t>document.write</a:t>
            </a:r>
            <a:r>
              <a:rPr lang="en-US" sz="3600" dirty="0"/>
              <a:t>(</a:t>
            </a:r>
            <a:r>
              <a:rPr lang="en-US" sz="3600" dirty="0" err="1"/>
              <a:t>emp</a:t>
            </a:r>
            <a:r>
              <a:rPr lang="en-US" sz="3600" dirty="0"/>
              <a:t>[i] + "&lt;</a:t>
            </a:r>
            <a:r>
              <a:rPr lang="en-US" sz="3600" dirty="0" err="1"/>
              <a:t>br</a:t>
            </a:r>
            <a:r>
              <a:rPr lang="en-US" sz="3600" dirty="0"/>
              <a:t>&gt;");  </a:t>
            </a:r>
          </a:p>
          <a:p>
            <a:pPr marL="0" indent="0">
              <a:buNone/>
            </a:pPr>
            <a:r>
              <a:rPr lang="en-US" sz="3600" dirty="0"/>
              <a:t>}  </a:t>
            </a:r>
          </a:p>
          <a:p>
            <a:pPr marL="0" indent="0">
              <a:buNone/>
            </a:pPr>
            <a:r>
              <a:rPr lang="en-US" sz="3600" dirty="0"/>
              <a:t>&lt;/script&gt;  </a:t>
            </a:r>
          </a:p>
          <a:p>
            <a:pPr marL="0" indent="0">
              <a:buNone/>
            </a:pPr>
            <a:endParaRPr lang="en-US" sz="3600" dirty="0"/>
          </a:p>
        </p:txBody>
      </p:sp>
    </p:spTree>
    <p:extLst>
      <p:ext uri="{BB962C8B-B14F-4D97-AF65-F5344CB8AC3E}">
        <p14:creationId xmlns:p14="http://schemas.microsoft.com/office/powerpoint/2010/main" val="3560325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a:bodyPr>
          <a:lstStyle/>
          <a:p>
            <a:pPr marL="0" indent="0">
              <a:buNone/>
            </a:pPr>
            <a:r>
              <a:rPr lang="en-US" sz="3600" b="1" u="sng" dirty="0" smtClean="0"/>
              <a:t>forEach () in JavaScript or forEach loop</a:t>
            </a:r>
          </a:p>
          <a:p>
            <a:r>
              <a:rPr lang="en-US" sz="3600" dirty="0"/>
              <a:t>Loops through a block of code for each element in an array.</a:t>
            </a:r>
          </a:p>
          <a:p>
            <a:r>
              <a:rPr lang="en-US" sz="3600" dirty="0"/>
              <a:t>The </a:t>
            </a:r>
            <a:r>
              <a:rPr lang="en-US" sz="3600" dirty="0" err="1"/>
              <a:t>foreach</a:t>
            </a:r>
            <a:r>
              <a:rPr lang="en-US" sz="3600" dirty="0"/>
              <a:t> loop works only on arrays, and is used to loop through each key/value pair in an array.</a:t>
            </a:r>
          </a:p>
          <a:p>
            <a:pPr marL="0" indent="0">
              <a:buNone/>
            </a:pPr>
            <a:r>
              <a:rPr lang="en-US" sz="3600" b="1" u="sng" dirty="0" smtClean="0"/>
              <a:t>Syntax:</a:t>
            </a:r>
          </a:p>
          <a:p>
            <a:pPr marL="0" indent="0">
              <a:buNone/>
            </a:pPr>
            <a:r>
              <a:rPr lang="en-US" sz="3600" dirty="0" err="1" smtClean="0"/>
              <a:t>arrayname.forEach</a:t>
            </a:r>
            <a:r>
              <a:rPr lang="en-US" sz="3600" dirty="0" smtClean="0"/>
              <a:t>(callback(</a:t>
            </a:r>
            <a:r>
              <a:rPr lang="en-US" sz="3600" dirty="0" err="1" smtClean="0"/>
              <a:t>currentvalue</a:t>
            </a:r>
            <a:r>
              <a:rPr lang="en-US" sz="3600" dirty="0" smtClean="0"/>
              <a:t>){</a:t>
            </a:r>
          </a:p>
          <a:p>
            <a:pPr marL="0" indent="0">
              <a:buNone/>
            </a:pPr>
            <a:r>
              <a:rPr lang="en-US" sz="3600" dirty="0" smtClean="0"/>
              <a:t>//statements;</a:t>
            </a:r>
          </a:p>
          <a:p>
            <a:pPr marL="0" indent="0">
              <a:buNone/>
            </a:pPr>
            <a:r>
              <a:rPr lang="en-US" sz="3600" dirty="0" smtClean="0"/>
              <a:t>})</a:t>
            </a:r>
          </a:p>
        </p:txBody>
      </p:sp>
    </p:spTree>
    <p:extLst>
      <p:ext uri="{BB962C8B-B14F-4D97-AF65-F5344CB8AC3E}">
        <p14:creationId xmlns:p14="http://schemas.microsoft.com/office/powerpoint/2010/main" val="3065310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lnSpcReduction="10000"/>
          </a:bodyPr>
          <a:lstStyle/>
          <a:p>
            <a:pPr marL="0" indent="0">
              <a:buNone/>
            </a:pPr>
            <a:r>
              <a:rPr lang="en-US" sz="3600" b="1" u="sng" dirty="0"/>
              <a:t>Example:</a:t>
            </a:r>
          </a:p>
          <a:p>
            <a:pPr marL="0" indent="0">
              <a:buNone/>
            </a:pPr>
            <a:r>
              <a:rPr lang="en-US" sz="3600" dirty="0"/>
              <a:t>&lt;script type="text/</a:t>
            </a:r>
            <a:r>
              <a:rPr lang="en-US" sz="3600" dirty="0" err="1"/>
              <a:t>javascript</a:t>
            </a:r>
            <a:r>
              <a:rPr lang="en-US" sz="3600" dirty="0"/>
              <a:t>"&gt;</a:t>
            </a:r>
          </a:p>
          <a:p>
            <a:pPr marL="0" indent="0">
              <a:buNone/>
            </a:pPr>
            <a:r>
              <a:rPr lang="en-US" sz="3600" dirty="0"/>
              <a:t>		</a:t>
            </a:r>
            <a:r>
              <a:rPr lang="en-US" sz="3600" dirty="0" err="1"/>
              <a:t>const</a:t>
            </a:r>
            <a:r>
              <a:rPr lang="en-US" sz="3600" dirty="0"/>
              <a:t> </a:t>
            </a:r>
            <a:r>
              <a:rPr lang="en-US" sz="3600" dirty="0" err="1"/>
              <a:t>arry</a:t>
            </a:r>
            <a:r>
              <a:rPr lang="en-US" sz="3600" dirty="0"/>
              <a:t>=['</a:t>
            </a:r>
            <a:r>
              <a:rPr lang="en-US" sz="3600" dirty="0" err="1"/>
              <a:t>Javascript</a:t>
            </a:r>
            <a:r>
              <a:rPr lang="en-US" sz="3600" dirty="0"/>
              <a:t>','</a:t>
            </a:r>
            <a:r>
              <a:rPr lang="en-US" sz="3600" dirty="0" err="1"/>
              <a:t>PHP','.Net','DBMS','Python','java</a:t>
            </a:r>
            <a:r>
              <a:rPr lang="en-US" sz="3600" dirty="0"/>
              <a:t>'];</a:t>
            </a:r>
          </a:p>
          <a:p>
            <a:pPr marL="0" indent="0">
              <a:buNone/>
            </a:pPr>
            <a:r>
              <a:rPr lang="en-US" sz="3600" dirty="0"/>
              <a:t>		</a:t>
            </a:r>
            <a:r>
              <a:rPr lang="en-US" sz="3600" dirty="0" err="1"/>
              <a:t>arry.forEach</a:t>
            </a:r>
            <a:r>
              <a:rPr lang="en-US" sz="3600" dirty="0"/>
              <a:t>(function(x)</a:t>
            </a:r>
          </a:p>
          <a:p>
            <a:pPr marL="0" indent="0">
              <a:buNone/>
            </a:pPr>
            <a:r>
              <a:rPr lang="en-US" sz="3600" dirty="0"/>
              <a:t>		{</a:t>
            </a:r>
          </a:p>
          <a:p>
            <a:pPr marL="0" indent="0">
              <a:buNone/>
            </a:pPr>
            <a:r>
              <a:rPr lang="en-US" sz="3600" dirty="0"/>
              <a:t>			</a:t>
            </a:r>
            <a:r>
              <a:rPr lang="en-US" sz="3600" dirty="0" err="1"/>
              <a:t>document.write</a:t>
            </a:r>
            <a:r>
              <a:rPr lang="en-US" sz="3600" dirty="0"/>
              <a:t>(x+"&lt;</a:t>
            </a:r>
            <a:r>
              <a:rPr lang="en-US" sz="3600" dirty="0" err="1"/>
              <a:t>br</a:t>
            </a:r>
            <a:r>
              <a:rPr lang="en-US" sz="3600" dirty="0"/>
              <a:t>&gt;");</a:t>
            </a:r>
          </a:p>
          <a:p>
            <a:pPr marL="0" indent="0">
              <a:buNone/>
            </a:pPr>
            <a:r>
              <a:rPr lang="en-US" sz="3600" dirty="0"/>
              <a:t>		})</a:t>
            </a:r>
          </a:p>
          <a:p>
            <a:pPr marL="0" indent="0">
              <a:buNone/>
            </a:pPr>
            <a:r>
              <a:rPr lang="en-US" sz="3600" dirty="0"/>
              <a:t>	&lt;/script&gt;</a:t>
            </a:r>
          </a:p>
          <a:p>
            <a:pPr marL="0" indent="0">
              <a:buNone/>
            </a:pPr>
            <a:endParaRPr lang="en-US" sz="3600" dirty="0" smtClean="0"/>
          </a:p>
        </p:txBody>
      </p:sp>
    </p:spTree>
    <p:extLst>
      <p:ext uri="{BB962C8B-B14F-4D97-AF65-F5344CB8AC3E}">
        <p14:creationId xmlns:p14="http://schemas.microsoft.com/office/powerpoint/2010/main" val="2600652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62500" lnSpcReduction="20000"/>
          </a:bodyPr>
          <a:lstStyle/>
          <a:p>
            <a:pPr marL="0" indent="0">
              <a:buNone/>
            </a:pPr>
            <a:r>
              <a:rPr lang="en-US" sz="3600" dirty="0" smtClean="0"/>
              <a:t>Q.N: 1. WAP in JavaScript to input 10 student's obtained marks in a subject and  display the total and average marks of them by using </a:t>
            </a:r>
            <a:r>
              <a:rPr lang="en-US" sz="3600" dirty="0" err="1" smtClean="0"/>
              <a:t>foreach</a:t>
            </a:r>
            <a:r>
              <a:rPr lang="en-US" sz="3600" dirty="0" smtClean="0"/>
              <a:t> loop. </a:t>
            </a:r>
          </a:p>
          <a:p>
            <a:pPr marL="0" indent="0">
              <a:buNone/>
            </a:pPr>
            <a:r>
              <a:rPr lang="en-US" sz="3600" dirty="0" err="1" smtClean="0"/>
              <a:t>Ans</a:t>
            </a:r>
            <a:r>
              <a:rPr lang="en-US" sz="3600" dirty="0" smtClean="0"/>
              <a:t>:-</a:t>
            </a:r>
          </a:p>
          <a:p>
            <a:pPr marL="0" indent="0">
              <a:buNone/>
            </a:pPr>
            <a:r>
              <a:rPr lang="en-US" sz="3600" dirty="0"/>
              <a:t>&lt;script type="text/</a:t>
            </a:r>
            <a:r>
              <a:rPr lang="en-US" sz="3600" dirty="0" err="1"/>
              <a:t>javascript</a:t>
            </a:r>
            <a:r>
              <a:rPr lang="en-US" sz="3600" dirty="0"/>
              <a:t>"&gt;</a:t>
            </a:r>
          </a:p>
          <a:p>
            <a:pPr marL="0" indent="0">
              <a:buNone/>
            </a:pPr>
            <a:endParaRPr lang="en-US" sz="3600" dirty="0"/>
          </a:p>
          <a:p>
            <a:pPr marL="0" indent="0">
              <a:buNone/>
            </a:pPr>
            <a:r>
              <a:rPr lang="en-US" sz="3600" dirty="0"/>
              <a:t>		</a:t>
            </a:r>
            <a:r>
              <a:rPr lang="en-US" sz="3600" dirty="0" err="1"/>
              <a:t>const</a:t>
            </a:r>
            <a:r>
              <a:rPr lang="en-US" sz="3600" dirty="0"/>
              <a:t> </a:t>
            </a:r>
            <a:r>
              <a:rPr lang="en-US" sz="3600" dirty="0" err="1"/>
              <a:t>arry</a:t>
            </a:r>
            <a:r>
              <a:rPr lang="en-US" sz="3600" dirty="0"/>
              <a:t>=[</a:t>
            </a:r>
            <a:r>
              <a:rPr lang="en-US" sz="3600" dirty="0" smtClean="0"/>
              <a:t>50,67,45,43,21,34,34,54,32,43];</a:t>
            </a:r>
            <a:endParaRPr lang="en-US" sz="3600" dirty="0"/>
          </a:p>
          <a:p>
            <a:pPr marL="0" indent="0">
              <a:buNone/>
            </a:pPr>
            <a:r>
              <a:rPr lang="en-US" sz="3600" dirty="0"/>
              <a:t>		</a:t>
            </a:r>
            <a:r>
              <a:rPr lang="en-US" sz="3600" dirty="0" err="1"/>
              <a:t>var</a:t>
            </a:r>
            <a:r>
              <a:rPr lang="en-US" sz="3600" dirty="0"/>
              <a:t> total=0;</a:t>
            </a:r>
          </a:p>
          <a:p>
            <a:pPr marL="0" indent="0">
              <a:buNone/>
            </a:pPr>
            <a:r>
              <a:rPr lang="en-US" sz="3600" dirty="0"/>
              <a:t>		</a:t>
            </a:r>
            <a:r>
              <a:rPr lang="en-US" sz="3600" dirty="0" err="1"/>
              <a:t>var</a:t>
            </a:r>
            <a:r>
              <a:rPr lang="en-US" sz="3600" dirty="0"/>
              <a:t> average=0;</a:t>
            </a:r>
          </a:p>
          <a:p>
            <a:pPr marL="0" indent="0">
              <a:buNone/>
            </a:pPr>
            <a:r>
              <a:rPr lang="en-US" sz="3600" dirty="0"/>
              <a:t>		</a:t>
            </a:r>
            <a:r>
              <a:rPr lang="en-US" sz="3600" dirty="0" err="1"/>
              <a:t>arry.forEach</a:t>
            </a:r>
            <a:r>
              <a:rPr lang="en-US" sz="3600" dirty="0"/>
              <a:t>(function(x)</a:t>
            </a:r>
          </a:p>
          <a:p>
            <a:pPr marL="0" indent="0">
              <a:buNone/>
            </a:pPr>
            <a:r>
              <a:rPr lang="en-US" sz="3600" dirty="0"/>
              <a:t>		{</a:t>
            </a:r>
          </a:p>
          <a:p>
            <a:pPr marL="0" indent="0">
              <a:buNone/>
            </a:pPr>
            <a:r>
              <a:rPr lang="en-US" sz="3600" dirty="0"/>
              <a:t>			total=</a:t>
            </a:r>
            <a:r>
              <a:rPr lang="en-US" sz="3600" dirty="0" err="1"/>
              <a:t>total+x</a:t>
            </a:r>
            <a:r>
              <a:rPr lang="en-US" sz="3600" dirty="0"/>
              <a:t>;</a:t>
            </a:r>
          </a:p>
          <a:p>
            <a:pPr marL="0" indent="0">
              <a:buNone/>
            </a:pPr>
            <a:r>
              <a:rPr lang="en-US" sz="3600" dirty="0"/>
              <a:t>		})</a:t>
            </a:r>
          </a:p>
          <a:p>
            <a:pPr marL="0" indent="0">
              <a:buNone/>
            </a:pPr>
            <a:r>
              <a:rPr lang="en-US" sz="3600" dirty="0"/>
              <a:t>		average=total/</a:t>
            </a:r>
            <a:r>
              <a:rPr lang="en-US" sz="3600" dirty="0" err="1"/>
              <a:t>arry.length</a:t>
            </a:r>
            <a:r>
              <a:rPr lang="en-US" sz="3600" dirty="0"/>
              <a:t>;</a:t>
            </a:r>
          </a:p>
          <a:p>
            <a:pPr marL="0" indent="0">
              <a:buNone/>
            </a:pPr>
            <a:r>
              <a:rPr lang="en-US" sz="3600" dirty="0"/>
              <a:t>			</a:t>
            </a:r>
            <a:r>
              <a:rPr lang="en-US" sz="3600" dirty="0" err="1"/>
              <a:t>document.write</a:t>
            </a:r>
            <a:r>
              <a:rPr lang="en-US" sz="3600" dirty="0"/>
              <a:t>(total+"&lt;</a:t>
            </a:r>
            <a:r>
              <a:rPr lang="en-US" sz="3600" dirty="0" err="1"/>
              <a:t>br</a:t>
            </a:r>
            <a:r>
              <a:rPr lang="en-US" sz="3600" dirty="0"/>
              <a:t>&gt;"+average);</a:t>
            </a:r>
          </a:p>
          <a:p>
            <a:pPr marL="0" indent="0">
              <a:buNone/>
            </a:pPr>
            <a:r>
              <a:rPr lang="en-US" sz="3600" dirty="0"/>
              <a:t>		</a:t>
            </a:r>
          </a:p>
          <a:p>
            <a:pPr marL="0" indent="0">
              <a:buNone/>
            </a:pPr>
            <a:r>
              <a:rPr lang="en-US" sz="3600" dirty="0"/>
              <a:t>	&lt;/script</a:t>
            </a:r>
            <a:r>
              <a:rPr lang="en-US" sz="3600" dirty="0" smtClean="0"/>
              <a:t>&gt;</a:t>
            </a:r>
          </a:p>
          <a:p>
            <a:pPr marL="0" indent="0">
              <a:buNone/>
            </a:pPr>
            <a:endParaRPr lang="en-US" sz="3600" dirty="0" smtClean="0"/>
          </a:p>
        </p:txBody>
      </p:sp>
    </p:spTree>
    <p:extLst>
      <p:ext uri="{BB962C8B-B14F-4D97-AF65-F5344CB8AC3E}">
        <p14:creationId xmlns:p14="http://schemas.microsoft.com/office/powerpoint/2010/main" val="2479511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a:bodyPr>
          <a:lstStyle/>
          <a:p>
            <a:pPr marL="0" indent="0" algn="ctr">
              <a:buNone/>
            </a:pPr>
            <a:r>
              <a:rPr lang="en-US" sz="3600" b="1" u="sng" dirty="0" smtClean="0">
                <a:solidFill>
                  <a:srgbClr val="FF0000"/>
                </a:solidFill>
              </a:rPr>
              <a:t>Array Methods in JavaScript</a:t>
            </a:r>
          </a:p>
          <a:p>
            <a:pPr marL="0" indent="0">
              <a:buNone/>
            </a:pPr>
            <a:r>
              <a:rPr lang="en-US" sz="3600" dirty="0" smtClean="0"/>
              <a:t> </a:t>
            </a:r>
          </a:p>
          <a:p>
            <a:pPr marL="742950" indent="-742950">
              <a:buAutoNum type="arabicPeriod"/>
            </a:pPr>
            <a:endParaRPr lang="en-US" sz="3600" dirty="0" smtClean="0"/>
          </a:p>
        </p:txBody>
      </p:sp>
      <p:graphicFrame>
        <p:nvGraphicFramePr>
          <p:cNvPr id="2" name="Table 1"/>
          <p:cNvGraphicFramePr>
            <a:graphicFrameLocks noGrp="1"/>
          </p:cNvGraphicFramePr>
          <p:nvPr>
            <p:extLst>
              <p:ext uri="{D42A27DB-BD31-4B8C-83A1-F6EECF244321}">
                <p14:modId xmlns:p14="http://schemas.microsoft.com/office/powerpoint/2010/main" val="2281957386"/>
              </p:ext>
            </p:extLst>
          </p:nvPr>
        </p:nvGraphicFramePr>
        <p:xfrm>
          <a:off x="457200" y="990601"/>
          <a:ext cx="8229600" cy="3124199"/>
        </p:xfrm>
        <a:graphic>
          <a:graphicData uri="http://schemas.openxmlformats.org/drawingml/2006/table">
            <a:tbl>
              <a:tblPr/>
              <a:tblGrid>
                <a:gridCol w="4114800"/>
                <a:gridCol w="4114800"/>
              </a:tblGrid>
              <a:tr h="3124199">
                <a:tc>
                  <a:txBody>
                    <a:bodyPr/>
                    <a:lstStyle/>
                    <a:p>
                      <a:pPr algn="l" fontAlgn="t"/>
                      <a:r>
                        <a:rPr lang="en-US" sz="2400" dirty="0">
                          <a:effectLst/>
                        </a:rPr>
                        <a:t>Array length</a:t>
                      </a:r>
                      <a:br>
                        <a:rPr lang="en-US" sz="2400" dirty="0">
                          <a:effectLst/>
                        </a:rPr>
                      </a:br>
                      <a:r>
                        <a:rPr lang="en-US" sz="2400" dirty="0">
                          <a:effectLst/>
                        </a:rPr>
                        <a:t>Array </a:t>
                      </a:r>
                      <a:r>
                        <a:rPr lang="en-US" sz="2400" dirty="0" err="1">
                          <a:effectLst/>
                        </a:rPr>
                        <a:t>toString</a:t>
                      </a:r>
                      <a:r>
                        <a:rPr lang="en-US" sz="2400" dirty="0">
                          <a:effectLst/>
                        </a:rPr>
                        <a:t>()</a:t>
                      </a:r>
                      <a:br>
                        <a:rPr lang="en-US" sz="2400" dirty="0">
                          <a:effectLst/>
                        </a:rPr>
                      </a:br>
                      <a:r>
                        <a:rPr lang="en-US" sz="2400" dirty="0">
                          <a:effectLst/>
                        </a:rPr>
                        <a:t>Array pop()</a:t>
                      </a:r>
                      <a:br>
                        <a:rPr lang="en-US" sz="2400" dirty="0">
                          <a:effectLst/>
                        </a:rPr>
                      </a:br>
                      <a:r>
                        <a:rPr lang="en-US" sz="2400" dirty="0">
                          <a:effectLst/>
                        </a:rPr>
                        <a:t>Array push()</a:t>
                      </a:r>
                      <a:br>
                        <a:rPr lang="en-US" sz="2400" dirty="0">
                          <a:effectLst/>
                        </a:rPr>
                      </a:br>
                      <a:r>
                        <a:rPr lang="en-US" sz="2400" dirty="0">
                          <a:effectLst/>
                        </a:rPr>
                        <a:t>Array shift()</a:t>
                      </a:r>
                      <a:br>
                        <a:rPr lang="en-US" sz="2400" dirty="0">
                          <a:effectLst/>
                        </a:rPr>
                      </a:br>
                      <a:r>
                        <a:rPr lang="en-US" sz="2400" dirty="0">
                          <a:effectLst/>
                        </a:rPr>
                        <a:t>Array </a:t>
                      </a:r>
                      <a:r>
                        <a:rPr lang="en-US" sz="2400" dirty="0" err="1">
                          <a:effectLst/>
                        </a:rPr>
                        <a:t>unshift</a:t>
                      </a:r>
                      <a:r>
                        <a:rPr lang="en-US" sz="2400" dirty="0">
                          <a:effectLst/>
                        </a:rPr>
                        <a:t>()</a:t>
                      </a:r>
                      <a:br>
                        <a:rPr lang="en-US" sz="2400" dirty="0">
                          <a:effectLst/>
                        </a:rPr>
                      </a:br>
                      <a:endParaRPr lang="en-US" sz="2400" dirty="0">
                        <a:effectLst/>
                      </a:endParaRPr>
                    </a:p>
                  </a:txBody>
                  <a:tcPr marL="145042" marR="72521" marT="72521" marB="72521">
                    <a:lnL>
                      <a:noFill/>
                    </a:lnL>
                    <a:lnR>
                      <a:noFill/>
                    </a:lnR>
                    <a:lnT>
                      <a:noFill/>
                    </a:lnT>
                    <a:lnB>
                      <a:noFill/>
                    </a:lnB>
                    <a:solidFill>
                      <a:srgbClr val="D9EEE1"/>
                    </a:solidFill>
                  </a:tcPr>
                </a:tc>
                <a:tc>
                  <a:txBody>
                    <a:bodyPr/>
                    <a:lstStyle/>
                    <a:p>
                      <a:pPr algn="l" fontAlgn="t"/>
                      <a:r>
                        <a:rPr lang="en-US" sz="2400" dirty="0">
                          <a:effectLst/>
                        </a:rPr>
                        <a:t>Array join()</a:t>
                      </a:r>
                      <a:br>
                        <a:rPr lang="en-US" sz="2400" dirty="0">
                          <a:effectLst/>
                        </a:rPr>
                      </a:br>
                      <a:r>
                        <a:rPr lang="en-US" sz="2400" dirty="0">
                          <a:effectLst/>
                        </a:rPr>
                        <a:t>Array delete()</a:t>
                      </a:r>
                      <a:br>
                        <a:rPr lang="en-US" sz="2400" dirty="0">
                          <a:effectLst/>
                        </a:rPr>
                      </a:br>
                      <a:r>
                        <a:rPr lang="en-US" sz="2400" dirty="0">
                          <a:effectLst/>
                        </a:rPr>
                        <a:t>Array </a:t>
                      </a:r>
                      <a:r>
                        <a:rPr lang="en-US" sz="2400" dirty="0" err="1">
                          <a:effectLst/>
                        </a:rPr>
                        <a:t>concat</a:t>
                      </a:r>
                      <a:r>
                        <a:rPr lang="en-US" sz="2400" dirty="0">
                          <a:effectLst/>
                        </a:rPr>
                        <a:t>()</a:t>
                      </a:r>
                      <a:br>
                        <a:rPr lang="en-US" sz="2400" dirty="0">
                          <a:effectLst/>
                        </a:rPr>
                      </a:br>
                      <a:r>
                        <a:rPr lang="en-US" sz="2400" dirty="0">
                          <a:effectLst/>
                        </a:rPr>
                        <a:t>Array flat()</a:t>
                      </a:r>
                      <a:br>
                        <a:rPr lang="en-US" sz="2400" dirty="0">
                          <a:effectLst/>
                        </a:rPr>
                      </a:br>
                      <a:r>
                        <a:rPr lang="en-US" sz="2400" dirty="0">
                          <a:effectLst/>
                        </a:rPr>
                        <a:t>Array splice()</a:t>
                      </a:r>
                      <a:br>
                        <a:rPr lang="en-US" sz="2400" dirty="0">
                          <a:effectLst/>
                        </a:rPr>
                      </a:br>
                      <a:r>
                        <a:rPr lang="en-US" sz="2400" dirty="0">
                          <a:effectLst/>
                        </a:rPr>
                        <a:t>Array slice()</a:t>
                      </a:r>
                    </a:p>
                  </a:txBody>
                  <a:tcPr marL="72521" marR="72521" marT="72521" marB="72521">
                    <a:lnL>
                      <a:noFill/>
                    </a:lnL>
                    <a:lnR>
                      <a:noFill/>
                    </a:lnR>
                    <a:lnT>
                      <a:noFill/>
                    </a:lnT>
                    <a:lnB>
                      <a:noFill/>
                    </a:lnB>
                    <a:solidFill>
                      <a:srgbClr val="D9EEE1"/>
                    </a:solidFill>
                  </a:tcPr>
                </a:tc>
              </a:tr>
            </a:tbl>
          </a:graphicData>
        </a:graphic>
      </p:graphicFrame>
    </p:spTree>
    <p:extLst>
      <p:ext uri="{BB962C8B-B14F-4D97-AF65-F5344CB8AC3E}">
        <p14:creationId xmlns:p14="http://schemas.microsoft.com/office/powerpoint/2010/main" val="836965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a:bodyPr>
          <a:lstStyle/>
          <a:p>
            <a:pPr marL="0" indent="0">
              <a:buNone/>
            </a:pPr>
            <a:r>
              <a:rPr lang="en-US" sz="3600" dirty="0" smtClean="0"/>
              <a:t>Q.N.2. What is need for client side scripting? Write a JavaScript program which  accepts user’s first and last name and print them in reverse order with space between them. (2080/2023)</a:t>
            </a:r>
          </a:p>
        </p:txBody>
      </p:sp>
    </p:spTree>
    <p:extLst>
      <p:ext uri="{BB962C8B-B14F-4D97-AF65-F5344CB8AC3E}">
        <p14:creationId xmlns:p14="http://schemas.microsoft.com/office/powerpoint/2010/main" val="4880867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77500" lnSpcReduction="20000"/>
          </a:bodyPr>
          <a:lstStyle/>
          <a:p>
            <a:pPr marL="0" indent="0" algn="ctr">
              <a:buNone/>
            </a:pPr>
            <a:r>
              <a:rPr lang="en-US" sz="3600" b="1" u="sng" dirty="0" smtClean="0">
                <a:solidFill>
                  <a:srgbClr val="FF0000"/>
                </a:solidFill>
              </a:rPr>
              <a:t>JavaScript Function:-</a:t>
            </a:r>
          </a:p>
          <a:p>
            <a:r>
              <a:rPr lang="en-US" sz="3600" dirty="0"/>
              <a:t>A JavaScript function is a block of code designed to perform a particular task.</a:t>
            </a:r>
          </a:p>
          <a:p>
            <a:r>
              <a:rPr lang="en-US" sz="3600" dirty="0"/>
              <a:t>A JavaScript function is executed when "something" invokes it (calls it</a:t>
            </a:r>
            <a:r>
              <a:rPr lang="en-US" sz="3600" dirty="0" smtClean="0"/>
              <a:t>).</a:t>
            </a:r>
          </a:p>
          <a:p>
            <a:r>
              <a:rPr lang="en-US" sz="3600" dirty="0"/>
              <a:t>With functions </a:t>
            </a:r>
            <a:r>
              <a:rPr lang="en-US" sz="3600" dirty="0" smtClean="0"/>
              <a:t>we </a:t>
            </a:r>
            <a:r>
              <a:rPr lang="en-US" sz="3600" dirty="0"/>
              <a:t>can reuse code</a:t>
            </a:r>
          </a:p>
          <a:p>
            <a:r>
              <a:rPr lang="en-US" sz="3600" dirty="0" smtClean="0"/>
              <a:t>We </a:t>
            </a:r>
            <a:r>
              <a:rPr lang="en-US" sz="3600" dirty="0"/>
              <a:t>can write code that can be used many times.</a:t>
            </a:r>
          </a:p>
          <a:p>
            <a:r>
              <a:rPr lang="en-US" sz="3600" dirty="0" smtClean="0"/>
              <a:t>We </a:t>
            </a:r>
            <a:r>
              <a:rPr lang="en-US" sz="3600" dirty="0"/>
              <a:t>can use the same code with different arguments, to produce different results.</a:t>
            </a:r>
          </a:p>
          <a:p>
            <a:pPr marL="0" indent="0">
              <a:buNone/>
            </a:pPr>
            <a:r>
              <a:rPr lang="en-US" sz="3600" b="1" u="sng" dirty="0" smtClean="0"/>
              <a:t>Syntax:</a:t>
            </a:r>
          </a:p>
          <a:p>
            <a:pPr marL="0" indent="0">
              <a:buNone/>
            </a:pPr>
            <a:r>
              <a:rPr lang="en-US" sz="3600" dirty="0" smtClean="0"/>
              <a:t>function </a:t>
            </a:r>
            <a:r>
              <a:rPr lang="en-US" sz="3600" dirty="0" err="1" smtClean="0"/>
              <a:t>function_name</a:t>
            </a:r>
            <a:r>
              <a:rPr lang="en-US" sz="3600" dirty="0" smtClean="0"/>
              <a:t>(para1,para2,par3…….</a:t>
            </a:r>
            <a:r>
              <a:rPr lang="en-US" sz="3600" dirty="0" err="1" smtClean="0"/>
              <a:t>para</a:t>
            </a:r>
            <a:r>
              <a:rPr lang="en-US" sz="3600" dirty="0" smtClean="0"/>
              <a:t> N)</a:t>
            </a:r>
          </a:p>
          <a:p>
            <a:pPr marL="0" indent="0">
              <a:buNone/>
            </a:pPr>
            <a:r>
              <a:rPr lang="en-US" sz="3600" dirty="0" smtClean="0"/>
              <a:t>{</a:t>
            </a:r>
          </a:p>
          <a:p>
            <a:pPr marL="0" indent="0">
              <a:buNone/>
            </a:pPr>
            <a:r>
              <a:rPr lang="en-US" sz="3600" dirty="0" smtClean="0"/>
              <a:t>//block of code;</a:t>
            </a:r>
          </a:p>
          <a:p>
            <a:pPr marL="0" indent="0">
              <a:buNone/>
            </a:pPr>
            <a:r>
              <a:rPr lang="en-US" sz="3600" dirty="0" smtClean="0"/>
              <a:t>}</a:t>
            </a:r>
          </a:p>
          <a:p>
            <a:pPr marL="0" indent="0">
              <a:buNone/>
            </a:pPr>
            <a:r>
              <a:rPr lang="en-US" sz="3600" dirty="0" smtClean="0"/>
              <a:t>Call the function();</a:t>
            </a:r>
          </a:p>
        </p:txBody>
      </p:sp>
    </p:spTree>
    <p:extLst>
      <p:ext uri="{BB962C8B-B14F-4D97-AF65-F5344CB8AC3E}">
        <p14:creationId xmlns:p14="http://schemas.microsoft.com/office/powerpoint/2010/main" val="9153514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40000" lnSpcReduction="20000"/>
          </a:bodyPr>
          <a:lstStyle/>
          <a:p>
            <a:pPr marL="0" indent="0" algn="ctr">
              <a:buNone/>
            </a:pPr>
            <a:r>
              <a:rPr lang="en-US" sz="7000" b="1" u="sng" dirty="0" smtClean="0"/>
              <a:t>For Example:-</a:t>
            </a:r>
          </a:p>
          <a:p>
            <a:pPr marL="0" indent="0">
              <a:buNone/>
            </a:pPr>
            <a:r>
              <a:rPr lang="en-US" sz="3600" b="1" dirty="0"/>
              <a:t>&lt;!DOCTYPE html&gt;</a:t>
            </a:r>
          </a:p>
          <a:p>
            <a:pPr marL="0" indent="0">
              <a:buNone/>
            </a:pPr>
            <a:r>
              <a:rPr lang="en-US" sz="3600" b="1" dirty="0"/>
              <a:t>&lt;html&gt;</a:t>
            </a:r>
          </a:p>
          <a:p>
            <a:pPr marL="0" indent="0">
              <a:buNone/>
            </a:pPr>
            <a:r>
              <a:rPr lang="en-US" sz="3600" b="1" dirty="0"/>
              <a:t>&lt;head&gt;</a:t>
            </a:r>
          </a:p>
          <a:p>
            <a:pPr marL="0" indent="0">
              <a:buNone/>
            </a:pPr>
            <a:r>
              <a:rPr lang="en-US" sz="3600" b="1" dirty="0"/>
              <a:t>	&lt;meta charset="utf-8"&gt;</a:t>
            </a:r>
          </a:p>
          <a:p>
            <a:pPr marL="0" indent="0">
              <a:buNone/>
            </a:pPr>
            <a:r>
              <a:rPr lang="en-US" sz="3600" b="1" dirty="0"/>
              <a:t>	&lt;meta name="viewport" content="width=device-width, initial-scale=1"&gt;</a:t>
            </a:r>
          </a:p>
          <a:p>
            <a:pPr marL="0" indent="0">
              <a:buNone/>
            </a:pPr>
            <a:r>
              <a:rPr lang="en-US" sz="3600" b="1" dirty="0"/>
              <a:t>	&lt;title&gt;function&lt;/title&gt;</a:t>
            </a:r>
          </a:p>
          <a:p>
            <a:pPr marL="0" indent="0">
              <a:buNone/>
            </a:pPr>
            <a:r>
              <a:rPr lang="en-US" sz="3600" b="1" dirty="0"/>
              <a:t>&lt;/head&gt;</a:t>
            </a:r>
          </a:p>
          <a:p>
            <a:pPr marL="0" indent="0">
              <a:buNone/>
            </a:pPr>
            <a:r>
              <a:rPr lang="en-US" sz="3600" b="1" dirty="0"/>
              <a:t>&lt;body&gt;</a:t>
            </a:r>
          </a:p>
          <a:p>
            <a:pPr marL="0" indent="0">
              <a:buNone/>
            </a:pPr>
            <a:r>
              <a:rPr lang="en-US" sz="3600" b="1" dirty="0"/>
              <a:t>&lt;script type="text/</a:t>
            </a:r>
            <a:r>
              <a:rPr lang="en-US" sz="3600" b="1" dirty="0" err="1"/>
              <a:t>javascript</a:t>
            </a:r>
            <a:r>
              <a:rPr lang="en-US" sz="3600" b="1" dirty="0"/>
              <a:t>"&gt;</a:t>
            </a:r>
          </a:p>
          <a:p>
            <a:pPr marL="0" indent="0">
              <a:buNone/>
            </a:pPr>
            <a:r>
              <a:rPr lang="en-US" sz="3600" b="1" dirty="0"/>
              <a:t>	function sum()</a:t>
            </a:r>
          </a:p>
          <a:p>
            <a:pPr marL="0" indent="0">
              <a:buNone/>
            </a:pPr>
            <a:r>
              <a:rPr lang="en-US" sz="3600" b="1" dirty="0"/>
              <a:t>	{</a:t>
            </a:r>
          </a:p>
          <a:p>
            <a:pPr marL="0" indent="0">
              <a:buNone/>
            </a:pPr>
            <a:r>
              <a:rPr lang="en-US" sz="3600" b="1" dirty="0"/>
              <a:t>		 </a:t>
            </a:r>
          </a:p>
          <a:p>
            <a:pPr marL="0" indent="0">
              <a:buNone/>
            </a:pPr>
            <a:r>
              <a:rPr lang="en-US" sz="3600" b="1" dirty="0"/>
              <a:t>		 </a:t>
            </a:r>
            <a:r>
              <a:rPr lang="en-US" sz="3600" b="1" dirty="0" err="1"/>
              <a:t>var</a:t>
            </a:r>
            <a:r>
              <a:rPr lang="en-US" sz="3600" b="1" dirty="0"/>
              <a:t> a=</a:t>
            </a:r>
            <a:r>
              <a:rPr lang="en-US" sz="3600" b="1" dirty="0" err="1"/>
              <a:t>parseInt</a:t>
            </a:r>
            <a:r>
              <a:rPr lang="en-US" sz="3600" b="1" dirty="0"/>
              <a:t>(prompt("Enter a number"));</a:t>
            </a:r>
          </a:p>
          <a:p>
            <a:pPr marL="0" indent="0">
              <a:buNone/>
            </a:pPr>
            <a:r>
              <a:rPr lang="en-US" sz="3600" b="1" dirty="0"/>
              <a:t>		 </a:t>
            </a:r>
            <a:r>
              <a:rPr lang="en-US" sz="3600" b="1" dirty="0" err="1"/>
              <a:t>var</a:t>
            </a:r>
            <a:r>
              <a:rPr lang="en-US" sz="3600" b="1" dirty="0"/>
              <a:t> b=</a:t>
            </a:r>
            <a:r>
              <a:rPr lang="en-US" sz="3600" b="1" dirty="0" err="1"/>
              <a:t>parseInt</a:t>
            </a:r>
            <a:r>
              <a:rPr lang="en-US" sz="3600" b="1" dirty="0"/>
              <a:t>(prompt("Enter a number"));</a:t>
            </a:r>
          </a:p>
          <a:p>
            <a:pPr marL="0" indent="0">
              <a:buNone/>
            </a:pPr>
            <a:r>
              <a:rPr lang="en-US" sz="3600" b="1" dirty="0"/>
              <a:t>		 </a:t>
            </a:r>
            <a:r>
              <a:rPr lang="en-US" sz="3600" b="1" dirty="0" err="1"/>
              <a:t>var</a:t>
            </a:r>
            <a:r>
              <a:rPr lang="en-US" sz="3600" b="1" dirty="0"/>
              <a:t> c=</a:t>
            </a:r>
            <a:r>
              <a:rPr lang="en-US" sz="3600" b="1" dirty="0" err="1"/>
              <a:t>parseInt</a:t>
            </a:r>
            <a:r>
              <a:rPr lang="en-US" sz="3600" b="1" dirty="0"/>
              <a:t>(prompt("Enter a number"));</a:t>
            </a:r>
          </a:p>
          <a:p>
            <a:pPr marL="0" indent="0">
              <a:buNone/>
            </a:pPr>
            <a:r>
              <a:rPr lang="en-US" sz="3600" b="1" dirty="0"/>
              <a:t>		 </a:t>
            </a:r>
            <a:r>
              <a:rPr lang="en-US" sz="3600" b="1" dirty="0" err="1"/>
              <a:t>var</a:t>
            </a:r>
            <a:r>
              <a:rPr lang="en-US" sz="3600" b="1" dirty="0"/>
              <a:t> pro=a*b*c;</a:t>
            </a:r>
          </a:p>
          <a:p>
            <a:pPr marL="0" indent="0">
              <a:buNone/>
            </a:pPr>
            <a:r>
              <a:rPr lang="en-US" sz="3600" b="1" dirty="0"/>
              <a:t>		 </a:t>
            </a:r>
            <a:r>
              <a:rPr lang="en-US" sz="3600" b="1" dirty="0" err="1"/>
              <a:t>document.write</a:t>
            </a:r>
            <a:r>
              <a:rPr lang="en-US" sz="3600" b="1" dirty="0"/>
              <a:t>("the product is:"+pro+"&lt;</a:t>
            </a:r>
            <a:r>
              <a:rPr lang="en-US" sz="3600" b="1" dirty="0" err="1"/>
              <a:t>br</a:t>
            </a:r>
            <a:r>
              <a:rPr lang="en-US" sz="3600" b="1" dirty="0"/>
              <a:t>&gt;");</a:t>
            </a:r>
          </a:p>
          <a:p>
            <a:pPr marL="0" indent="0">
              <a:buNone/>
            </a:pPr>
            <a:r>
              <a:rPr lang="en-US" sz="3600" b="1" dirty="0"/>
              <a:t>		 }</a:t>
            </a:r>
          </a:p>
          <a:p>
            <a:pPr marL="0" indent="0">
              <a:buNone/>
            </a:pPr>
            <a:r>
              <a:rPr lang="en-US" sz="3600" b="1" dirty="0"/>
              <a:t>	sum();</a:t>
            </a:r>
          </a:p>
          <a:p>
            <a:pPr marL="0" indent="0">
              <a:buNone/>
            </a:pPr>
            <a:r>
              <a:rPr lang="en-US" sz="3600" b="1" dirty="0"/>
              <a:t>	sum();</a:t>
            </a:r>
          </a:p>
          <a:p>
            <a:pPr marL="0" indent="0">
              <a:buNone/>
            </a:pPr>
            <a:r>
              <a:rPr lang="en-US" sz="3600" b="1" dirty="0"/>
              <a:t>	</a:t>
            </a:r>
          </a:p>
          <a:p>
            <a:pPr marL="0" indent="0">
              <a:buNone/>
            </a:pPr>
            <a:r>
              <a:rPr lang="en-US" sz="3600" b="1" dirty="0"/>
              <a:t>	</a:t>
            </a:r>
          </a:p>
          <a:p>
            <a:pPr marL="0" indent="0">
              <a:buNone/>
            </a:pPr>
            <a:r>
              <a:rPr lang="en-US" sz="3600" b="1" dirty="0"/>
              <a:t>&lt;/script&gt;</a:t>
            </a:r>
          </a:p>
          <a:p>
            <a:pPr marL="0" indent="0">
              <a:buNone/>
            </a:pPr>
            <a:r>
              <a:rPr lang="en-US" sz="3600" b="1" dirty="0"/>
              <a:t>&lt;/body&gt;</a:t>
            </a:r>
          </a:p>
          <a:p>
            <a:pPr marL="0" indent="0">
              <a:buNone/>
            </a:pPr>
            <a:r>
              <a:rPr lang="en-US" sz="3600" b="1" dirty="0"/>
              <a:t>&lt;/html&gt;</a:t>
            </a:r>
            <a:endParaRPr lang="en-US" sz="3600" b="1" dirty="0" smtClean="0"/>
          </a:p>
        </p:txBody>
      </p:sp>
    </p:spTree>
    <p:extLst>
      <p:ext uri="{BB962C8B-B14F-4D97-AF65-F5344CB8AC3E}">
        <p14:creationId xmlns:p14="http://schemas.microsoft.com/office/powerpoint/2010/main" val="2347661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40000" lnSpcReduction="20000"/>
          </a:bodyPr>
          <a:lstStyle/>
          <a:p>
            <a:pPr marL="0" indent="0" algn="ctr">
              <a:buNone/>
            </a:pPr>
            <a:r>
              <a:rPr lang="en-US" sz="4000" b="1" u="sng" dirty="0" smtClean="0"/>
              <a:t>JavaScript Function with Parameter</a:t>
            </a:r>
          </a:p>
          <a:p>
            <a:pPr marL="0" indent="0">
              <a:buNone/>
            </a:pPr>
            <a:r>
              <a:rPr lang="en-US" sz="4000" b="1" u="sng" dirty="0" smtClean="0"/>
              <a:t>Example:</a:t>
            </a:r>
          </a:p>
          <a:p>
            <a:pPr marL="0" indent="0">
              <a:buNone/>
            </a:pPr>
            <a:r>
              <a:rPr lang="en-US" sz="4000" dirty="0"/>
              <a:t>&lt;!DOCTYPE html&gt;</a:t>
            </a:r>
          </a:p>
          <a:p>
            <a:pPr marL="0" indent="0">
              <a:buNone/>
            </a:pPr>
            <a:r>
              <a:rPr lang="en-US" sz="4000" dirty="0"/>
              <a:t>&lt;html&gt;</a:t>
            </a:r>
          </a:p>
          <a:p>
            <a:pPr marL="0" indent="0">
              <a:buNone/>
            </a:pPr>
            <a:r>
              <a:rPr lang="en-US" sz="4000" dirty="0"/>
              <a:t>&lt;head&gt;</a:t>
            </a:r>
          </a:p>
          <a:p>
            <a:pPr marL="0" indent="0">
              <a:buNone/>
            </a:pPr>
            <a:r>
              <a:rPr lang="en-US" sz="4000" dirty="0"/>
              <a:t>	&lt;meta charset="utf-8"&gt;</a:t>
            </a:r>
          </a:p>
          <a:p>
            <a:pPr marL="0" indent="0">
              <a:buNone/>
            </a:pPr>
            <a:r>
              <a:rPr lang="en-US" sz="4000" dirty="0"/>
              <a:t>	&lt;meta name="viewport" content="width=device-width, initial-scale=1"&gt;</a:t>
            </a:r>
          </a:p>
          <a:p>
            <a:pPr marL="0" indent="0">
              <a:buNone/>
            </a:pPr>
            <a:r>
              <a:rPr lang="en-US" sz="4000" dirty="0"/>
              <a:t>	&lt;title&gt;function&lt;/title&gt;</a:t>
            </a:r>
          </a:p>
          <a:p>
            <a:pPr marL="0" indent="0">
              <a:buNone/>
            </a:pPr>
            <a:r>
              <a:rPr lang="en-US" sz="4000" dirty="0"/>
              <a:t>&lt;/head&gt;</a:t>
            </a:r>
          </a:p>
          <a:p>
            <a:pPr marL="0" indent="0">
              <a:buNone/>
            </a:pPr>
            <a:r>
              <a:rPr lang="en-US" sz="4000" dirty="0"/>
              <a:t>&lt;body&gt;</a:t>
            </a:r>
          </a:p>
          <a:p>
            <a:pPr marL="0" indent="0">
              <a:buNone/>
            </a:pPr>
            <a:r>
              <a:rPr lang="en-US" sz="4000" dirty="0"/>
              <a:t>&lt;script type="text/</a:t>
            </a:r>
            <a:r>
              <a:rPr lang="en-US" sz="4000" dirty="0" err="1"/>
              <a:t>javascript</a:t>
            </a:r>
            <a:r>
              <a:rPr lang="en-US" sz="4000" dirty="0"/>
              <a:t>"&gt;</a:t>
            </a:r>
          </a:p>
          <a:p>
            <a:pPr marL="0" indent="0">
              <a:buNone/>
            </a:pPr>
            <a:r>
              <a:rPr lang="en-US" sz="4000" dirty="0"/>
              <a:t>	function sum(</a:t>
            </a:r>
            <a:r>
              <a:rPr lang="en-US" sz="4000" dirty="0" err="1"/>
              <a:t>a,b,c</a:t>
            </a:r>
            <a:r>
              <a:rPr lang="en-US" sz="4000" dirty="0"/>
              <a:t>)</a:t>
            </a:r>
          </a:p>
          <a:p>
            <a:pPr marL="0" indent="0">
              <a:buNone/>
            </a:pPr>
            <a:r>
              <a:rPr lang="en-US" sz="4000" dirty="0"/>
              <a:t>	{</a:t>
            </a:r>
          </a:p>
          <a:p>
            <a:pPr marL="0" indent="0">
              <a:buNone/>
            </a:pPr>
            <a:r>
              <a:rPr lang="en-US" sz="4000" dirty="0"/>
              <a:t>		 </a:t>
            </a:r>
            <a:r>
              <a:rPr lang="en-US" sz="4000" dirty="0" smtClean="0"/>
              <a:t> </a:t>
            </a:r>
            <a:r>
              <a:rPr lang="en-US" sz="4000" dirty="0" err="1"/>
              <a:t>var</a:t>
            </a:r>
            <a:r>
              <a:rPr lang="en-US" sz="4000" dirty="0"/>
              <a:t> pro=a*b*c;</a:t>
            </a:r>
          </a:p>
          <a:p>
            <a:pPr marL="0" indent="0">
              <a:buNone/>
            </a:pPr>
            <a:r>
              <a:rPr lang="en-US" sz="4000" dirty="0"/>
              <a:t>		 </a:t>
            </a:r>
            <a:r>
              <a:rPr lang="en-US" sz="4000" dirty="0" err="1"/>
              <a:t>document.write</a:t>
            </a:r>
            <a:r>
              <a:rPr lang="en-US" sz="4000" dirty="0"/>
              <a:t>("the product is:"+pro+"&lt;</a:t>
            </a:r>
            <a:r>
              <a:rPr lang="en-US" sz="4000" dirty="0" err="1"/>
              <a:t>br</a:t>
            </a:r>
            <a:r>
              <a:rPr lang="en-US" sz="4000" dirty="0"/>
              <a:t>&gt;");</a:t>
            </a:r>
          </a:p>
          <a:p>
            <a:pPr marL="0" indent="0">
              <a:buNone/>
            </a:pPr>
            <a:r>
              <a:rPr lang="en-US" sz="4000" dirty="0"/>
              <a:t>		 }</a:t>
            </a:r>
          </a:p>
          <a:p>
            <a:pPr marL="0" indent="0">
              <a:buNone/>
            </a:pPr>
            <a:r>
              <a:rPr lang="en-US" sz="4000" dirty="0"/>
              <a:t>	sum(8,9,6);</a:t>
            </a:r>
          </a:p>
          <a:p>
            <a:pPr marL="0" indent="0">
              <a:buNone/>
            </a:pPr>
            <a:r>
              <a:rPr lang="en-US" sz="4000" dirty="0"/>
              <a:t>	sum(9,6,5);</a:t>
            </a:r>
          </a:p>
          <a:p>
            <a:pPr marL="0" indent="0">
              <a:buNone/>
            </a:pPr>
            <a:r>
              <a:rPr lang="en-US" sz="4000" dirty="0"/>
              <a:t>	</a:t>
            </a:r>
          </a:p>
          <a:p>
            <a:pPr marL="0" indent="0">
              <a:buNone/>
            </a:pPr>
            <a:r>
              <a:rPr lang="en-US" sz="4000" dirty="0"/>
              <a:t>	</a:t>
            </a:r>
          </a:p>
          <a:p>
            <a:pPr marL="0" indent="0">
              <a:buNone/>
            </a:pPr>
            <a:r>
              <a:rPr lang="en-US" sz="4000" dirty="0"/>
              <a:t>&lt;/script&gt;</a:t>
            </a:r>
          </a:p>
          <a:p>
            <a:pPr marL="0" indent="0">
              <a:buNone/>
            </a:pPr>
            <a:r>
              <a:rPr lang="en-US" sz="4000" dirty="0"/>
              <a:t>&lt;/body&gt;</a:t>
            </a:r>
          </a:p>
          <a:p>
            <a:pPr marL="0" indent="0">
              <a:buNone/>
            </a:pPr>
            <a:r>
              <a:rPr lang="en-US" sz="4000" dirty="0"/>
              <a:t>&lt;/html&gt;</a:t>
            </a:r>
            <a:endParaRPr lang="en-US" sz="4000" dirty="0" smtClean="0"/>
          </a:p>
          <a:p>
            <a:pPr marL="0" indent="0">
              <a:buNone/>
            </a:pPr>
            <a:endParaRPr lang="en-US" sz="1600" u="sng" dirty="0" smtClean="0"/>
          </a:p>
        </p:txBody>
      </p:sp>
    </p:spTree>
    <p:extLst>
      <p:ext uri="{BB962C8B-B14F-4D97-AF65-F5344CB8AC3E}">
        <p14:creationId xmlns:p14="http://schemas.microsoft.com/office/powerpoint/2010/main" val="33526356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lnSpcReduction="10000"/>
          </a:bodyPr>
          <a:lstStyle/>
          <a:p>
            <a:pPr marL="0" indent="0">
              <a:buNone/>
            </a:pPr>
            <a:r>
              <a:rPr lang="en-US" dirty="0" smtClean="0"/>
              <a:t>Do the questions:</a:t>
            </a:r>
          </a:p>
          <a:p>
            <a:pPr marL="0" indent="0">
              <a:buNone/>
            </a:pPr>
            <a:r>
              <a:rPr lang="en-US" dirty="0" smtClean="0"/>
              <a:t>Q.N.1.  WAP in JS to input four parameter value by passing arguments and display the average value of them three times with different passing arguments.</a:t>
            </a:r>
          </a:p>
          <a:p>
            <a:pPr marL="0" indent="0">
              <a:buNone/>
            </a:pPr>
            <a:r>
              <a:rPr lang="en-US" dirty="0" smtClean="0"/>
              <a:t>Q.N. 2. WAP in JS to  ten numbers in a array and display the largest and smallest number among them by using function</a:t>
            </a:r>
          </a:p>
          <a:p>
            <a:pPr marL="0" indent="0">
              <a:buNone/>
            </a:pPr>
            <a:r>
              <a:rPr lang="en-US" dirty="0" smtClean="0"/>
              <a:t>Q.N.3.How can you defining and invoking the function in JavaScript. </a:t>
            </a:r>
          </a:p>
          <a:p>
            <a:pPr marL="0" indent="0">
              <a:buNone/>
            </a:pPr>
            <a:r>
              <a:rPr lang="en-US" dirty="0" smtClean="0"/>
              <a:t>Q.N.4.What is an Immediately Invoked Function JavaScript? Explain with suitable example.</a:t>
            </a:r>
          </a:p>
          <a:p>
            <a:pPr marL="0" indent="0">
              <a:buNone/>
            </a:pPr>
            <a:endParaRPr lang="en-US" sz="1200" dirty="0" smtClean="0"/>
          </a:p>
        </p:txBody>
      </p:sp>
    </p:spTree>
    <p:extLst>
      <p:ext uri="{BB962C8B-B14F-4D97-AF65-F5344CB8AC3E}">
        <p14:creationId xmlns:p14="http://schemas.microsoft.com/office/powerpoint/2010/main" val="4239812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248400"/>
          </a:xfrm>
        </p:spPr>
        <p:txBody>
          <a:bodyPr>
            <a:normAutofit fontScale="32500" lnSpcReduction="20000"/>
          </a:bodyPr>
          <a:lstStyle/>
          <a:p>
            <a:pPr marL="0" indent="0">
              <a:buNone/>
            </a:pPr>
            <a:r>
              <a:rPr lang="en-US" dirty="0"/>
              <a:t>// Function to find the largest number in an array</a:t>
            </a:r>
          </a:p>
          <a:p>
            <a:pPr marL="0" indent="0">
              <a:buNone/>
            </a:pPr>
            <a:r>
              <a:rPr lang="en-US" dirty="0"/>
              <a:t>function </a:t>
            </a:r>
            <a:r>
              <a:rPr lang="en-US" dirty="0" err="1"/>
              <a:t>findLargestNumber</a:t>
            </a:r>
            <a:r>
              <a:rPr lang="en-US" dirty="0"/>
              <a:t>(numbers) {</a:t>
            </a:r>
          </a:p>
          <a:p>
            <a:pPr marL="0" indent="0">
              <a:buNone/>
            </a:pPr>
            <a:r>
              <a:rPr lang="en-US" dirty="0"/>
              <a:t>    </a:t>
            </a:r>
            <a:r>
              <a:rPr lang="en-US" dirty="0" err="1"/>
              <a:t>var</a:t>
            </a:r>
            <a:r>
              <a:rPr lang="en-US" dirty="0"/>
              <a:t> largest = numbers[0];</a:t>
            </a:r>
          </a:p>
          <a:p>
            <a:pPr marL="0" indent="0">
              <a:buNone/>
            </a:pPr>
            <a:r>
              <a:rPr lang="en-US" dirty="0"/>
              <a:t>    for (</a:t>
            </a:r>
            <a:r>
              <a:rPr lang="en-US" dirty="0" err="1"/>
              <a:t>var</a:t>
            </a:r>
            <a:r>
              <a:rPr lang="en-US" dirty="0"/>
              <a:t> i = 1; i &lt; </a:t>
            </a:r>
            <a:r>
              <a:rPr lang="en-US" dirty="0" err="1"/>
              <a:t>numbers.length</a:t>
            </a:r>
            <a:r>
              <a:rPr lang="en-US" dirty="0"/>
              <a:t>; i++) {</a:t>
            </a:r>
          </a:p>
          <a:p>
            <a:pPr marL="0" indent="0">
              <a:buNone/>
            </a:pPr>
            <a:r>
              <a:rPr lang="en-US" dirty="0"/>
              <a:t>        if (numbers[i] &gt; largest) {</a:t>
            </a:r>
          </a:p>
          <a:p>
            <a:pPr marL="0" indent="0">
              <a:buNone/>
            </a:pPr>
            <a:r>
              <a:rPr lang="en-US" dirty="0"/>
              <a:t>            largest = numbers[i];</a:t>
            </a:r>
          </a:p>
          <a:p>
            <a:pPr marL="0" indent="0">
              <a:buNone/>
            </a:pPr>
            <a:r>
              <a:rPr lang="en-US" dirty="0"/>
              <a:t>        }</a:t>
            </a:r>
          </a:p>
          <a:p>
            <a:pPr marL="0" indent="0">
              <a:buNone/>
            </a:pPr>
            <a:r>
              <a:rPr lang="en-US" dirty="0"/>
              <a:t>    }</a:t>
            </a:r>
          </a:p>
          <a:p>
            <a:pPr marL="0" indent="0">
              <a:buNone/>
            </a:pPr>
            <a:r>
              <a:rPr lang="en-US" dirty="0"/>
              <a:t>    return largest;</a:t>
            </a:r>
          </a:p>
          <a:p>
            <a:pPr marL="0" indent="0">
              <a:buNone/>
            </a:pPr>
            <a:r>
              <a:rPr lang="en-US" dirty="0"/>
              <a:t>}</a:t>
            </a:r>
          </a:p>
          <a:p>
            <a:pPr marL="0" indent="0">
              <a:buNone/>
            </a:pPr>
            <a:endParaRPr lang="en-US" dirty="0"/>
          </a:p>
          <a:p>
            <a:pPr marL="0" indent="0">
              <a:buNone/>
            </a:pPr>
            <a:r>
              <a:rPr lang="en-US" dirty="0"/>
              <a:t>// Function to find the smallest number in an array</a:t>
            </a:r>
          </a:p>
          <a:p>
            <a:pPr marL="0" indent="0">
              <a:buNone/>
            </a:pPr>
            <a:r>
              <a:rPr lang="en-US" dirty="0"/>
              <a:t>function </a:t>
            </a:r>
            <a:r>
              <a:rPr lang="en-US" dirty="0" err="1"/>
              <a:t>findSmallestNumber</a:t>
            </a:r>
            <a:r>
              <a:rPr lang="en-US" dirty="0"/>
              <a:t>(numbers) {</a:t>
            </a:r>
          </a:p>
          <a:p>
            <a:pPr marL="0" indent="0">
              <a:buNone/>
            </a:pPr>
            <a:r>
              <a:rPr lang="en-US" dirty="0"/>
              <a:t>    </a:t>
            </a:r>
            <a:r>
              <a:rPr lang="en-US" dirty="0" err="1"/>
              <a:t>var</a:t>
            </a:r>
            <a:r>
              <a:rPr lang="en-US" dirty="0"/>
              <a:t> smallest = numbers[0];</a:t>
            </a:r>
          </a:p>
          <a:p>
            <a:pPr marL="0" indent="0">
              <a:buNone/>
            </a:pPr>
            <a:r>
              <a:rPr lang="en-US" dirty="0"/>
              <a:t>    for (</a:t>
            </a:r>
            <a:r>
              <a:rPr lang="en-US" dirty="0" err="1"/>
              <a:t>var</a:t>
            </a:r>
            <a:r>
              <a:rPr lang="en-US" dirty="0"/>
              <a:t> i = 1; i &lt; </a:t>
            </a:r>
            <a:r>
              <a:rPr lang="en-US" dirty="0" err="1"/>
              <a:t>numbers.length</a:t>
            </a:r>
            <a:r>
              <a:rPr lang="en-US" dirty="0"/>
              <a:t>; i++) {</a:t>
            </a:r>
          </a:p>
          <a:p>
            <a:pPr marL="0" indent="0">
              <a:buNone/>
            </a:pPr>
            <a:r>
              <a:rPr lang="en-US" dirty="0"/>
              <a:t>        if (numbers[i] &lt; smallest) {</a:t>
            </a:r>
          </a:p>
          <a:p>
            <a:pPr marL="0" indent="0">
              <a:buNone/>
            </a:pPr>
            <a:r>
              <a:rPr lang="en-US" dirty="0"/>
              <a:t>            smallest = numbers[i];</a:t>
            </a:r>
          </a:p>
          <a:p>
            <a:pPr marL="0" indent="0">
              <a:buNone/>
            </a:pPr>
            <a:r>
              <a:rPr lang="en-US" dirty="0"/>
              <a:t>        }</a:t>
            </a:r>
          </a:p>
          <a:p>
            <a:pPr marL="0" indent="0">
              <a:buNone/>
            </a:pPr>
            <a:r>
              <a:rPr lang="en-US" dirty="0"/>
              <a:t>    }</a:t>
            </a:r>
          </a:p>
          <a:p>
            <a:pPr marL="0" indent="0">
              <a:buNone/>
            </a:pPr>
            <a:r>
              <a:rPr lang="en-US" dirty="0"/>
              <a:t>    return smallest;</a:t>
            </a:r>
          </a:p>
          <a:p>
            <a:pPr marL="0" indent="0">
              <a:buNone/>
            </a:pPr>
            <a:r>
              <a:rPr lang="en-US" dirty="0"/>
              <a:t>}</a:t>
            </a:r>
          </a:p>
          <a:p>
            <a:pPr marL="0" indent="0">
              <a:buNone/>
            </a:pPr>
            <a:endParaRPr lang="en-US" dirty="0"/>
          </a:p>
          <a:p>
            <a:pPr marL="0" indent="0">
              <a:buNone/>
            </a:pPr>
            <a:r>
              <a:rPr lang="en-US" dirty="0"/>
              <a:t>// Array to store user input numbers</a:t>
            </a:r>
          </a:p>
          <a:p>
            <a:pPr marL="0" indent="0">
              <a:buNone/>
            </a:pPr>
            <a:r>
              <a:rPr lang="en-US" dirty="0" err="1"/>
              <a:t>var</a:t>
            </a:r>
            <a:r>
              <a:rPr lang="en-US" dirty="0"/>
              <a:t> numbers = [];</a:t>
            </a:r>
          </a:p>
          <a:p>
            <a:pPr marL="0" indent="0">
              <a:buNone/>
            </a:pPr>
            <a:endParaRPr lang="en-US" dirty="0"/>
          </a:p>
          <a:p>
            <a:pPr marL="0" indent="0">
              <a:buNone/>
            </a:pPr>
            <a:r>
              <a:rPr lang="en-US" dirty="0"/>
              <a:t>// Prompting the user to enter ten numbers</a:t>
            </a:r>
          </a:p>
          <a:p>
            <a:pPr marL="0" indent="0">
              <a:buNone/>
            </a:pPr>
            <a:r>
              <a:rPr lang="en-US" dirty="0"/>
              <a:t>for (</a:t>
            </a:r>
            <a:r>
              <a:rPr lang="en-US" dirty="0" err="1"/>
              <a:t>var</a:t>
            </a:r>
            <a:r>
              <a:rPr lang="en-US" dirty="0"/>
              <a:t> i = 0; i &lt; 10; i++) {</a:t>
            </a:r>
          </a:p>
          <a:p>
            <a:pPr marL="0" indent="0">
              <a:buNone/>
            </a:pPr>
            <a:r>
              <a:rPr lang="en-US" dirty="0"/>
              <a:t>    </a:t>
            </a:r>
            <a:r>
              <a:rPr lang="en-US" dirty="0" err="1"/>
              <a:t>var</a:t>
            </a:r>
            <a:r>
              <a:rPr lang="en-US" dirty="0"/>
              <a:t> </a:t>
            </a:r>
            <a:r>
              <a:rPr lang="en-US" dirty="0" err="1"/>
              <a:t>num</a:t>
            </a:r>
            <a:r>
              <a:rPr lang="en-US" dirty="0"/>
              <a:t> = </a:t>
            </a:r>
            <a:r>
              <a:rPr lang="en-US" dirty="0" err="1"/>
              <a:t>parseFloat</a:t>
            </a:r>
            <a:r>
              <a:rPr lang="en-US" dirty="0"/>
              <a:t>(prompt("Enter number " + (i + 1) + ":"));</a:t>
            </a:r>
          </a:p>
          <a:p>
            <a:pPr marL="0" indent="0">
              <a:buNone/>
            </a:pPr>
            <a:r>
              <a:rPr lang="en-US" dirty="0"/>
              <a:t>    </a:t>
            </a:r>
            <a:r>
              <a:rPr lang="en-US" dirty="0" err="1"/>
              <a:t>numbers.push</a:t>
            </a:r>
            <a:r>
              <a:rPr lang="en-US" dirty="0"/>
              <a:t>(</a:t>
            </a:r>
            <a:r>
              <a:rPr lang="en-US" dirty="0" err="1"/>
              <a:t>num</a:t>
            </a:r>
            <a:r>
              <a:rPr lang="en-US" dirty="0"/>
              <a:t>);</a:t>
            </a:r>
          </a:p>
          <a:p>
            <a:pPr marL="0" indent="0">
              <a:buNone/>
            </a:pPr>
            <a:r>
              <a:rPr lang="en-US" dirty="0"/>
              <a:t>}</a:t>
            </a:r>
          </a:p>
          <a:p>
            <a:pPr marL="0" indent="0">
              <a:buNone/>
            </a:pPr>
            <a:endParaRPr lang="en-US" dirty="0"/>
          </a:p>
          <a:p>
            <a:pPr marL="0" indent="0">
              <a:buNone/>
            </a:pPr>
            <a:r>
              <a:rPr lang="en-US" dirty="0"/>
              <a:t>// Finding the largest and smallest numbers</a:t>
            </a:r>
          </a:p>
          <a:p>
            <a:pPr marL="0" indent="0">
              <a:buNone/>
            </a:pPr>
            <a:r>
              <a:rPr lang="en-US" dirty="0" err="1"/>
              <a:t>var</a:t>
            </a:r>
            <a:r>
              <a:rPr lang="en-US" dirty="0"/>
              <a:t> </a:t>
            </a:r>
            <a:r>
              <a:rPr lang="en-US" dirty="0" err="1"/>
              <a:t>largestNumber</a:t>
            </a:r>
            <a:r>
              <a:rPr lang="en-US" dirty="0"/>
              <a:t> = </a:t>
            </a:r>
            <a:r>
              <a:rPr lang="en-US" dirty="0" err="1"/>
              <a:t>findLargestNumber</a:t>
            </a:r>
            <a:r>
              <a:rPr lang="en-US" dirty="0"/>
              <a:t>(numbers);</a:t>
            </a:r>
          </a:p>
          <a:p>
            <a:pPr marL="0" indent="0">
              <a:buNone/>
            </a:pPr>
            <a:r>
              <a:rPr lang="en-US" dirty="0" err="1"/>
              <a:t>var</a:t>
            </a:r>
            <a:r>
              <a:rPr lang="en-US" dirty="0"/>
              <a:t> </a:t>
            </a:r>
            <a:r>
              <a:rPr lang="en-US" dirty="0" err="1"/>
              <a:t>smallestNumber</a:t>
            </a:r>
            <a:r>
              <a:rPr lang="en-US" dirty="0"/>
              <a:t> = </a:t>
            </a:r>
            <a:r>
              <a:rPr lang="en-US" dirty="0" err="1"/>
              <a:t>findSmallestNumber</a:t>
            </a:r>
            <a:r>
              <a:rPr lang="en-US" dirty="0"/>
              <a:t>(numbers);</a:t>
            </a:r>
          </a:p>
          <a:p>
            <a:pPr marL="0" indent="0">
              <a:buNone/>
            </a:pPr>
            <a:endParaRPr lang="en-US" dirty="0"/>
          </a:p>
          <a:p>
            <a:pPr marL="0" indent="0">
              <a:buNone/>
            </a:pPr>
            <a:r>
              <a:rPr lang="en-US" dirty="0"/>
              <a:t>// Displaying the largest and smallest numbers</a:t>
            </a:r>
          </a:p>
          <a:p>
            <a:pPr marL="0" indent="0">
              <a:buNone/>
            </a:pPr>
            <a:r>
              <a:rPr lang="en-US" dirty="0"/>
              <a:t>console.log("The largest number is: " + </a:t>
            </a:r>
            <a:r>
              <a:rPr lang="en-US" dirty="0" err="1"/>
              <a:t>largestNumber</a:t>
            </a:r>
            <a:r>
              <a:rPr lang="en-US" dirty="0"/>
              <a:t>);</a:t>
            </a:r>
          </a:p>
          <a:p>
            <a:pPr marL="0" indent="0">
              <a:buNone/>
            </a:pPr>
            <a:r>
              <a:rPr lang="en-US" dirty="0"/>
              <a:t>console.log("The smallest number is: " + </a:t>
            </a:r>
            <a:r>
              <a:rPr lang="en-US" dirty="0" err="1"/>
              <a:t>smallestNumber</a:t>
            </a:r>
            <a:r>
              <a:rPr lang="en-US" dirty="0"/>
              <a:t>);</a:t>
            </a:r>
            <a:endParaRPr lang="en-US" sz="1200" dirty="0" smtClean="0"/>
          </a:p>
        </p:txBody>
      </p:sp>
    </p:spTree>
    <p:extLst>
      <p:ext uri="{BB962C8B-B14F-4D97-AF65-F5344CB8AC3E}">
        <p14:creationId xmlns:p14="http://schemas.microsoft.com/office/powerpoint/2010/main" val="17457790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Pop-up Boxes</a:t>
            </a:r>
          </a:p>
        </p:txBody>
      </p:sp>
      <p:sp>
        <p:nvSpPr>
          <p:cNvPr id="3" name="Content Placeholder 2"/>
          <p:cNvSpPr>
            <a:spLocks noGrp="1"/>
          </p:cNvSpPr>
          <p:nvPr>
            <p:ph idx="1"/>
          </p:nvPr>
        </p:nvSpPr>
        <p:spPr/>
        <p:txBody>
          <a:bodyPr/>
          <a:lstStyle/>
          <a:p>
            <a:pPr>
              <a:lnSpc>
                <a:spcPct val="150000"/>
              </a:lnSpc>
              <a:buNone/>
            </a:pPr>
            <a:r>
              <a:rPr lang="en-US" dirty="0">
                <a:latin typeface="Times New Roman" pitchFamily="18" charset="0"/>
                <a:cs typeface="Times New Roman" pitchFamily="18" charset="0"/>
              </a:rPr>
              <a:t>Java script has three pop up boxes.</a:t>
            </a:r>
          </a:p>
          <a:p>
            <a:pPr marL="914400" lvl="1" indent="-514350">
              <a:lnSpc>
                <a:spcPct val="150000"/>
              </a:lnSpc>
              <a:buAutoNum type="arabicPeriod"/>
            </a:pPr>
            <a:r>
              <a:rPr lang="en-US" dirty="0">
                <a:latin typeface="Times New Roman" pitchFamily="18" charset="0"/>
                <a:cs typeface="Times New Roman" pitchFamily="18" charset="0"/>
              </a:rPr>
              <a:t>Alert box</a:t>
            </a:r>
          </a:p>
          <a:p>
            <a:pPr marL="914400" lvl="1" indent="-514350">
              <a:lnSpc>
                <a:spcPct val="150000"/>
              </a:lnSpc>
              <a:buAutoNum type="arabicPeriod"/>
            </a:pPr>
            <a:r>
              <a:rPr lang="en-US" dirty="0">
                <a:latin typeface="Times New Roman" pitchFamily="18" charset="0"/>
                <a:cs typeface="Times New Roman" pitchFamily="18" charset="0"/>
              </a:rPr>
              <a:t>Confirm box</a:t>
            </a:r>
          </a:p>
          <a:p>
            <a:pPr marL="914400" lvl="1" indent="-514350">
              <a:lnSpc>
                <a:spcPct val="150000"/>
              </a:lnSpc>
              <a:buAutoNum type="arabicPeriod"/>
            </a:pPr>
            <a:r>
              <a:rPr lang="en-US" dirty="0">
                <a:latin typeface="Times New Roman" pitchFamily="18" charset="0"/>
                <a:cs typeface="Times New Roman" pitchFamily="18" charset="0"/>
              </a:rPr>
              <a:t>Prompt box</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Alert box</a:t>
            </a:r>
          </a:p>
        </p:txBody>
      </p:sp>
      <p:sp>
        <p:nvSpPr>
          <p:cNvPr id="3" name="Content Placeholder 2"/>
          <p:cNvSpPr>
            <a:spLocks noGrp="1"/>
          </p:cNvSpPr>
          <p:nvPr>
            <p:ph idx="1"/>
          </p:nvPr>
        </p:nvSpPr>
        <p:spPr/>
        <p:txBody>
          <a:bodyPr/>
          <a:lstStyle/>
          <a:p>
            <a:pPr marL="457200" lvl="0" indent="-457200">
              <a:lnSpc>
                <a:spcPct val="150000"/>
              </a:lnSpc>
              <a:spcBef>
                <a:spcPts val="0"/>
              </a:spcBef>
              <a:buSzPts val="3600"/>
              <a:buChar char="●"/>
            </a:pPr>
            <a:r>
              <a:rPr lang="en-US" dirty="0">
                <a:latin typeface="Times New Roman" pitchFamily="18" charset="0"/>
                <a:cs typeface="Times New Roman" pitchFamily="18" charset="0"/>
              </a:rPr>
              <a:t>used if you want to make sure information comes through to the user</a:t>
            </a:r>
          </a:p>
          <a:p>
            <a:pPr marL="457200" lvl="0" indent="-457200">
              <a:lnSpc>
                <a:spcPct val="150000"/>
              </a:lnSpc>
              <a:spcBef>
                <a:spcPts val="0"/>
              </a:spcBef>
              <a:buSzPts val="3600"/>
              <a:buChar char="●"/>
            </a:pPr>
            <a:r>
              <a:rPr lang="en-US" dirty="0">
                <a:latin typeface="Times New Roman" pitchFamily="18" charset="0"/>
                <a:cs typeface="Times New Roman" pitchFamily="18" charset="0"/>
              </a:rPr>
              <a:t>the user will have to click "OK" to proceed</a:t>
            </a:r>
          </a:p>
          <a:p>
            <a:pPr marL="457200" lvl="0" indent="-457200">
              <a:lnSpc>
                <a:spcPct val="150000"/>
              </a:lnSpc>
              <a:spcBef>
                <a:spcPts val="0"/>
              </a:spcBef>
              <a:buSzPts val="3600"/>
              <a:buChar char="●"/>
            </a:pPr>
            <a:r>
              <a:rPr lang="en-US" dirty="0">
                <a:latin typeface="Times New Roman" pitchFamily="18" charset="0"/>
                <a:cs typeface="Times New Roman" pitchFamily="18" charset="0"/>
              </a:rPr>
              <a:t>Syntax :alert("</a:t>
            </a:r>
            <a:r>
              <a:rPr lang="en-US" dirty="0" err="1">
                <a:latin typeface="Times New Roman" pitchFamily="18" charset="0"/>
                <a:cs typeface="Times New Roman" pitchFamily="18" charset="0"/>
              </a:rPr>
              <a:t>sometext</a:t>
            </a:r>
            <a:r>
              <a:rPr lang="en-US" dirty="0">
                <a:latin typeface="Times New Roman" pitchFamily="18" charset="0"/>
                <a:cs typeface="Times New Roman" pitchFamily="18" charset="0"/>
              </a:rPr>
              <a:t>");</a:t>
            </a:r>
          </a:p>
          <a:p>
            <a:pPr>
              <a:lnSpc>
                <a:spcPct val="150000"/>
              </a:lnSpc>
            </a:pPr>
            <a:endParaRPr lang="en-US"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93;p27"/>
          <p:cNvPicPr preferRelativeResize="0">
            <a:picLocks noGrp="1"/>
          </p:cNvPicPr>
          <p:nvPr>
            <p:ph idx="1"/>
          </p:nvPr>
        </p:nvPicPr>
        <p:blipFill>
          <a:blip r:embed="rId2">
            <a:alphaModFix/>
          </a:blip>
          <a:stretch>
            <a:fillRect/>
          </a:stretch>
        </p:blipFill>
        <p:spPr>
          <a:xfrm>
            <a:off x="457200" y="304800"/>
            <a:ext cx="8229600" cy="62484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Confirmation Box</a:t>
            </a:r>
          </a:p>
        </p:txBody>
      </p:sp>
      <p:sp>
        <p:nvSpPr>
          <p:cNvPr id="3" name="Content Placeholder 2"/>
          <p:cNvSpPr>
            <a:spLocks noGrp="1"/>
          </p:cNvSpPr>
          <p:nvPr>
            <p:ph idx="1"/>
          </p:nvPr>
        </p:nvSpPr>
        <p:spPr/>
        <p:txBody>
          <a:bodyPr>
            <a:normAutofit fontScale="92500"/>
          </a:bodyPr>
          <a:lstStyle/>
          <a:p>
            <a:pPr marL="457200" lvl="0" indent="-419100">
              <a:lnSpc>
                <a:spcPct val="150000"/>
              </a:lnSpc>
              <a:spcBef>
                <a:spcPts val="0"/>
              </a:spcBef>
              <a:buSzPts val="3000"/>
              <a:buChar char="●"/>
            </a:pPr>
            <a:r>
              <a:rPr lang="en-US" dirty="0">
                <a:latin typeface="Times New Roman" pitchFamily="18" charset="0"/>
                <a:cs typeface="Times New Roman" pitchFamily="18" charset="0"/>
              </a:rPr>
              <a:t>used if we want the user to verify or accept something</a:t>
            </a:r>
          </a:p>
          <a:p>
            <a:pPr marL="457200" lvl="0" indent="-419100">
              <a:lnSpc>
                <a:spcPct val="150000"/>
              </a:lnSpc>
              <a:spcBef>
                <a:spcPts val="0"/>
              </a:spcBef>
              <a:buSzPts val="3000"/>
              <a:buChar char="●"/>
            </a:pPr>
            <a:r>
              <a:rPr lang="en-US" dirty="0">
                <a:latin typeface="Times New Roman" pitchFamily="18" charset="0"/>
                <a:cs typeface="Times New Roman" pitchFamily="18" charset="0"/>
              </a:rPr>
              <a:t>have to click either "OK" or "Cancel" to proceed</a:t>
            </a:r>
          </a:p>
          <a:p>
            <a:pPr marL="457200" lvl="0" indent="-419100">
              <a:lnSpc>
                <a:spcPct val="150000"/>
              </a:lnSpc>
              <a:spcBef>
                <a:spcPts val="0"/>
              </a:spcBef>
              <a:buSzPts val="3000"/>
              <a:buChar char="●"/>
            </a:pPr>
            <a:r>
              <a:rPr lang="en-US" dirty="0">
                <a:latin typeface="Times New Roman" pitchFamily="18" charset="0"/>
                <a:cs typeface="Times New Roman" pitchFamily="18" charset="0"/>
              </a:rPr>
              <a:t>If the user clicks "OK", the box returns true</a:t>
            </a:r>
          </a:p>
          <a:p>
            <a:pPr marL="457200" lvl="0" indent="-419100">
              <a:lnSpc>
                <a:spcPct val="150000"/>
              </a:lnSpc>
              <a:spcBef>
                <a:spcPts val="0"/>
              </a:spcBef>
              <a:buSzPts val="3000"/>
              <a:buChar char="●"/>
            </a:pPr>
            <a:r>
              <a:rPr lang="en-US" dirty="0">
                <a:latin typeface="Times New Roman" pitchFamily="18" charset="0"/>
                <a:cs typeface="Times New Roman" pitchFamily="18" charset="0"/>
              </a:rPr>
              <a:t>If the user clicks "Cancel", the box returns false</a:t>
            </a:r>
          </a:p>
          <a:p>
            <a:pPr marL="457200" lvl="0" indent="-419100">
              <a:lnSpc>
                <a:spcPct val="150000"/>
              </a:lnSpc>
              <a:spcBef>
                <a:spcPts val="0"/>
              </a:spcBef>
              <a:buSzPts val="3000"/>
              <a:buChar char="●"/>
            </a:pPr>
            <a:r>
              <a:rPr lang="en-US" dirty="0">
                <a:latin typeface="Times New Roman" pitchFamily="18" charset="0"/>
                <a:cs typeface="Times New Roman" pitchFamily="18" charset="0"/>
              </a:rPr>
              <a:t>Syntax : confirm("</a:t>
            </a:r>
            <a:r>
              <a:rPr lang="en-US" dirty="0" err="1">
                <a:latin typeface="Times New Roman" pitchFamily="18" charset="0"/>
                <a:cs typeface="Times New Roman" pitchFamily="18" charset="0"/>
              </a:rPr>
              <a:t>sometext</a:t>
            </a:r>
            <a:r>
              <a:rPr lang="en-US" dirty="0">
                <a:latin typeface="Times New Roman" pitchFamily="18" charset="0"/>
                <a:cs typeface="Times New Roman" pitchFamily="18" charset="0"/>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208;p29"/>
          <p:cNvPicPr preferRelativeResize="0">
            <a:picLocks noGrp="1"/>
          </p:cNvPicPr>
          <p:nvPr>
            <p:ph idx="1"/>
          </p:nvPr>
        </p:nvPicPr>
        <p:blipFill>
          <a:blip r:embed="rId2">
            <a:alphaModFix/>
          </a:blip>
          <a:stretch>
            <a:fillRect/>
          </a:stretch>
        </p:blipFill>
        <p:spPr>
          <a:xfrm>
            <a:off x="304800" y="457200"/>
            <a:ext cx="8115300" cy="563879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Prompt Box</a:t>
            </a:r>
          </a:p>
        </p:txBody>
      </p:sp>
      <p:sp>
        <p:nvSpPr>
          <p:cNvPr id="3" name="Content Placeholder 2"/>
          <p:cNvSpPr>
            <a:spLocks noGrp="1"/>
          </p:cNvSpPr>
          <p:nvPr>
            <p:ph idx="1"/>
          </p:nvPr>
        </p:nvSpPr>
        <p:spPr/>
        <p:txBody>
          <a:bodyPr>
            <a:normAutofit fontScale="85000" lnSpcReduction="10000"/>
          </a:bodyPr>
          <a:lstStyle/>
          <a:p>
            <a:pPr marL="457200" lvl="0" indent="-406400">
              <a:lnSpc>
                <a:spcPct val="150000"/>
              </a:lnSpc>
              <a:spcBef>
                <a:spcPts val="0"/>
              </a:spcBef>
              <a:buSzPts val="2800"/>
              <a:buChar char="●"/>
            </a:pPr>
            <a:r>
              <a:rPr lang="en-US" dirty="0">
                <a:latin typeface="Times New Roman" pitchFamily="18" charset="0"/>
                <a:cs typeface="Times New Roman" pitchFamily="18" charset="0"/>
              </a:rPr>
              <a:t>used when you want user to input a value before entering a page</a:t>
            </a:r>
          </a:p>
          <a:p>
            <a:pPr marL="457200" lvl="0" indent="-406400">
              <a:lnSpc>
                <a:spcPct val="150000"/>
              </a:lnSpc>
              <a:spcBef>
                <a:spcPts val="0"/>
              </a:spcBef>
              <a:buSzPts val="2800"/>
              <a:buChar char="●"/>
            </a:pPr>
            <a:r>
              <a:rPr lang="en-US" dirty="0">
                <a:latin typeface="Times New Roman" pitchFamily="18" charset="0"/>
                <a:cs typeface="Times New Roman" pitchFamily="18" charset="0"/>
              </a:rPr>
              <a:t>user will have to click either "OK" or "Cancel" to proceed after entering an input value</a:t>
            </a:r>
          </a:p>
          <a:p>
            <a:pPr marL="457200" lvl="0" indent="-406400">
              <a:lnSpc>
                <a:spcPct val="150000"/>
              </a:lnSpc>
              <a:spcBef>
                <a:spcPts val="0"/>
              </a:spcBef>
              <a:buSzPts val="2800"/>
              <a:buChar char="●"/>
            </a:pPr>
            <a:r>
              <a:rPr lang="en-US" dirty="0">
                <a:latin typeface="Times New Roman" pitchFamily="18" charset="0"/>
                <a:cs typeface="Times New Roman" pitchFamily="18" charset="0"/>
              </a:rPr>
              <a:t>If the user clicks "OK" the box returns the input value</a:t>
            </a:r>
          </a:p>
          <a:p>
            <a:pPr marL="457200" lvl="0" indent="-406400">
              <a:lnSpc>
                <a:spcPct val="150000"/>
              </a:lnSpc>
              <a:spcBef>
                <a:spcPts val="0"/>
              </a:spcBef>
              <a:buSzPts val="2800"/>
              <a:buChar char="●"/>
            </a:pPr>
            <a:r>
              <a:rPr lang="en-US" dirty="0">
                <a:latin typeface="Times New Roman" pitchFamily="18" charset="0"/>
                <a:cs typeface="Times New Roman" pitchFamily="18" charset="0"/>
              </a:rPr>
              <a:t>If the user clicks "Cancel" the box returns null</a:t>
            </a:r>
          </a:p>
          <a:p>
            <a:pPr marL="457200" lvl="0" indent="-406400">
              <a:lnSpc>
                <a:spcPct val="150000"/>
              </a:lnSpc>
              <a:spcBef>
                <a:spcPts val="0"/>
              </a:spcBef>
              <a:buSzPts val="2800"/>
              <a:buChar char="●"/>
            </a:pPr>
            <a:r>
              <a:rPr lang="en-US" dirty="0">
                <a:latin typeface="Times New Roman" pitchFamily="18" charset="0"/>
                <a:cs typeface="Times New Roman" pitchFamily="18" charset="0"/>
              </a:rPr>
              <a:t>Syntax: prompt("</a:t>
            </a:r>
            <a:r>
              <a:rPr lang="en-US" dirty="0" err="1">
                <a:latin typeface="Times New Roman" pitchFamily="18" charset="0"/>
                <a:cs typeface="Times New Roman" pitchFamily="18" charset="0"/>
              </a:rPr>
              <a:t>sometext","defaultvalue</a:t>
            </a:r>
            <a:r>
              <a:rPr lang="en-US" dirty="0">
                <a:latin typeface="Times New Roman" pitchFamily="18" charset="0"/>
                <a:cs typeface="Times New Roman" pitchFamily="18" charset="0"/>
              </a:rPr>
              <a:t>"); </a:t>
            </a:r>
          </a:p>
          <a:p>
            <a:pPr>
              <a:lnSpc>
                <a:spcPct val="150000"/>
              </a:lnSpc>
              <a:buNone/>
            </a:pPr>
            <a:endParaRPr lang="en-US"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223;p31"/>
          <p:cNvPicPr preferRelativeResize="0">
            <a:picLocks noGrp="1"/>
          </p:cNvPicPr>
          <p:nvPr>
            <p:ph idx="1"/>
          </p:nvPr>
        </p:nvPicPr>
        <p:blipFill>
          <a:blip r:embed="rId2">
            <a:alphaModFix/>
          </a:blip>
          <a:stretch>
            <a:fillRect/>
          </a:stretch>
        </p:blipFill>
        <p:spPr>
          <a:xfrm>
            <a:off x="457200" y="457200"/>
            <a:ext cx="8229600" cy="58673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Events</a:t>
            </a:r>
          </a:p>
        </p:txBody>
      </p:sp>
      <p:sp>
        <p:nvSpPr>
          <p:cNvPr id="3" name="Content Placeholder 2"/>
          <p:cNvSpPr>
            <a:spLocks noGrp="1"/>
          </p:cNvSpPr>
          <p:nvPr>
            <p:ph idx="1"/>
          </p:nvPr>
        </p:nvSpPr>
        <p:spPr>
          <a:xfrm>
            <a:off x="457200" y="914400"/>
            <a:ext cx="8229600" cy="5715000"/>
          </a:xfrm>
        </p:spPr>
        <p:txBody>
          <a:bodyPr>
            <a:normAutofit fontScale="70000" lnSpcReduction="20000"/>
          </a:bodyPr>
          <a:lstStyle/>
          <a:p>
            <a:pPr marL="457200" lvl="0" indent="-406400" algn="just">
              <a:lnSpc>
                <a:spcPct val="170000"/>
              </a:lnSpc>
              <a:spcBef>
                <a:spcPts val="0"/>
              </a:spcBef>
              <a:buSzPts val="2800"/>
              <a:buChar char="●"/>
            </a:pPr>
            <a:r>
              <a:rPr lang="en-US" dirty="0">
                <a:latin typeface="Times New Roman" pitchFamily="18" charset="0"/>
                <a:cs typeface="Times New Roman" pitchFamily="18" charset="0"/>
              </a:rPr>
              <a:t>An HTML event can be something the browser does, or something a user does.</a:t>
            </a:r>
          </a:p>
          <a:p>
            <a:pPr marL="457200" lvl="0" indent="-406400" algn="just">
              <a:lnSpc>
                <a:spcPct val="170000"/>
              </a:lnSpc>
              <a:spcBef>
                <a:spcPts val="0"/>
              </a:spcBef>
              <a:buSzPts val="2800"/>
              <a:buChar char="●"/>
            </a:pPr>
            <a:r>
              <a:rPr lang="en-US" dirty="0">
                <a:latin typeface="Times New Roman" pitchFamily="18" charset="0"/>
                <a:cs typeface="Times New Roman" pitchFamily="18" charset="0"/>
              </a:rPr>
              <a:t>Here are some examples of HTML events:</a:t>
            </a:r>
          </a:p>
          <a:p>
            <a:pPr marL="457200" lvl="0" indent="0" algn="just">
              <a:lnSpc>
                <a:spcPct val="170000"/>
              </a:lnSpc>
              <a:spcBef>
                <a:spcPts val="0"/>
              </a:spcBef>
              <a:buNone/>
            </a:pPr>
            <a:r>
              <a:rPr lang="en-US" dirty="0">
                <a:latin typeface="Times New Roman" pitchFamily="18" charset="0"/>
                <a:cs typeface="Times New Roman" pitchFamily="18" charset="0"/>
              </a:rPr>
              <a:t>    An HTML web page has finished loading</a:t>
            </a:r>
          </a:p>
          <a:p>
            <a:pPr marL="457200" lvl="0" indent="0" algn="just">
              <a:lnSpc>
                <a:spcPct val="170000"/>
              </a:lnSpc>
              <a:spcBef>
                <a:spcPts val="0"/>
              </a:spcBef>
              <a:buNone/>
            </a:pPr>
            <a:r>
              <a:rPr lang="en-US" dirty="0">
                <a:latin typeface="Times New Roman" pitchFamily="18" charset="0"/>
                <a:cs typeface="Times New Roman" pitchFamily="18" charset="0"/>
              </a:rPr>
              <a:t>    An HTML input field was changed</a:t>
            </a:r>
          </a:p>
          <a:p>
            <a:pPr marL="457200" lvl="0" indent="0" algn="just">
              <a:lnSpc>
                <a:spcPct val="170000"/>
              </a:lnSpc>
              <a:spcBef>
                <a:spcPts val="0"/>
              </a:spcBef>
              <a:buNone/>
            </a:pPr>
            <a:r>
              <a:rPr lang="en-US" dirty="0">
                <a:latin typeface="Times New Roman" pitchFamily="18" charset="0"/>
                <a:cs typeface="Times New Roman" pitchFamily="18" charset="0"/>
              </a:rPr>
              <a:t>    An HTML button was clicked</a:t>
            </a:r>
          </a:p>
          <a:p>
            <a:pPr marL="457200" lvl="0" indent="0" algn="just">
              <a:lnSpc>
                <a:spcPct val="170000"/>
              </a:lnSpc>
              <a:spcBef>
                <a:spcPts val="0"/>
              </a:spcBef>
              <a:buNone/>
            </a:pPr>
            <a:r>
              <a:rPr lang="en-US" dirty="0">
                <a:latin typeface="Times New Roman" pitchFamily="18" charset="0"/>
                <a:cs typeface="Times New Roman" pitchFamily="18" charset="0"/>
              </a:rPr>
              <a:t>    When user clicks mouse</a:t>
            </a:r>
          </a:p>
          <a:p>
            <a:pPr marL="457200" lvl="0" indent="0" algn="just">
              <a:lnSpc>
                <a:spcPct val="170000"/>
              </a:lnSpc>
              <a:spcBef>
                <a:spcPts val="0"/>
              </a:spcBef>
              <a:buNone/>
            </a:pPr>
            <a:r>
              <a:rPr lang="en-US" dirty="0">
                <a:latin typeface="Times New Roman" pitchFamily="18" charset="0"/>
                <a:cs typeface="Times New Roman" pitchFamily="18" charset="0"/>
              </a:rPr>
              <a:t>    When image has been loaded</a:t>
            </a:r>
          </a:p>
          <a:p>
            <a:pPr marL="457200" lvl="0" indent="0" algn="just">
              <a:lnSpc>
                <a:spcPct val="170000"/>
              </a:lnSpc>
              <a:spcBef>
                <a:spcPts val="0"/>
              </a:spcBef>
              <a:buNone/>
            </a:pPr>
            <a:r>
              <a:rPr lang="en-US" dirty="0">
                <a:latin typeface="Times New Roman" pitchFamily="18" charset="0"/>
                <a:cs typeface="Times New Roman" pitchFamily="18" charset="0"/>
              </a:rPr>
              <a:t>    When mouse moves over an element</a:t>
            </a:r>
          </a:p>
          <a:p>
            <a:pPr marL="457200" lvl="0" indent="0" algn="just">
              <a:lnSpc>
                <a:spcPct val="170000"/>
              </a:lnSpc>
              <a:spcBef>
                <a:spcPts val="0"/>
              </a:spcBef>
              <a:buNone/>
            </a:pPr>
            <a:r>
              <a:rPr lang="en-US" dirty="0">
                <a:latin typeface="Times New Roman" pitchFamily="18" charset="0"/>
                <a:cs typeface="Times New Roman" pitchFamily="18" charset="0"/>
              </a:rPr>
              <a:t>    When html form is submitted</a:t>
            </a:r>
          </a:p>
          <a:p>
            <a:pPr marL="457200" lvl="0" indent="0" algn="just">
              <a:lnSpc>
                <a:spcPct val="170000"/>
              </a:lnSpc>
              <a:spcBef>
                <a:spcPts val="0"/>
              </a:spcBef>
              <a:buNone/>
            </a:pPr>
            <a:r>
              <a:rPr lang="en-US" dirty="0">
                <a:latin typeface="Times New Roman" pitchFamily="18" charset="0"/>
                <a:cs typeface="Times New Roman" pitchFamily="18" charset="0"/>
              </a:rPr>
              <a:t>    When user stroke a key</a:t>
            </a:r>
          </a:p>
          <a:p>
            <a:pPr marL="457200" lvl="0" indent="-279400" algn="just">
              <a:lnSpc>
                <a:spcPct val="170000"/>
              </a:lnSpc>
              <a:spcBef>
                <a:spcPts val="0"/>
              </a:spcBef>
              <a:buClr>
                <a:schemeClr val="dk1"/>
              </a:buClr>
              <a:buSzPts val="1100"/>
              <a:buNone/>
            </a:pPr>
            <a:endParaRPr lang="en-US" dirty="0">
              <a:latin typeface="Times New Roman" pitchFamily="18" charset="0"/>
              <a:cs typeface="Times New Roman" pitchFamily="18" charset="0"/>
            </a:endParaRPr>
          </a:p>
          <a:p>
            <a:pPr marL="457200" lvl="0" indent="-279400" algn="just">
              <a:lnSpc>
                <a:spcPct val="170000"/>
              </a:lnSpc>
              <a:spcBef>
                <a:spcPts val="0"/>
              </a:spcBef>
              <a:buSzPts val="2800"/>
              <a:buNone/>
            </a:pPr>
            <a:endParaRPr lang="en-US" dirty="0">
              <a:latin typeface="Times New Roman" pitchFamily="18" charset="0"/>
              <a:cs typeface="Times New Roman" pitchFamily="18" charset="0"/>
            </a:endParaRPr>
          </a:p>
          <a:p>
            <a:pPr algn="just">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a:t>
            </a:r>
          </a:p>
        </p:txBody>
      </p:sp>
      <p:sp>
        <p:nvSpPr>
          <p:cNvPr id="3" name="Content Placeholder 2"/>
          <p:cNvSpPr>
            <a:spLocks noGrp="1"/>
          </p:cNvSpPr>
          <p:nvPr>
            <p:ph idx="1"/>
          </p:nvPr>
        </p:nvSpPr>
        <p:spPr/>
        <p:txBody>
          <a:bodyPr>
            <a:normAutofit fontScale="85000" lnSpcReduction="10000"/>
          </a:bodyPr>
          <a:lstStyle/>
          <a:p>
            <a:pPr algn="just">
              <a:lnSpc>
                <a:spcPct val="150000"/>
              </a:lnSpc>
              <a:buNone/>
            </a:pPr>
            <a:r>
              <a:rPr lang="en-US" b="1" dirty="0">
                <a:latin typeface="Times New Roman" pitchFamily="18" charset="0"/>
                <a:cs typeface="Times New Roman" pitchFamily="18" charset="0"/>
              </a:rPr>
              <a:t>Event Handling:</a:t>
            </a:r>
          </a:p>
          <a:p>
            <a:pPr algn="just">
              <a:lnSpc>
                <a:spcPct val="150000"/>
              </a:lnSpc>
            </a:pPr>
            <a:r>
              <a:rPr lang="en-US" dirty="0">
                <a:latin typeface="Times New Roman" pitchFamily="18" charset="0"/>
                <a:cs typeface="Times New Roman" pitchFamily="18" charset="0"/>
              </a:rPr>
              <a:t>Event handling is mechanism that controls the event and sometime we want to execute a java script when an event occurs such as when user clicks button</a:t>
            </a:r>
          </a:p>
          <a:p>
            <a:pPr algn="just">
              <a:lnSpc>
                <a:spcPct val="150000"/>
              </a:lnSpc>
            </a:pPr>
            <a:r>
              <a:rPr lang="en-US" dirty="0">
                <a:latin typeface="Times New Roman" pitchFamily="18" charset="0"/>
                <a:cs typeface="Times New Roman" pitchFamily="18" charset="0"/>
              </a:rPr>
              <a:t>Events are normally used in combination with function and function cannot be executed before event occurs</a:t>
            </a:r>
          </a:p>
          <a:p>
            <a:pPr lvl="0" algn="just">
              <a:lnSpc>
                <a:spcPct val="150000"/>
              </a:lnSpc>
            </a:pPr>
            <a:r>
              <a:rPr lang="en-US" dirty="0">
                <a:latin typeface="Times New Roman" pitchFamily="18" charset="0"/>
                <a:cs typeface="Times New Roman" pitchFamily="18" charset="0"/>
              </a:rPr>
              <a:t>Syntax</a:t>
            </a:r>
            <a:r>
              <a:rPr lang="en-US" dirty="0">
                <a:solidFill>
                  <a:srgbClr val="FF0000"/>
                </a:solidFill>
                <a:latin typeface="Times New Roman" pitchFamily="18" charset="0"/>
                <a:cs typeface="Times New Roman" pitchFamily="18" charset="0"/>
              </a:rPr>
              <a:t>:&lt;element event attribute="some JavaScript"&gt;</a:t>
            </a:r>
          </a:p>
          <a:p>
            <a:pPr algn="just">
              <a:lnSpc>
                <a:spcPct val="150000"/>
              </a:lnSpc>
              <a:buNone/>
            </a:pPr>
            <a:endParaRPr lang="en-US"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172200"/>
          </a:xfrm>
        </p:spPr>
        <p:txBody>
          <a:bodyPr>
            <a:normAutofit fontScale="47500" lnSpcReduction="20000"/>
          </a:bodyPr>
          <a:lstStyle/>
          <a:p>
            <a:pPr>
              <a:lnSpc>
                <a:spcPct val="170000"/>
              </a:lnSpc>
              <a:buNone/>
            </a:pPr>
            <a:r>
              <a:rPr lang="en-US" sz="3800" b="1" dirty="0">
                <a:latin typeface="Times New Roman" pitchFamily="18" charset="0"/>
                <a:cs typeface="Times New Roman" pitchFamily="18" charset="0"/>
              </a:rPr>
              <a:t>Event attribute:</a:t>
            </a:r>
          </a:p>
          <a:p>
            <a:pPr>
              <a:lnSpc>
                <a:spcPct val="170000"/>
              </a:lnSpc>
            </a:pPr>
            <a:r>
              <a:rPr lang="en-US" b="1" dirty="0" err="1">
                <a:latin typeface="Times New Roman" pitchFamily="18" charset="0"/>
                <a:cs typeface="Times New Roman" pitchFamily="18" charset="0"/>
              </a:rPr>
              <a:t>Onload</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 page or image is finished loading</a:t>
            </a:r>
          </a:p>
          <a:p>
            <a:pPr>
              <a:lnSpc>
                <a:spcPct val="170000"/>
              </a:lnSpc>
            </a:pPr>
            <a:r>
              <a:rPr lang="en-US" b="1" dirty="0" err="1">
                <a:latin typeface="Times New Roman" pitchFamily="18" charset="0"/>
                <a:cs typeface="Times New Roman" pitchFamily="18" charset="0"/>
              </a:rPr>
              <a:t>Onupload</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The user exits the page</a:t>
            </a:r>
          </a:p>
          <a:p>
            <a:pPr>
              <a:lnSpc>
                <a:spcPct val="170000"/>
              </a:lnSpc>
            </a:pPr>
            <a:r>
              <a:rPr lang="en-US" b="1" dirty="0" err="1">
                <a:latin typeface="Times New Roman" pitchFamily="18" charset="0"/>
                <a:cs typeface="Times New Roman" pitchFamily="18" charset="0"/>
              </a:rPr>
              <a:t>Onblur</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	An element loses focus</a:t>
            </a:r>
          </a:p>
          <a:p>
            <a:pPr>
              <a:lnSpc>
                <a:spcPct val="170000"/>
              </a:lnSpc>
            </a:pPr>
            <a:r>
              <a:rPr lang="en-US" b="1" dirty="0" err="1">
                <a:latin typeface="Times New Roman" pitchFamily="18" charset="0"/>
                <a:cs typeface="Times New Roman" pitchFamily="18" charset="0"/>
              </a:rPr>
              <a:t>Onchange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The content of field change.</a:t>
            </a:r>
          </a:p>
          <a:p>
            <a:pPr>
              <a:lnSpc>
                <a:spcPct val="170000"/>
              </a:lnSpc>
            </a:pPr>
            <a:r>
              <a:rPr lang="en-US" b="1" dirty="0" err="1">
                <a:latin typeface="Times New Roman" pitchFamily="18" charset="0"/>
                <a:cs typeface="Times New Roman" pitchFamily="18" charset="0"/>
              </a:rPr>
              <a:t>Onclick</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	Mouse click on object.</a:t>
            </a:r>
          </a:p>
          <a:p>
            <a:pPr>
              <a:lnSpc>
                <a:spcPct val="170000"/>
              </a:lnSpc>
            </a:pPr>
            <a:r>
              <a:rPr lang="en-US" b="1" dirty="0" err="1">
                <a:latin typeface="Times New Roman" pitchFamily="18" charset="0"/>
                <a:cs typeface="Times New Roman" pitchFamily="18" charset="0"/>
              </a:rPr>
              <a:t>Ondbclick</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Mouse double click on object</a:t>
            </a:r>
          </a:p>
          <a:p>
            <a:pPr>
              <a:lnSpc>
                <a:spcPct val="170000"/>
              </a:lnSpc>
            </a:pPr>
            <a:r>
              <a:rPr lang="en-US" b="1" dirty="0" err="1">
                <a:latin typeface="Times New Roman" pitchFamily="18" charset="0"/>
                <a:cs typeface="Times New Roman" pitchFamily="18" charset="0"/>
              </a:rPr>
              <a:t>Onfocus</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An element get focus.</a:t>
            </a:r>
          </a:p>
          <a:p>
            <a:pPr>
              <a:lnSpc>
                <a:spcPct val="170000"/>
              </a:lnSpc>
            </a:pPr>
            <a:r>
              <a:rPr lang="en-US" b="1" dirty="0" err="1">
                <a:latin typeface="Times New Roman" pitchFamily="18" charset="0"/>
                <a:cs typeface="Times New Roman" pitchFamily="18" charset="0"/>
              </a:rPr>
              <a:t>Onselect</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Text is selected</a:t>
            </a:r>
          </a:p>
          <a:p>
            <a:pPr>
              <a:lnSpc>
                <a:spcPct val="170000"/>
              </a:lnSpc>
            </a:pPr>
            <a:r>
              <a:rPr lang="en-US" b="1" dirty="0" err="1">
                <a:latin typeface="Times New Roman" pitchFamily="18" charset="0"/>
                <a:cs typeface="Times New Roman" pitchFamily="18" charset="0"/>
              </a:rPr>
              <a:t>Onkeydown</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 keyboard key is pressed.</a:t>
            </a:r>
          </a:p>
          <a:p>
            <a:pPr>
              <a:lnSpc>
                <a:spcPct val="170000"/>
              </a:lnSpc>
            </a:pPr>
            <a:r>
              <a:rPr lang="en-US" b="1" dirty="0" err="1">
                <a:latin typeface="Times New Roman" pitchFamily="18" charset="0"/>
                <a:cs typeface="Times New Roman" pitchFamily="18" charset="0"/>
              </a:rPr>
              <a:t>Onkeypress</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 keyboard key is pressed or held down.</a:t>
            </a:r>
          </a:p>
          <a:p>
            <a:pPr>
              <a:lnSpc>
                <a:spcPct val="170000"/>
              </a:lnSpc>
            </a:pPr>
            <a:r>
              <a:rPr lang="en-US" b="1" dirty="0" err="1">
                <a:latin typeface="Times New Roman" pitchFamily="18" charset="0"/>
                <a:cs typeface="Times New Roman" pitchFamily="18" charset="0"/>
              </a:rPr>
              <a:t>Onmousemove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 mouse is moved</a:t>
            </a:r>
          </a:p>
          <a:p>
            <a:pPr>
              <a:lnSpc>
                <a:spcPct val="170000"/>
              </a:lnSpc>
            </a:pPr>
            <a:r>
              <a:rPr lang="en-US" b="1" dirty="0" err="1">
                <a:latin typeface="Times New Roman" pitchFamily="18" charset="0"/>
                <a:cs typeface="Times New Roman" pitchFamily="18" charset="0"/>
              </a:rPr>
              <a:t>Onmouseout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	A mouse is moved off an element</a:t>
            </a:r>
          </a:p>
          <a:p>
            <a:pPr>
              <a:lnSpc>
                <a:spcPct val="170000"/>
              </a:lnSpc>
            </a:pPr>
            <a:r>
              <a:rPr lang="en-US" b="1" dirty="0" err="1">
                <a:latin typeface="Times New Roman" pitchFamily="18" charset="0"/>
                <a:cs typeface="Times New Roman" pitchFamily="18" charset="0"/>
              </a:rPr>
              <a:t>Onmouseover</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 mouse is moved over an element.</a:t>
            </a:r>
          </a:p>
          <a:p>
            <a:pPr>
              <a:lnSpc>
                <a:spcPct val="170000"/>
              </a:lnSpc>
            </a:pPr>
            <a:r>
              <a:rPr lang="en-US" b="1" dirty="0" err="1">
                <a:latin typeface="Times New Roman" pitchFamily="18" charset="0"/>
                <a:cs typeface="Times New Roman" pitchFamily="18" charset="0"/>
              </a:rPr>
              <a:t>Onmouseup</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 mouse is released.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35;p46"/>
          <p:cNvPicPr preferRelativeResize="0">
            <a:picLocks noGrp="1"/>
          </p:cNvPicPr>
          <p:nvPr>
            <p:ph idx="1"/>
          </p:nvPr>
        </p:nvPicPr>
        <p:blipFill>
          <a:blip r:embed="rId2">
            <a:alphaModFix/>
          </a:blip>
          <a:stretch>
            <a:fillRect/>
          </a:stretch>
        </p:blipFill>
        <p:spPr>
          <a:xfrm>
            <a:off x="838200" y="381000"/>
            <a:ext cx="7391400" cy="4267200"/>
          </a:xfrm>
          <a:prstGeom prst="rect">
            <a:avLst/>
          </a:prstGeom>
          <a:noFill/>
          <a:ln>
            <a:noFill/>
          </a:ln>
        </p:spPr>
      </p:pic>
      <p:pic>
        <p:nvPicPr>
          <p:cNvPr id="5" name="Google Shape;336;p46"/>
          <p:cNvPicPr preferRelativeResize="0"/>
          <p:nvPr/>
        </p:nvPicPr>
        <p:blipFill>
          <a:blip r:embed="rId3">
            <a:alphaModFix/>
          </a:blip>
          <a:stretch>
            <a:fillRect/>
          </a:stretch>
        </p:blipFill>
        <p:spPr>
          <a:xfrm>
            <a:off x="533400" y="5452529"/>
            <a:ext cx="8077200" cy="1100675"/>
          </a:xfrm>
          <a:prstGeom prst="rect">
            <a:avLst/>
          </a:prstGeom>
          <a:noFill/>
          <a:ln>
            <a:noFill/>
          </a:ln>
        </p:spPr>
      </p:pic>
      <p:sp>
        <p:nvSpPr>
          <p:cNvPr id="6" name="TextBox 5"/>
          <p:cNvSpPr txBox="1"/>
          <p:nvPr/>
        </p:nvSpPr>
        <p:spPr>
          <a:xfrm>
            <a:off x="533400" y="4876800"/>
            <a:ext cx="1524000" cy="523220"/>
          </a:xfrm>
          <a:prstGeom prst="rect">
            <a:avLst/>
          </a:prstGeom>
          <a:noFill/>
        </p:spPr>
        <p:txBody>
          <a:bodyPr wrap="square" rtlCol="0">
            <a:spAutoFit/>
          </a:bodyPr>
          <a:lstStyle/>
          <a:p>
            <a:r>
              <a:rPr lang="en-US" sz="2800" b="1" dirty="0">
                <a:solidFill>
                  <a:srgbClr val="FF0000"/>
                </a:solidFill>
                <a:latin typeface="Times New Roman" pitchFamily="18" charset="0"/>
                <a:cs typeface="Times New Roman" pitchFamily="18" charset="0"/>
              </a:rPr>
              <a:t>Output: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Java Script Object</a:t>
            </a:r>
          </a:p>
        </p:txBody>
      </p:sp>
      <p:sp>
        <p:nvSpPr>
          <p:cNvPr id="3" name="Content Placeholder 2"/>
          <p:cNvSpPr>
            <a:spLocks noGrp="1"/>
          </p:cNvSpPr>
          <p:nvPr>
            <p:ph idx="1"/>
          </p:nvPr>
        </p:nvSpPr>
        <p:spPr>
          <a:xfrm>
            <a:off x="457200" y="990600"/>
            <a:ext cx="8229600" cy="5562600"/>
          </a:xfrm>
        </p:spPr>
        <p:txBody>
          <a:bodyPr>
            <a:normAutofit fontScale="62500" lnSpcReduction="20000"/>
          </a:bodyPr>
          <a:lstStyle/>
          <a:p>
            <a:pPr algn="just">
              <a:lnSpc>
                <a:spcPct val="170000"/>
              </a:lnSpc>
            </a:pPr>
            <a:r>
              <a:rPr lang="en-US" dirty="0">
                <a:latin typeface="Times New Roman" pitchFamily="18" charset="0"/>
                <a:cs typeface="Times New Roman" pitchFamily="18" charset="0"/>
              </a:rPr>
              <a:t>Java script object is an entity having state and behavior (properties and method).</a:t>
            </a:r>
          </a:p>
          <a:p>
            <a:pPr algn="just">
              <a:lnSpc>
                <a:spcPct val="170000"/>
              </a:lnSpc>
            </a:pPr>
            <a:r>
              <a:rPr lang="en-US" dirty="0">
                <a:latin typeface="Times New Roman" pitchFamily="18" charset="0"/>
                <a:cs typeface="Times New Roman" pitchFamily="18" charset="0"/>
              </a:rPr>
              <a:t>In java script, everything is an object.</a:t>
            </a:r>
          </a:p>
          <a:p>
            <a:pPr algn="just">
              <a:lnSpc>
                <a:spcPct val="170000"/>
              </a:lnSpc>
            </a:pPr>
            <a:r>
              <a:rPr lang="en-US" dirty="0">
                <a:latin typeface="Times New Roman" pitchFamily="18" charset="0"/>
                <a:cs typeface="Times New Roman" pitchFamily="18" charset="0"/>
              </a:rPr>
              <a:t>Java script is template based not class base, here class cannot be created to get object, but direct create object.</a:t>
            </a:r>
          </a:p>
          <a:p>
            <a:pPr algn="just">
              <a:lnSpc>
                <a:spcPct val="170000"/>
              </a:lnSpc>
            </a:pPr>
            <a:r>
              <a:rPr lang="en-US" dirty="0">
                <a:latin typeface="Times New Roman" pitchFamily="18" charset="0"/>
                <a:cs typeface="Times New Roman" pitchFamily="18" charset="0"/>
              </a:rPr>
              <a:t>An object is unordered collection of properties, each of which has a name and value</a:t>
            </a:r>
          </a:p>
          <a:p>
            <a:pPr algn="just">
              <a:lnSpc>
                <a:spcPct val="170000"/>
              </a:lnSpc>
            </a:pPr>
            <a:r>
              <a:rPr lang="en-US" dirty="0">
                <a:latin typeface="Times New Roman" pitchFamily="18" charset="0"/>
                <a:cs typeface="Times New Roman" pitchFamily="18" charset="0"/>
              </a:rPr>
              <a:t>There are three ways to create an object</a:t>
            </a:r>
          </a:p>
          <a:p>
            <a:pPr lvl="1" algn="just">
              <a:lnSpc>
                <a:spcPct val="170000"/>
              </a:lnSpc>
            </a:pPr>
            <a:r>
              <a:rPr lang="en-US" dirty="0">
                <a:latin typeface="Times New Roman" pitchFamily="18" charset="0"/>
                <a:cs typeface="Times New Roman" pitchFamily="18" charset="0"/>
              </a:rPr>
              <a:t>By object literal</a:t>
            </a:r>
          </a:p>
          <a:p>
            <a:pPr lvl="1" algn="just">
              <a:lnSpc>
                <a:spcPct val="170000"/>
              </a:lnSpc>
            </a:pPr>
            <a:r>
              <a:rPr lang="en-US" dirty="0">
                <a:latin typeface="Times New Roman" pitchFamily="18" charset="0"/>
                <a:cs typeface="Times New Roman" pitchFamily="18" charset="0"/>
              </a:rPr>
              <a:t>By creating instance of object directly(using new keyword)</a:t>
            </a:r>
          </a:p>
          <a:p>
            <a:pPr lvl="1" algn="just">
              <a:lnSpc>
                <a:spcPct val="170000"/>
              </a:lnSpc>
            </a:pPr>
            <a:r>
              <a:rPr lang="en-US" dirty="0">
                <a:latin typeface="Times New Roman" pitchFamily="18" charset="0"/>
                <a:cs typeface="Times New Roman" pitchFamily="18" charset="0"/>
              </a:rPr>
              <a:t>By using an object constructor.</a:t>
            </a:r>
          </a:p>
          <a:p>
            <a:pPr algn="just">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62500" lnSpcReduction="20000"/>
          </a:bodyPr>
          <a:lstStyle/>
          <a:p>
            <a:pPr>
              <a:lnSpc>
                <a:spcPct val="170000"/>
              </a:lnSpc>
              <a:buNone/>
            </a:pPr>
            <a:r>
              <a:rPr lang="en-US" b="1" dirty="0">
                <a:latin typeface="Times New Roman" pitchFamily="18" charset="0"/>
                <a:cs typeface="Times New Roman" pitchFamily="18" charset="0"/>
              </a:rPr>
              <a:t>JavaScript Object by object literal</a:t>
            </a:r>
          </a:p>
          <a:p>
            <a:pPr>
              <a:lnSpc>
                <a:spcPct val="170000"/>
              </a:lnSpc>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Syntax:</a:t>
            </a:r>
            <a:r>
              <a:rPr lang="en-US" dirty="0">
                <a:latin typeface="Times New Roman" pitchFamily="18" charset="0"/>
                <a:cs typeface="Times New Roman" pitchFamily="18" charset="0"/>
              </a:rPr>
              <a:t> object={property1:value1,property2:value2.....</a:t>
            </a:r>
            <a:r>
              <a:rPr lang="en-US" dirty="0" err="1">
                <a:latin typeface="Times New Roman" pitchFamily="18" charset="0"/>
                <a:cs typeface="Times New Roman" pitchFamily="18" charset="0"/>
              </a:rPr>
              <a:t>propertyN:valueN</a:t>
            </a:r>
            <a:r>
              <a:rPr lang="en-US" dirty="0">
                <a:latin typeface="Times New Roman" pitchFamily="18" charset="0"/>
                <a:cs typeface="Times New Roman" pitchFamily="18" charset="0"/>
              </a:rPr>
              <a:t>} </a:t>
            </a:r>
          </a:p>
          <a:p>
            <a:pPr>
              <a:lnSpc>
                <a:spcPct val="170000"/>
              </a:lnSpc>
              <a:buNone/>
            </a:pPr>
            <a:r>
              <a:rPr lang="en-US" dirty="0">
                <a:latin typeface="Times New Roman" pitchFamily="18" charset="0"/>
                <a:cs typeface="Times New Roman" pitchFamily="18" charset="0"/>
              </a:rPr>
              <a:t>	Example:</a:t>
            </a:r>
          </a:p>
          <a:p>
            <a:pPr lvl="1">
              <a:lnSpc>
                <a:spcPct val="170000"/>
              </a:lnSpc>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&lt;html&gt;</a:t>
            </a:r>
          </a:p>
          <a:p>
            <a:pPr lvl="1">
              <a:lnSpc>
                <a:spcPct val="170000"/>
              </a:lnSpc>
              <a:buNone/>
            </a:pPr>
            <a:r>
              <a:rPr lang="en-US" b="1" dirty="0">
                <a:latin typeface="Times New Roman" pitchFamily="18" charset="0"/>
                <a:cs typeface="Times New Roman" pitchFamily="18" charset="0"/>
              </a:rPr>
              <a:t>	&lt;body&gt;</a:t>
            </a:r>
          </a:p>
          <a:p>
            <a:pPr lvl="1">
              <a:lnSpc>
                <a:spcPct val="170000"/>
              </a:lnSpc>
              <a:buNone/>
            </a:pPr>
            <a:r>
              <a:rPr lang="en-US" b="1" dirty="0">
                <a:latin typeface="Times New Roman" pitchFamily="18" charset="0"/>
                <a:cs typeface="Times New Roman" pitchFamily="18" charset="0"/>
              </a:rPr>
              <a:t>	&lt;script&gt;  </a:t>
            </a:r>
          </a:p>
          <a:p>
            <a:pPr lvl="1">
              <a:lnSpc>
                <a:spcPct val="170000"/>
              </a:lnSpc>
              <a:buNone/>
            </a:pPr>
            <a:r>
              <a:rPr lang="en-US" b="1" dirty="0">
                <a:latin typeface="Times New Roman" pitchFamily="18" charset="0"/>
                <a:cs typeface="Times New Roman" pitchFamily="18" charset="0"/>
              </a:rPr>
              <a:t>	student={roll:102,name:"</a:t>
            </a:r>
            <a:r>
              <a:rPr lang="en-US" b="1" dirty="0" err="1">
                <a:latin typeface="Times New Roman" pitchFamily="18" charset="0"/>
                <a:cs typeface="Times New Roman" pitchFamily="18" charset="0"/>
              </a:rPr>
              <a:t>Shyam</a:t>
            </a:r>
            <a:r>
              <a:rPr lang="en-US" b="1" dirty="0">
                <a:latin typeface="Times New Roman" pitchFamily="18" charset="0"/>
                <a:cs typeface="Times New Roman" pitchFamily="18" charset="0"/>
              </a:rPr>
              <a:t> ",address:"</a:t>
            </a:r>
            <a:r>
              <a:rPr lang="en-US" b="1" dirty="0" err="1">
                <a:latin typeface="Times New Roman" pitchFamily="18" charset="0"/>
                <a:cs typeface="Times New Roman" pitchFamily="18" charset="0"/>
              </a:rPr>
              <a:t>ktm</a:t>
            </a:r>
            <a:r>
              <a:rPr lang="en-US" b="1" dirty="0">
                <a:latin typeface="Times New Roman" pitchFamily="18" charset="0"/>
                <a:cs typeface="Times New Roman" pitchFamily="18" charset="0"/>
              </a:rPr>
              <a:t>"}  </a:t>
            </a:r>
          </a:p>
          <a:p>
            <a:pPr lvl="1">
              <a:lnSpc>
                <a:spcPct val="170000"/>
              </a:lnSpc>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document.write</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student.roll</a:t>
            </a:r>
            <a:r>
              <a:rPr lang="en-US" b="1" dirty="0">
                <a:latin typeface="Times New Roman" pitchFamily="18" charset="0"/>
                <a:cs typeface="Times New Roman" pitchFamily="18" charset="0"/>
              </a:rPr>
              <a:t>+" "+student.name+" "+</a:t>
            </a:r>
            <a:r>
              <a:rPr lang="en-US" b="1" dirty="0" err="1">
                <a:latin typeface="Times New Roman" pitchFamily="18" charset="0"/>
                <a:cs typeface="Times New Roman" pitchFamily="18" charset="0"/>
              </a:rPr>
              <a:t>student.address</a:t>
            </a:r>
            <a:r>
              <a:rPr lang="en-US" b="1" dirty="0">
                <a:latin typeface="Times New Roman" pitchFamily="18" charset="0"/>
                <a:cs typeface="Times New Roman" pitchFamily="18" charset="0"/>
              </a:rPr>
              <a:t>);  </a:t>
            </a:r>
          </a:p>
          <a:p>
            <a:pPr lvl="1">
              <a:lnSpc>
                <a:spcPct val="170000"/>
              </a:lnSpc>
              <a:buNone/>
            </a:pPr>
            <a:r>
              <a:rPr lang="en-US" b="1" dirty="0">
                <a:latin typeface="Times New Roman" pitchFamily="18" charset="0"/>
                <a:cs typeface="Times New Roman" pitchFamily="18" charset="0"/>
              </a:rPr>
              <a:t>	&lt;/script&gt;</a:t>
            </a:r>
          </a:p>
          <a:p>
            <a:pPr lvl="1">
              <a:lnSpc>
                <a:spcPct val="170000"/>
              </a:lnSpc>
              <a:buNone/>
            </a:pPr>
            <a:r>
              <a:rPr lang="en-US" b="1" dirty="0">
                <a:latin typeface="Times New Roman" pitchFamily="18" charset="0"/>
                <a:cs typeface="Times New Roman" pitchFamily="18" charset="0"/>
              </a:rPr>
              <a:t>	&lt;/body&gt;</a:t>
            </a:r>
          </a:p>
          <a:p>
            <a:pPr lvl="1">
              <a:lnSpc>
                <a:spcPct val="170000"/>
              </a:lnSpc>
              <a:buNone/>
            </a:pPr>
            <a:r>
              <a:rPr lang="en-US" b="1" dirty="0">
                <a:latin typeface="Times New Roman" pitchFamily="18" charset="0"/>
                <a:cs typeface="Times New Roman" pitchFamily="18" charset="0"/>
              </a:rPr>
              <a:t>	&lt;/html&gt;</a:t>
            </a:r>
          </a:p>
          <a:p>
            <a:pPr>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62500" lnSpcReduction="20000"/>
          </a:bodyPr>
          <a:lstStyle/>
          <a:p>
            <a:pPr>
              <a:lnSpc>
                <a:spcPct val="170000"/>
              </a:lnSpc>
              <a:buNone/>
            </a:pPr>
            <a:r>
              <a:rPr lang="en-US" b="1" dirty="0">
                <a:latin typeface="Times New Roman" pitchFamily="18" charset="0"/>
                <a:cs typeface="Times New Roman" pitchFamily="18" charset="0"/>
              </a:rPr>
              <a:t>By creating instance of Object</a:t>
            </a:r>
          </a:p>
          <a:p>
            <a:pPr>
              <a:lnSpc>
                <a:spcPct val="170000"/>
              </a:lnSpc>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Syntax:</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objectname</a:t>
            </a:r>
            <a:r>
              <a:rPr lang="en-US" dirty="0">
                <a:latin typeface="Times New Roman" pitchFamily="18" charset="0"/>
                <a:cs typeface="Times New Roman" pitchFamily="18" charset="0"/>
              </a:rPr>
              <a:t>=new Object();  </a:t>
            </a:r>
          </a:p>
          <a:p>
            <a:pPr>
              <a:lnSpc>
                <a:spcPct val="170000"/>
              </a:lnSpc>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Example:</a:t>
            </a:r>
          </a:p>
          <a:p>
            <a:pPr lvl="2">
              <a:lnSpc>
                <a:spcPct val="170000"/>
              </a:lnSpc>
              <a:buNone/>
            </a:pPr>
            <a:r>
              <a:rPr lang="en-US" b="1" dirty="0">
                <a:latin typeface="Times New Roman" pitchFamily="18" charset="0"/>
                <a:cs typeface="Times New Roman" pitchFamily="18" charset="0"/>
              </a:rPr>
              <a:t>&lt;html&gt;</a:t>
            </a:r>
          </a:p>
          <a:p>
            <a:pPr lvl="2">
              <a:lnSpc>
                <a:spcPct val="170000"/>
              </a:lnSpc>
              <a:buNone/>
            </a:pPr>
            <a:r>
              <a:rPr lang="en-US" b="1" dirty="0">
                <a:latin typeface="Times New Roman" pitchFamily="18" charset="0"/>
                <a:cs typeface="Times New Roman" pitchFamily="18" charset="0"/>
              </a:rPr>
              <a:t>&lt;body&gt;</a:t>
            </a:r>
          </a:p>
          <a:p>
            <a:pPr lvl="2">
              <a:lnSpc>
                <a:spcPct val="170000"/>
              </a:lnSpc>
              <a:buNone/>
            </a:pPr>
            <a:r>
              <a:rPr lang="en-US" b="1" dirty="0">
                <a:latin typeface="Times New Roman" pitchFamily="18" charset="0"/>
                <a:cs typeface="Times New Roman" pitchFamily="18" charset="0"/>
              </a:rPr>
              <a:t>&lt;script&gt;  </a:t>
            </a:r>
          </a:p>
          <a:p>
            <a:pPr lvl="2">
              <a:lnSpc>
                <a:spcPct val="170000"/>
              </a:lnSpc>
              <a:buNone/>
            </a:pP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emp</a:t>
            </a:r>
            <a:r>
              <a:rPr lang="en-US" b="1" dirty="0">
                <a:latin typeface="Times New Roman" pitchFamily="18" charset="0"/>
                <a:cs typeface="Times New Roman" pitchFamily="18" charset="0"/>
              </a:rPr>
              <a:t>=new Object();  </a:t>
            </a:r>
          </a:p>
          <a:p>
            <a:pPr lvl="2">
              <a:lnSpc>
                <a:spcPct val="170000"/>
              </a:lnSpc>
              <a:buNone/>
            </a:pPr>
            <a:r>
              <a:rPr lang="en-US" b="1" dirty="0">
                <a:latin typeface="Times New Roman" pitchFamily="18" charset="0"/>
                <a:cs typeface="Times New Roman" pitchFamily="18" charset="0"/>
              </a:rPr>
              <a:t>emp.id=101;  </a:t>
            </a:r>
          </a:p>
          <a:p>
            <a:pPr lvl="2">
              <a:lnSpc>
                <a:spcPct val="170000"/>
              </a:lnSpc>
              <a:buNone/>
            </a:pPr>
            <a:r>
              <a:rPr lang="en-US" b="1" dirty="0">
                <a:latin typeface="Times New Roman" pitchFamily="18" charset="0"/>
                <a:cs typeface="Times New Roman" pitchFamily="18" charset="0"/>
              </a:rPr>
              <a:t>emp.name=“</a:t>
            </a:r>
            <a:r>
              <a:rPr lang="en-US" b="1" dirty="0" err="1">
                <a:latin typeface="Times New Roman" pitchFamily="18" charset="0"/>
                <a:cs typeface="Times New Roman" pitchFamily="18" charset="0"/>
              </a:rPr>
              <a:t>Taveeta</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Lohani</a:t>
            </a:r>
            <a:r>
              <a:rPr lang="en-US" b="1" dirty="0">
                <a:latin typeface="Times New Roman" pitchFamily="18" charset="0"/>
                <a:cs typeface="Times New Roman" pitchFamily="18" charset="0"/>
              </a:rPr>
              <a:t>";  </a:t>
            </a:r>
          </a:p>
          <a:p>
            <a:pPr lvl="2">
              <a:lnSpc>
                <a:spcPct val="170000"/>
              </a:lnSpc>
              <a:buNone/>
            </a:pPr>
            <a:r>
              <a:rPr lang="en-US" b="1" dirty="0" err="1">
                <a:latin typeface="Times New Roman" pitchFamily="18" charset="0"/>
                <a:cs typeface="Times New Roman" pitchFamily="18" charset="0"/>
              </a:rPr>
              <a:t>emp.salary</a:t>
            </a:r>
            <a:r>
              <a:rPr lang="en-US" b="1" dirty="0">
                <a:latin typeface="Times New Roman" pitchFamily="18" charset="0"/>
                <a:cs typeface="Times New Roman" pitchFamily="18" charset="0"/>
              </a:rPr>
              <a:t>=50000;  </a:t>
            </a:r>
          </a:p>
          <a:p>
            <a:pPr lvl="2">
              <a:lnSpc>
                <a:spcPct val="170000"/>
              </a:lnSpc>
              <a:buNone/>
            </a:pPr>
            <a:r>
              <a:rPr lang="en-US" b="1" dirty="0" err="1">
                <a:latin typeface="Times New Roman" pitchFamily="18" charset="0"/>
                <a:cs typeface="Times New Roman" pitchFamily="18" charset="0"/>
              </a:rPr>
              <a:t>document.write</a:t>
            </a:r>
            <a:r>
              <a:rPr lang="en-US" b="1" dirty="0">
                <a:latin typeface="Times New Roman" pitchFamily="18" charset="0"/>
                <a:cs typeface="Times New Roman" pitchFamily="18" charset="0"/>
              </a:rPr>
              <a:t>(emp.id+" "+emp.name+" "+</a:t>
            </a:r>
            <a:r>
              <a:rPr lang="en-US" b="1" dirty="0" err="1">
                <a:latin typeface="Times New Roman" pitchFamily="18" charset="0"/>
                <a:cs typeface="Times New Roman" pitchFamily="18" charset="0"/>
              </a:rPr>
              <a:t>emp.salary</a:t>
            </a:r>
            <a:r>
              <a:rPr lang="en-US" b="1" dirty="0">
                <a:latin typeface="Times New Roman" pitchFamily="18" charset="0"/>
                <a:cs typeface="Times New Roman" pitchFamily="18" charset="0"/>
              </a:rPr>
              <a:t>);  </a:t>
            </a:r>
          </a:p>
          <a:p>
            <a:pPr lvl="2">
              <a:lnSpc>
                <a:spcPct val="170000"/>
              </a:lnSpc>
              <a:buNone/>
            </a:pPr>
            <a:r>
              <a:rPr lang="en-US" b="1" dirty="0">
                <a:latin typeface="Times New Roman" pitchFamily="18" charset="0"/>
                <a:cs typeface="Times New Roman" pitchFamily="18" charset="0"/>
              </a:rPr>
              <a:t>&lt;/script&gt; </a:t>
            </a:r>
          </a:p>
          <a:p>
            <a:pPr lvl="2">
              <a:lnSpc>
                <a:spcPct val="170000"/>
              </a:lnSpc>
              <a:buNone/>
            </a:pPr>
            <a:r>
              <a:rPr lang="en-US" b="1" dirty="0">
                <a:latin typeface="Times New Roman" pitchFamily="18" charset="0"/>
                <a:cs typeface="Times New Roman" pitchFamily="18" charset="0"/>
              </a:rPr>
              <a:t>&lt;/body&gt;</a:t>
            </a:r>
          </a:p>
          <a:p>
            <a:pPr lvl="2">
              <a:lnSpc>
                <a:spcPct val="170000"/>
              </a:lnSpc>
              <a:buNone/>
            </a:pPr>
            <a:r>
              <a:rPr lang="en-US" b="1" dirty="0">
                <a:latin typeface="Times New Roman" pitchFamily="18" charset="0"/>
                <a:cs typeface="Times New Roman" pitchFamily="18" charset="0"/>
              </a:rPr>
              <a:t>&lt;/html&gt;</a:t>
            </a:r>
          </a:p>
          <a:p>
            <a:pPr>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55000" lnSpcReduction="20000"/>
          </a:bodyPr>
          <a:lstStyle/>
          <a:p>
            <a:pPr algn="just">
              <a:lnSpc>
                <a:spcPct val="170000"/>
              </a:lnSpc>
              <a:buNone/>
            </a:pPr>
            <a:r>
              <a:rPr lang="en-US" sz="3600" b="1" dirty="0">
                <a:latin typeface="Times New Roman" pitchFamily="18" charset="0"/>
                <a:cs typeface="Times New Roman" pitchFamily="18" charset="0"/>
              </a:rPr>
              <a:t>By using an Object constructor</a:t>
            </a:r>
          </a:p>
          <a:p>
            <a:pPr algn="just">
              <a:lnSpc>
                <a:spcPct val="170000"/>
              </a:lnSpc>
            </a:pPr>
            <a:r>
              <a:rPr lang="en-US" dirty="0">
                <a:latin typeface="Times New Roman" pitchFamily="18" charset="0"/>
                <a:cs typeface="Times New Roman" pitchFamily="18" charset="0"/>
              </a:rPr>
              <a:t>Here, user need to create function with arguments. Each argument value can be assigned in the current object by using this keyword.</a:t>
            </a:r>
          </a:p>
          <a:p>
            <a:pPr>
              <a:lnSpc>
                <a:spcPct val="170000"/>
              </a:lnSpc>
              <a:buNone/>
            </a:pPr>
            <a:r>
              <a:rPr lang="en-US" dirty="0">
                <a:latin typeface="Times New Roman" pitchFamily="18" charset="0"/>
                <a:cs typeface="Times New Roman" pitchFamily="18" charset="0"/>
              </a:rPr>
              <a:t>	Example:</a:t>
            </a:r>
          </a:p>
          <a:p>
            <a:pPr lvl="1">
              <a:buNone/>
            </a:pPr>
            <a:r>
              <a:rPr lang="en-US" dirty="0">
                <a:latin typeface="Times New Roman" pitchFamily="18" charset="0"/>
                <a:cs typeface="Times New Roman" pitchFamily="18" charset="0"/>
              </a:rPr>
              <a:t>	</a:t>
            </a:r>
            <a:r>
              <a:rPr lang="en-US" sz="2900" b="1" dirty="0">
                <a:latin typeface="Times New Roman" pitchFamily="18" charset="0"/>
                <a:cs typeface="Times New Roman" pitchFamily="18" charset="0"/>
              </a:rPr>
              <a:t>&lt;html&gt;</a:t>
            </a:r>
          </a:p>
          <a:p>
            <a:pPr lvl="1">
              <a:buNone/>
            </a:pPr>
            <a:r>
              <a:rPr lang="en-US" sz="2900" b="1" dirty="0">
                <a:latin typeface="Times New Roman" pitchFamily="18" charset="0"/>
                <a:cs typeface="Times New Roman" pitchFamily="18" charset="0"/>
              </a:rPr>
              <a:t>	&lt;body&gt;</a:t>
            </a:r>
          </a:p>
          <a:p>
            <a:pPr lvl="1">
              <a:buNone/>
            </a:pPr>
            <a:r>
              <a:rPr lang="en-US" sz="2900" b="1" dirty="0">
                <a:latin typeface="Times New Roman" pitchFamily="18" charset="0"/>
                <a:cs typeface="Times New Roman" pitchFamily="18" charset="0"/>
              </a:rPr>
              <a:t>	&lt;script&gt;  </a:t>
            </a:r>
          </a:p>
          <a:p>
            <a:pPr lvl="1">
              <a:buNone/>
            </a:pPr>
            <a:r>
              <a:rPr lang="en-US" sz="2900" b="1" dirty="0">
                <a:latin typeface="Times New Roman" pitchFamily="18" charset="0"/>
                <a:cs typeface="Times New Roman" pitchFamily="18" charset="0"/>
              </a:rPr>
              <a:t>	function </a:t>
            </a:r>
            <a:r>
              <a:rPr lang="en-US" sz="2900" b="1" dirty="0" err="1">
                <a:latin typeface="Times New Roman" pitchFamily="18" charset="0"/>
                <a:cs typeface="Times New Roman" pitchFamily="18" charset="0"/>
              </a:rPr>
              <a:t>emp</a:t>
            </a:r>
            <a:r>
              <a:rPr lang="en-US" sz="2900" b="1" dirty="0">
                <a:latin typeface="Times New Roman" pitchFamily="18" charset="0"/>
                <a:cs typeface="Times New Roman" pitchFamily="18" charset="0"/>
              </a:rPr>
              <a:t>(</a:t>
            </a:r>
            <a:r>
              <a:rPr lang="en-US" sz="2900" b="1" dirty="0" err="1">
                <a:latin typeface="Times New Roman" pitchFamily="18" charset="0"/>
                <a:cs typeface="Times New Roman" pitchFamily="18" charset="0"/>
              </a:rPr>
              <a:t>id,name,salary</a:t>
            </a:r>
            <a:r>
              <a:rPr lang="en-US" sz="2900" b="1" dirty="0">
                <a:latin typeface="Times New Roman" pitchFamily="18" charset="0"/>
                <a:cs typeface="Times New Roman" pitchFamily="18" charset="0"/>
              </a:rPr>
              <a:t>){  </a:t>
            </a:r>
          </a:p>
          <a:p>
            <a:pPr lvl="1">
              <a:buNone/>
            </a:pPr>
            <a:r>
              <a:rPr lang="en-US" sz="2900" b="1" dirty="0">
                <a:latin typeface="Times New Roman" pitchFamily="18" charset="0"/>
                <a:cs typeface="Times New Roman" pitchFamily="18" charset="0"/>
              </a:rPr>
              <a:t>	this.id=id;  </a:t>
            </a:r>
          </a:p>
          <a:p>
            <a:pPr lvl="1">
              <a:buNone/>
            </a:pPr>
            <a:r>
              <a:rPr lang="en-US" sz="2900" b="1" dirty="0">
                <a:latin typeface="Times New Roman" pitchFamily="18" charset="0"/>
                <a:cs typeface="Times New Roman" pitchFamily="18" charset="0"/>
              </a:rPr>
              <a:t>	this.name=name;  </a:t>
            </a:r>
          </a:p>
          <a:p>
            <a:pPr lvl="1">
              <a:buNone/>
            </a:pPr>
            <a:r>
              <a:rPr lang="en-US" sz="2900" b="1" dirty="0">
                <a:latin typeface="Times New Roman" pitchFamily="18" charset="0"/>
                <a:cs typeface="Times New Roman" pitchFamily="18" charset="0"/>
              </a:rPr>
              <a:t>	</a:t>
            </a:r>
            <a:r>
              <a:rPr lang="en-US" sz="2900" b="1" dirty="0" err="1">
                <a:latin typeface="Times New Roman" pitchFamily="18" charset="0"/>
                <a:cs typeface="Times New Roman" pitchFamily="18" charset="0"/>
              </a:rPr>
              <a:t>this.salary</a:t>
            </a:r>
            <a:r>
              <a:rPr lang="en-US" sz="2900" b="1" dirty="0">
                <a:latin typeface="Times New Roman" pitchFamily="18" charset="0"/>
                <a:cs typeface="Times New Roman" pitchFamily="18" charset="0"/>
              </a:rPr>
              <a:t>=salary;  </a:t>
            </a:r>
          </a:p>
          <a:p>
            <a:pPr lvl="1">
              <a:buNone/>
            </a:pPr>
            <a:r>
              <a:rPr lang="en-US" sz="2900" b="1" dirty="0">
                <a:latin typeface="Times New Roman" pitchFamily="18" charset="0"/>
                <a:cs typeface="Times New Roman" pitchFamily="18" charset="0"/>
              </a:rPr>
              <a:t>	}	  </a:t>
            </a:r>
          </a:p>
          <a:p>
            <a:pPr lvl="1">
              <a:buNone/>
            </a:pPr>
            <a:r>
              <a:rPr lang="en-US" sz="2900" b="1" dirty="0">
                <a:latin typeface="Times New Roman" pitchFamily="18" charset="0"/>
                <a:cs typeface="Times New Roman" pitchFamily="18" charset="0"/>
              </a:rPr>
              <a:t>	e=new </a:t>
            </a:r>
            <a:r>
              <a:rPr lang="en-US" sz="2900" b="1" dirty="0" err="1">
                <a:latin typeface="Times New Roman" pitchFamily="18" charset="0"/>
                <a:cs typeface="Times New Roman" pitchFamily="18" charset="0"/>
              </a:rPr>
              <a:t>emp</a:t>
            </a:r>
            <a:r>
              <a:rPr lang="en-US" sz="2900" b="1" dirty="0">
                <a:latin typeface="Times New Roman" pitchFamily="18" charset="0"/>
                <a:cs typeface="Times New Roman" pitchFamily="18" charset="0"/>
              </a:rPr>
              <a:t>(103,“Taveeta Lohani",30000);  </a:t>
            </a:r>
          </a:p>
          <a:p>
            <a:pPr lvl="1">
              <a:buNone/>
            </a:pPr>
            <a:r>
              <a:rPr lang="en-US" sz="2900" b="1" dirty="0">
                <a:latin typeface="Times New Roman" pitchFamily="18" charset="0"/>
                <a:cs typeface="Times New Roman" pitchFamily="18" charset="0"/>
              </a:rPr>
              <a:t>	  </a:t>
            </a:r>
          </a:p>
          <a:p>
            <a:pPr lvl="1">
              <a:buNone/>
            </a:pPr>
            <a:r>
              <a:rPr lang="en-US" sz="2900" b="1" dirty="0">
                <a:latin typeface="Times New Roman" pitchFamily="18" charset="0"/>
                <a:cs typeface="Times New Roman" pitchFamily="18" charset="0"/>
              </a:rPr>
              <a:t>	</a:t>
            </a:r>
            <a:r>
              <a:rPr lang="en-US" sz="2900" b="1" dirty="0" err="1">
                <a:latin typeface="Times New Roman" pitchFamily="18" charset="0"/>
                <a:cs typeface="Times New Roman" pitchFamily="18" charset="0"/>
              </a:rPr>
              <a:t>document.write</a:t>
            </a:r>
            <a:r>
              <a:rPr lang="en-US" sz="2900" b="1" dirty="0">
                <a:latin typeface="Times New Roman" pitchFamily="18" charset="0"/>
                <a:cs typeface="Times New Roman" pitchFamily="18" charset="0"/>
              </a:rPr>
              <a:t>(e.id+" "+e.name+" "+</a:t>
            </a:r>
            <a:r>
              <a:rPr lang="en-US" sz="2900" b="1" dirty="0" err="1">
                <a:latin typeface="Times New Roman" pitchFamily="18" charset="0"/>
                <a:cs typeface="Times New Roman" pitchFamily="18" charset="0"/>
              </a:rPr>
              <a:t>e.salary</a:t>
            </a:r>
            <a:r>
              <a:rPr lang="en-US" sz="2900" b="1" dirty="0">
                <a:latin typeface="Times New Roman" pitchFamily="18" charset="0"/>
                <a:cs typeface="Times New Roman" pitchFamily="18" charset="0"/>
              </a:rPr>
              <a:t>);  </a:t>
            </a:r>
          </a:p>
          <a:p>
            <a:pPr lvl="1">
              <a:buNone/>
            </a:pPr>
            <a:r>
              <a:rPr lang="en-US" sz="2900" b="1" dirty="0">
                <a:latin typeface="Times New Roman" pitchFamily="18" charset="0"/>
                <a:cs typeface="Times New Roman" pitchFamily="18" charset="0"/>
              </a:rPr>
              <a:t>	&lt;/script&gt;  </a:t>
            </a:r>
          </a:p>
          <a:p>
            <a:pPr lvl="1">
              <a:buNone/>
            </a:pPr>
            <a:r>
              <a:rPr lang="en-US" sz="2900" b="1" dirty="0">
                <a:latin typeface="Times New Roman" pitchFamily="18" charset="0"/>
                <a:cs typeface="Times New Roman" pitchFamily="18" charset="0"/>
              </a:rPr>
              <a:t>	&lt;/body&gt;</a:t>
            </a:r>
          </a:p>
          <a:p>
            <a:pPr lvl="1">
              <a:buNone/>
            </a:pPr>
            <a:r>
              <a:rPr lang="en-US" sz="2900" b="1" dirty="0">
                <a:latin typeface="Times New Roman" pitchFamily="18" charset="0"/>
                <a:cs typeface="Times New Roman" pitchFamily="18" charset="0"/>
              </a:rPr>
              <a:t>	&lt;/html&gt;</a:t>
            </a:r>
          </a:p>
          <a:p>
            <a:pPr lvl="1"/>
            <a:endParaRPr lang="en-US" sz="2900" b="1"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script object</a:t>
            </a:r>
          </a:p>
        </p:txBody>
      </p:sp>
      <p:sp>
        <p:nvSpPr>
          <p:cNvPr id="3" name="Content Placeholder 2"/>
          <p:cNvSpPr>
            <a:spLocks noGrp="1"/>
          </p:cNvSpPr>
          <p:nvPr>
            <p:ph idx="1"/>
          </p:nvPr>
        </p:nvSpPr>
        <p:spPr/>
        <p:txBody>
          <a:bodyPr>
            <a:normAutofit fontScale="92500" lnSpcReduction="20000"/>
          </a:bodyPr>
          <a:lstStyle/>
          <a:p>
            <a:pPr algn="just">
              <a:lnSpc>
                <a:spcPct val="150000"/>
              </a:lnSpc>
            </a:pPr>
            <a:r>
              <a:rPr lang="en-US" dirty="0">
                <a:latin typeface="Times New Roman" pitchFamily="18" charset="0"/>
                <a:cs typeface="Times New Roman" pitchFamily="18" charset="0"/>
              </a:rPr>
              <a:t>There are mainly six object used in java script.</a:t>
            </a:r>
          </a:p>
          <a:p>
            <a:pPr lvl="1" algn="just">
              <a:lnSpc>
                <a:spcPct val="150000"/>
              </a:lnSpc>
              <a:buNone/>
            </a:pPr>
            <a:r>
              <a:rPr lang="en-US" dirty="0">
                <a:latin typeface="Times New Roman" pitchFamily="18" charset="0"/>
                <a:cs typeface="Times New Roman" pitchFamily="18" charset="0"/>
              </a:rPr>
              <a:t>1. Array</a:t>
            </a:r>
          </a:p>
          <a:p>
            <a:pPr lvl="1" algn="just">
              <a:lnSpc>
                <a:spcPct val="150000"/>
              </a:lnSpc>
              <a:buNone/>
            </a:pPr>
            <a:r>
              <a:rPr lang="en-US" dirty="0">
                <a:latin typeface="Times New Roman" pitchFamily="18" charset="0"/>
                <a:cs typeface="Times New Roman" pitchFamily="18" charset="0"/>
              </a:rPr>
              <a:t>2. String</a:t>
            </a:r>
          </a:p>
          <a:p>
            <a:pPr lvl="1" algn="just">
              <a:lnSpc>
                <a:spcPct val="150000"/>
              </a:lnSpc>
              <a:buNone/>
            </a:pPr>
            <a:r>
              <a:rPr lang="en-US" dirty="0">
                <a:latin typeface="Times New Roman" pitchFamily="18" charset="0"/>
                <a:cs typeface="Times New Roman" pitchFamily="18" charset="0"/>
              </a:rPr>
              <a:t>3. Math</a:t>
            </a:r>
          </a:p>
          <a:p>
            <a:pPr lvl="1" algn="just">
              <a:lnSpc>
                <a:spcPct val="150000"/>
              </a:lnSpc>
              <a:buNone/>
            </a:pPr>
            <a:r>
              <a:rPr lang="en-US" dirty="0">
                <a:latin typeface="Times New Roman" pitchFamily="18" charset="0"/>
                <a:cs typeface="Times New Roman" pitchFamily="18" charset="0"/>
              </a:rPr>
              <a:t>4. Date</a:t>
            </a:r>
          </a:p>
          <a:p>
            <a:pPr lvl="1" algn="just">
              <a:lnSpc>
                <a:spcPct val="150000"/>
              </a:lnSpc>
              <a:buNone/>
            </a:pPr>
            <a:r>
              <a:rPr lang="en-US" dirty="0">
                <a:latin typeface="Times New Roman" pitchFamily="18" charset="0"/>
                <a:cs typeface="Times New Roman" pitchFamily="18" charset="0"/>
              </a:rPr>
              <a:t>5. Number</a:t>
            </a:r>
          </a:p>
          <a:p>
            <a:pPr lvl="1" algn="just">
              <a:lnSpc>
                <a:spcPct val="150000"/>
              </a:lnSpc>
              <a:buNone/>
            </a:pPr>
            <a:r>
              <a:rPr lang="en-US" dirty="0">
                <a:latin typeface="Times New Roman" pitchFamily="18" charset="0"/>
                <a:cs typeface="Times New Roman" pitchFamily="18" charset="0"/>
              </a:rPr>
              <a:t>6. Boolean</a:t>
            </a:r>
          </a:p>
          <a:p>
            <a:pPr algn="just">
              <a:lnSpc>
                <a:spcPct val="150000"/>
              </a:lnSpc>
            </a:pPr>
            <a:endParaRPr lang="en-US" dirty="0">
              <a:latin typeface="Times New Roman" pitchFamily="18" charset="0"/>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82000" cy="5592763"/>
          </a:xfrm>
        </p:spPr>
        <p:txBody>
          <a:bodyPr>
            <a:normAutofit fontScale="85000" lnSpcReduction="20000"/>
          </a:bodyPr>
          <a:lstStyle/>
          <a:p>
            <a:pPr algn="just">
              <a:lnSpc>
                <a:spcPct val="160000"/>
              </a:lnSpc>
              <a:buNone/>
            </a:pPr>
            <a:r>
              <a:rPr lang="en-US" b="1" dirty="0">
                <a:latin typeface="Times New Roman" pitchFamily="18" charset="0"/>
                <a:cs typeface="Times New Roman" pitchFamily="18" charset="0"/>
              </a:rPr>
              <a:t>1. Arrays:</a:t>
            </a:r>
          </a:p>
          <a:p>
            <a:pPr algn="just">
              <a:lnSpc>
                <a:spcPct val="160000"/>
              </a:lnSpc>
            </a:pPr>
            <a:r>
              <a:rPr lang="en-US" dirty="0">
                <a:latin typeface="Times New Roman" pitchFamily="18" charset="0"/>
                <a:cs typeface="Times New Roman" pitchFamily="18" charset="0"/>
              </a:rPr>
              <a:t>An array is ordered set of data element which can be accessed through single variable.</a:t>
            </a:r>
          </a:p>
          <a:p>
            <a:pPr algn="just">
              <a:lnSpc>
                <a:spcPct val="160000"/>
              </a:lnSpc>
            </a:pPr>
            <a:r>
              <a:rPr lang="en-US" dirty="0">
                <a:latin typeface="Times New Roman" pitchFamily="18" charset="0"/>
                <a:cs typeface="Times New Roman" pitchFamily="18" charset="0"/>
              </a:rPr>
              <a:t>Java script array is an object that represents collection of variable of similar type.</a:t>
            </a:r>
          </a:p>
          <a:p>
            <a:pPr algn="just">
              <a:lnSpc>
                <a:spcPct val="160000"/>
              </a:lnSpc>
            </a:pPr>
            <a:r>
              <a:rPr lang="en-US" dirty="0">
                <a:latin typeface="Times New Roman" pitchFamily="18" charset="0"/>
                <a:cs typeface="Times New Roman" pitchFamily="18" charset="0"/>
              </a:rPr>
              <a:t>There are several way to define arrays in JS</a:t>
            </a:r>
          </a:p>
          <a:p>
            <a:pPr lvl="1" algn="just">
              <a:lnSpc>
                <a:spcPct val="160000"/>
              </a:lnSpc>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&lt;</a:t>
            </a:r>
            <a:r>
              <a:rPr lang="en-US" dirty="0" err="1">
                <a:latin typeface="Times New Roman" pitchFamily="18" charset="0"/>
                <a:cs typeface="Times New Roman" pitchFamily="18" charset="0"/>
              </a:rPr>
              <a:t>arr_name</a:t>
            </a:r>
            <a:r>
              <a:rPr lang="en-US" dirty="0">
                <a:latin typeface="Times New Roman" pitchFamily="18" charset="0"/>
                <a:cs typeface="Times New Roman" pitchFamily="18" charset="0"/>
              </a:rPr>
              <a:t>&gt; = [value 1, value 2,…..,value n];</a:t>
            </a:r>
          </a:p>
          <a:p>
            <a:pPr lvl="1" algn="just">
              <a:lnSpc>
                <a:spcPct val="160000"/>
              </a:lnSpc>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&lt;</a:t>
            </a:r>
            <a:r>
              <a:rPr lang="en-US" dirty="0" err="1">
                <a:latin typeface="Times New Roman" pitchFamily="18" charset="0"/>
                <a:cs typeface="Times New Roman" pitchFamily="18" charset="0"/>
              </a:rPr>
              <a:t>arr_name</a:t>
            </a:r>
            <a:r>
              <a:rPr lang="en-US" dirty="0">
                <a:latin typeface="Times New Roman" pitchFamily="18" charset="0"/>
                <a:cs typeface="Times New Roman" pitchFamily="18" charset="0"/>
              </a:rPr>
              <a:t>&gt; = new Array();</a:t>
            </a:r>
          </a:p>
          <a:p>
            <a:pPr lvl="1" algn="just">
              <a:lnSpc>
                <a:spcPct val="160000"/>
              </a:lnSpc>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&lt;</a:t>
            </a:r>
            <a:r>
              <a:rPr lang="en-US" dirty="0" err="1">
                <a:latin typeface="Times New Roman" pitchFamily="18" charset="0"/>
                <a:cs typeface="Times New Roman" pitchFamily="18" charset="0"/>
              </a:rPr>
              <a:t>arr_name</a:t>
            </a:r>
            <a:r>
              <a:rPr lang="en-US" dirty="0">
                <a:latin typeface="Times New Roman" pitchFamily="18" charset="0"/>
                <a:cs typeface="Times New Roman" pitchFamily="18" charset="0"/>
              </a:rPr>
              <a:t>&gt; = new Array(value 1, value 2,…..,value n);</a:t>
            </a:r>
          </a:p>
          <a:p>
            <a:pPr algn="just">
              <a:lnSpc>
                <a:spcPct val="160000"/>
              </a:lnSpc>
            </a:pPr>
            <a:endParaRPr lang="en-US" dirty="0">
              <a:latin typeface="Times New Roman" pitchFamily="18" charset="0"/>
              <a:cs typeface="Times New Roman" pitchFamily="18" charset="0"/>
            </a:endParaRPr>
          </a:p>
          <a:p>
            <a:pPr algn="just">
              <a:lnSpc>
                <a:spcPct val="160000"/>
              </a:lnSpc>
            </a:pPr>
            <a:endParaRPr lang="en-US" dirty="0">
              <a:latin typeface="Times New Roman" pitchFamily="18" charset="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70000" lnSpcReduction="20000"/>
          </a:bodyPr>
          <a:lstStyle/>
          <a:p>
            <a:pPr>
              <a:lnSpc>
                <a:spcPct val="170000"/>
              </a:lnSpc>
              <a:buNone/>
            </a:pPr>
            <a:r>
              <a:rPr lang="en-US" b="1" dirty="0">
                <a:latin typeface="Times New Roman" pitchFamily="18" charset="0"/>
                <a:cs typeface="Times New Roman" pitchFamily="18" charset="0"/>
              </a:rPr>
              <a:t>JavaScript Array Methods:</a:t>
            </a:r>
          </a:p>
          <a:p>
            <a:pPr>
              <a:lnSpc>
                <a:spcPct val="170000"/>
              </a:lnSpc>
              <a:buNone/>
            </a:pPr>
            <a:r>
              <a:rPr lang="en-US" b="1" dirty="0" err="1">
                <a:latin typeface="Times New Roman" pitchFamily="18" charset="0"/>
                <a:cs typeface="Times New Roman" pitchFamily="18" charset="0"/>
              </a:rPr>
              <a:t>Concat</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It returns a new array object that contains two or more 	     merged arrays.</a:t>
            </a:r>
          </a:p>
          <a:p>
            <a:pPr>
              <a:lnSpc>
                <a:spcPct val="170000"/>
              </a:lnSpc>
              <a:buNone/>
            </a:pPr>
            <a:r>
              <a:rPr lang="en-US" b="1" dirty="0">
                <a:latin typeface="Times New Roman" pitchFamily="18" charset="0"/>
                <a:cs typeface="Times New Roman" pitchFamily="18" charset="0"/>
              </a:rPr>
              <a:t>Find(): </a:t>
            </a:r>
            <a:r>
              <a:rPr lang="en-US" dirty="0">
                <a:latin typeface="Times New Roman" pitchFamily="18" charset="0"/>
                <a:cs typeface="Times New Roman" pitchFamily="18" charset="0"/>
              </a:rPr>
              <a:t>It returns the value of the first element in the given array that 	the specified condition.</a:t>
            </a:r>
          </a:p>
          <a:p>
            <a:pPr>
              <a:lnSpc>
                <a:spcPct val="170000"/>
              </a:lnSpc>
              <a:buNone/>
            </a:pPr>
            <a:r>
              <a:rPr lang="en-US" b="1" dirty="0">
                <a:latin typeface="Times New Roman" pitchFamily="18" charset="0"/>
                <a:cs typeface="Times New Roman" pitchFamily="18" charset="0"/>
              </a:rPr>
              <a:t>Pop():   </a:t>
            </a:r>
            <a:r>
              <a:rPr lang="en-US" dirty="0">
                <a:latin typeface="Times New Roman" pitchFamily="18" charset="0"/>
                <a:cs typeface="Times New Roman" pitchFamily="18" charset="0"/>
              </a:rPr>
              <a:t>It removes and returns the last element of an array.</a:t>
            </a:r>
          </a:p>
          <a:p>
            <a:pPr>
              <a:lnSpc>
                <a:spcPct val="170000"/>
              </a:lnSpc>
              <a:buNone/>
            </a:pPr>
            <a:r>
              <a:rPr lang="en-US" b="1" dirty="0">
                <a:latin typeface="Times New Roman" pitchFamily="18" charset="0"/>
                <a:cs typeface="Times New Roman" pitchFamily="18" charset="0"/>
              </a:rPr>
              <a:t>Push():  </a:t>
            </a:r>
            <a:r>
              <a:rPr lang="en-US" dirty="0">
                <a:latin typeface="Times New Roman" pitchFamily="18" charset="0"/>
                <a:cs typeface="Times New Roman" pitchFamily="18" charset="0"/>
              </a:rPr>
              <a:t>It adds one or more elements to the end of an array.</a:t>
            </a:r>
          </a:p>
          <a:p>
            <a:pPr>
              <a:lnSpc>
                <a:spcPct val="170000"/>
              </a:lnSpc>
              <a:buNone/>
            </a:pPr>
            <a:r>
              <a:rPr lang="en-US" b="1" dirty="0">
                <a:latin typeface="Times New Roman" pitchFamily="18" charset="0"/>
                <a:cs typeface="Times New Roman" pitchFamily="18" charset="0"/>
              </a:rPr>
              <a:t>Reverse(): </a:t>
            </a:r>
            <a:r>
              <a:rPr lang="en-US" dirty="0">
                <a:latin typeface="Times New Roman" pitchFamily="18" charset="0"/>
                <a:cs typeface="Times New Roman" pitchFamily="18" charset="0"/>
              </a:rPr>
              <a:t>It reverses the elements of given array.</a:t>
            </a:r>
          </a:p>
          <a:p>
            <a:pPr>
              <a:lnSpc>
                <a:spcPct val="170000"/>
              </a:lnSpc>
              <a:buNone/>
            </a:pPr>
            <a:r>
              <a:rPr lang="en-US" b="1" dirty="0">
                <a:latin typeface="Times New Roman" pitchFamily="18" charset="0"/>
                <a:cs typeface="Times New Roman" pitchFamily="18" charset="0"/>
              </a:rPr>
              <a:t>Sort():  </a:t>
            </a:r>
            <a:r>
              <a:rPr lang="en-US" dirty="0">
                <a:latin typeface="Times New Roman" pitchFamily="18" charset="0"/>
                <a:cs typeface="Times New Roman" pitchFamily="18" charset="0"/>
              </a:rPr>
              <a:t>It returns the element of the given array in a sorted order.</a:t>
            </a:r>
          </a:p>
          <a:p>
            <a:pPr>
              <a:lnSpc>
                <a:spcPct val="170000"/>
              </a:lnSpc>
              <a:buNone/>
            </a:pPr>
            <a:r>
              <a:rPr lang="en-US" b="1" dirty="0">
                <a:latin typeface="Times New Roman" pitchFamily="18" charset="0"/>
                <a:cs typeface="Times New Roman" pitchFamily="18" charset="0"/>
              </a:rPr>
              <a:t>Slice():</a:t>
            </a:r>
            <a:r>
              <a:rPr lang="en-US" dirty="0">
                <a:latin typeface="Times New Roman" pitchFamily="18" charset="0"/>
                <a:cs typeface="Times New Roman" pitchFamily="18" charset="0"/>
              </a:rPr>
              <a:t>It returns a new array containing the copy of the part of the 	given array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10000"/>
          </a:bodyPr>
          <a:lstStyle/>
          <a:p>
            <a:pPr>
              <a:buNone/>
            </a:pPr>
            <a:r>
              <a:rPr lang="en-US" b="1" dirty="0"/>
              <a:t>Example:</a:t>
            </a:r>
          </a:p>
          <a:p>
            <a:pPr lvl="1">
              <a:buNone/>
            </a:pPr>
            <a:r>
              <a:rPr lang="en-US" dirty="0"/>
              <a:t>&lt;html&gt;</a:t>
            </a:r>
          </a:p>
          <a:p>
            <a:pPr lvl="1">
              <a:buNone/>
            </a:pPr>
            <a:r>
              <a:rPr lang="en-US" dirty="0"/>
              <a:t>&lt;body&gt;</a:t>
            </a:r>
          </a:p>
          <a:p>
            <a:pPr lvl="1">
              <a:buNone/>
            </a:pPr>
            <a:r>
              <a:rPr lang="en-US" dirty="0"/>
              <a:t>&lt;script&gt;  </a:t>
            </a:r>
          </a:p>
          <a:p>
            <a:pPr lvl="1">
              <a:buNone/>
            </a:pPr>
            <a:r>
              <a:rPr lang="en-US" dirty="0" err="1"/>
              <a:t>var</a:t>
            </a:r>
            <a:r>
              <a:rPr lang="en-US" dirty="0"/>
              <a:t> </a:t>
            </a:r>
            <a:r>
              <a:rPr lang="en-US" dirty="0" err="1"/>
              <a:t>emp</a:t>
            </a:r>
            <a:r>
              <a:rPr lang="en-US" dirty="0"/>
              <a:t>=[“</a:t>
            </a:r>
            <a:r>
              <a:rPr lang="en-US" dirty="0" err="1"/>
              <a:t>Taveeta",“supriya",“Tekendra</a:t>
            </a:r>
            <a:r>
              <a:rPr lang="en-US" dirty="0"/>
              <a:t>"];  </a:t>
            </a:r>
          </a:p>
          <a:p>
            <a:pPr lvl="1">
              <a:buNone/>
            </a:pPr>
            <a:r>
              <a:rPr lang="en-US" dirty="0"/>
              <a:t>for (</a:t>
            </a:r>
            <a:r>
              <a:rPr lang="en-US" dirty="0" err="1"/>
              <a:t>i</a:t>
            </a:r>
            <a:r>
              <a:rPr lang="en-US" dirty="0"/>
              <a:t>=0;i&lt;</a:t>
            </a:r>
            <a:r>
              <a:rPr lang="en-US" dirty="0" err="1"/>
              <a:t>emp.length;i</a:t>
            </a:r>
            <a:r>
              <a:rPr lang="en-US" dirty="0"/>
              <a:t>++)</a:t>
            </a:r>
          </a:p>
          <a:p>
            <a:pPr lvl="1">
              <a:buNone/>
            </a:pPr>
            <a:r>
              <a:rPr lang="en-US" dirty="0"/>
              <a:t>{  </a:t>
            </a:r>
          </a:p>
          <a:p>
            <a:pPr lvl="1">
              <a:buNone/>
            </a:pPr>
            <a:r>
              <a:rPr lang="en-US" dirty="0" err="1"/>
              <a:t>document.write</a:t>
            </a:r>
            <a:r>
              <a:rPr lang="en-US" dirty="0"/>
              <a:t>(</a:t>
            </a:r>
            <a:r>
              <a:rPr lang="en-US" dirty="0" err="1"/>
              <a:t>emp</a:t>
            </a:r>
            <a:r>
              <a:rPr lang="en-US" dirty="0"/>
              <a:t>[</a:t>
            </a:r>
            <a:r>
              <a:rPr lang="en-US" dirty="0" err="1"/>
              <a:t>i</a:t>
            </a:r>
            <a:r>
              <a:rPr lang="en-US" dirty="0"/>
              <a:t>] + "&lt;</a:t>
            </a:r>
            <a:r>
              <a:rPr lang="en-US" dirty="0" err="1"/>
              <a:t>br</a:t>
            </a:r>
            <a:r>
              <a:rPr lang="en-US" dirty="0"/>
              <a:t>/&gt;");  </a:t>
            </a:r>
          </a:p>
          <a:p>
            <a:pPr lvl="1">
              <a:buNone/>
            </a:pPr>
            <a:r>
              <a:rPr lang="en-US" dirty="0"/>
              <a:t>}  </a:t>
            </a:r>
          </a:p>
          <a:p>
            <a:pPr lvl="1">
              <a:buNone/>
            </a:pPr>
            <a:r>
              <a:rPr lang="en-US" dirty="0"/>
              <a:t>&lt;/script&gt;  </a:t>
            </a:r>
          </a:p>
          <a:p>
            <a:pPr lvl="1">
              <a:buNone/>
            </a:pPr>
            <a:r>
              <a:rPr lang="en-US" dirty="0"/>
              <a:t>&lt;/body&gt;</a:t>
            </a:r>
          </a:p>
          <a:p>
            <a:pPr lvl="1">
              <a:buNone/>
            </a:pPr>
            <a:r>
              <a:rPr lang="en-US" dirty="0"/>
              <a:t>&lt;/html&gt;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pPr algn="just">
              <a:lnSpc>
                <a:spcPct val="150000"/>
              </a:lnSpc>
              <a:buNone/>
            </a:pPr>
            <a:r>
              <a:rPr lang="en-US" b="1" dirty="0">
                <a:latin typeface="Times New Roman" pitchFamily="18" charset="0"/>
                <a:cs typeface="Times New Roman" pitchFamily="18" charset="0"/>
              </a:rPr>
              <a:t>2.String object</a:t>
            </a:r>
          </a:p>
          <a:p>
            <a:pPr algn="just">
              <a:lnSpc>
                <a:spcPct val="150000"/>
              </a:lnSpc>
            </a:pPr>
            <a:r>
              <a:rPr lang="en-US" dirty="0">
                <a:latin typeface="Times New Roman" pitchFamily="18" charset="0"/>
                <a:cs typeface="Times New Roman" pitchFamily="18" charset="0"/>
              </a:rPr>
              <a:t>String is a set of character enclose in pair of double quotes.</a:t>
            </a:r>
          </a:p>
          <a:p>
            <a:pPr algn="just">
              <a:lnSpc>
                <a:spcPct val="150000"/>
              </a:lnSpc>
            </a:pPr>
            <a:r>
              <a:rPr lang="en-US" dirty="0">
                <a:latin typeface="Times New Roman" pitchFamily="18" charset="0"/>
                <a:cs typeface="Times New Roman" pitchFamily="18" charset="0"/>
              </a:rPr>
              <a:t>Java script  string is an object that represents a sequence of character.</a:t>
            </a:r>
          </a:p>
          <a:p>
            <a:pPr lvl="1" algn="just">
              <a:lnSpc>
                <a:spcPct val="150000"/>
              </a:lnSpc>
              <a:buNone/>
            </a:pPr>
            <a:r>
              <a:rPr lang="en-US" b="1" dirty="0">
                <a:solidFill>
                  <a:srgbClr val="FF0000"/>
                </a:solidFill>
                <a:latin typeface="Times New Roman" pitchFamily="18" charset="0"/>
                <a:cs typeface="Times New Roman" pitchFamily="18" charset="0"/>
              </a:rPr>
              <a:t>Syntax: </a:t>
            </a:r>
          </a:p>
          <a:p>
            <a:pPr lvl="1" algn="just">
              <a:lnSpc>
                <a:spcPct val="150000"/>
              </a:lnSpc>
              <a:buNone/>
            </a:pPr>
            <a:r>
              <a:rPr lang="en-US" b="1" dirty="0" err="1">
                <a:solidFill>
                  <a:srgbClr val="FF0000"/>
                </a:solidFill>
                <a:latin typeface="Times New Roman" pitchFamily="18" charset="0"/>
                <a:cs typeface="Times New Roman" pitchFamily="18" charset="0"/>
              </a:rPr>
              <a:t>Var</a:t>
            </a:r>
            <a:r>
              <a:rPr lang="en-US" b="1" dirty="0">
                <a:solidFill>
                  <a:srgbClr val="FF0000"/>
                </a:solidFill>
                <a:latin typeface="Times New Roman" pitchFamily="18" charset="0"/>
                <a:cs typeface="Times New Roman" pitchFamily="18" charset="0"/>
              </a:rPr>
              <a:t> &lt;string name&gt;=“string value”;</a:t>
            </a:r>
          </a:p>
          <a:p>
            <a:pPr lvl="1" algn="just">
              <a:lnSpc>
                <a:spcPct val="150000"/>
              </a:lnSpc>
              <a:buNone/>
            </a:pPr>
            <a:r>
              <a:rPr lang="en-US" b="1" dirty="0" err="1">
                <a:solidFill>
                  <a:srgbClr val="FF0000"/>
                </a:solidFill>
                <a:latin typeface="Times New Roman" pitchFamily="18" charset="0"/>
                <a:cs typeface="Times New Roman" pitchFamily="18" charset="0"/>
              </a:rPr>
              <a:t>Var</a:t>
            </a:r>
            <a:r>
              <a:rPr lang="en-US" b="1" dirty="0">
                <a:solidFill>
                  <a:srgbClr val="FF0000"/>
                </a:solidFill>
                <a:latin typeface="Times New Roman" pitchFamily="18" charset="0"/>
                <a:cs typeface="Times New Roman" pitchFamily="18" charset="0"/>
              </a:rPr>
              <a:t> &lt;string name&gt;= new string(string value);</a:t>
            </a:r>
          </a:p>
          <a:p>
            <a:pPr algn="just">
              <a:lnSpc>
                <a:spcPct val="150000"/>
              </a:lnSpc>
            </a:pPr>
            <a:r>
              <a:rPr lang="en-US" dirty="0">
                <a:latin typeface="Times New Roman" pitchFamily="18" charset="0"/>
                <a:cs typeface="Times New Roman" pitchFamily="18" charset="0"/>
              </a:rPr>
              <a:t>Property: length.</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70000" lnSpcReduction="20000"/>
          </a:bodyPr>
          <a:lstStyle/>
          <a:p>
            <a:pPr algn="just">
              <a:lnSpc>
                <a:spcPct val="170000"/>
              </a:lnSpc>
              <a:buNone/>
            </a:pPr>
            <a:r>
              <a:rPr lang="en-US" b="1" dirty="0">
                <a:latin typeface="Times New Roman" pitchFamily="18" charset="0"/>
                <a:cs typeface="Times New Roman" pitchFamily="18" charset="0"/>
              </a:rPr>
              <a:t>JavaScript String Methods:</a:t>
            </a:r>
          </a:p>
          <a:p>
            <a:pPr algn="just">
              <a:lnSpc>
                <a:spcPct val="170000"/>
              </a:lnSpc>
              <a:buNone/>
            </a:pPr>
            <a:r>
              <a:rPr lang="en-US" b="1" dirty="0" err="1">
                <a:latin typeface="Times New Roman" pitchFamily="18" charset="0"/>
                <a:cs typeface="Times New Roman" pitchFamily="18" charset="0"/>
              </a:rPr>
              <a:t>charAt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It provides the char value present at the specified index.</a:t>
            </a:r>
          </a:p>
          <a:p>
            <a:pPr algn="just">
              <a:lnSpc>
                <a:spcPct val="170000"/>
              </a:lnSpc>
              <a:buNone/>
            </a:pPr>
            <a:r>
              <a:rPr lang="en-US" b="1" dirty="0" err="1">
                <a:latin typeface="Times New Roman" pitchFamily="18" charset="0"/>
                <a:cs typeface="Times New Roman" pitchFamily="18" charset="0"/>
              </a:rPr>
              <a:t>Concat</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It provides a combination of two or more strings.</a:t>
            </a:r>
          </a:p>
          <a:p>
            <a:pPr algn="just">
              <a:lnSpc>
                <a:spcPct val="170000"/>
              </a:lnSpc>
              <a:buNone/>
            </a:pPr>
            <a:r>
              <a:rPr lang="en-US" b="1" dirty="0" err="1">
                <a:latin typeface="Times New Roman" pitchFamily="18" charset="0"/>
                <a:cs typeface="Times New Roman" pitchFamily="18" charset="0"/>
              </a:rPr>
              <a:t>Indexof</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It provides the position of a char value present in the given string.</a:t>
            </a:r>
          </a:p>
          <a:p>
            <a:pPr algn="just">
              <a:lnSpc>
                <a:spcPct val="170000"/>
              </a:lnSpc>
              <a:buNone/>
            </a:pPr>
            <a:r>
              <a:rPr lang="en-US" b="1" dirty="0" err="1">
                <a:latin typeface="Times New Roman" pitchFamily="18" charset="0"/>
                <a:cs typeface="Times New Roman" pitchFamily="18" charset="0"/>
              </a:rPr>
              <a:t>toLowerCase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It converts the given string into lowercase letter.</a:t>
            </a:r>
          </a:p>
          <a:p>
            <a:pPr algn="just">
              <a:lnSpc>
                <a:spcPct val="170000"/>
              </a:lnSpc>
              <a:buNone/>
            </a:pPr>
            <a:r>
              <a:rPr lang="en-US" b="1" dirty="0" err="1">
                <a:latin typeface="Times New Roman" pitchFamily="18" charset="0"/>
                <a:cs typeface="Times New Roman" pitchFamily="18" charset="0"/>
              </a:rPr>
              <a:t>toUpperCase</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It converts the given string into uppercase letter.</a:t>
            </a:r>
          </a:p>
          <a:p>
            <a:pPr algn="just">
              <a:lnSpc>
                <a:spcPct val="170000"/>
              </a:lnSpc>
              <a:buNone/>
            </a:pPr>
            <a:r>
              <a:rPr lang="en-US" b="1" dirty="0">
                <a:latin typeface="Times New Roman" pitchFamily="18" charset="0"/>
                <a:cs typeface="Times New Roman" pitchFamily="18" charset="0"/>
              </a:rPr>
              <a:t>Trim(): </a:t>
            </a:r>
            <a:r>
              <a:rPr lang="en-US" dirty="0">
                <a:latin typeface="Times New Roman" pitchFamily="18" charset="0"/>
                <a:cs typeface="Times New Roman" pitchFamily="18" charset="0"/>
              </a:rPr>
              <a:t>remove leading and tailing whitespace.</a:t>
            </a:r>
          </a:p>
          <a:p>
            <a:pPr algn="just">
              <a:lnSpc>
                <a:spcPct val="170000"/>
              </a:lnSpc>
              <a:buNone/>
            </a:pPr>
            <a:r>
              <a:rPr lang="en-US" b="1" dirty="0">
                <a:latin typeface="Times New Roman" pitchFamily="18" charset="0"/>
                <a:cs typeface="Times New Roman" pitchFamily="18" charset="0"/>
              </a:rPr>
              <a:t>Slice(): </a:t>
            </a:r>
            <a:r>
              <a:rPr lang="en-US" dirty="0">
                <a:latin typeface="Times New Roman" pitchFamily="18" charset="0"/>
                <a:cs typeface="Times New Roman" pitchFamily="18" charset="0"/>
              </a:rPr>
              <a:t>returns substring.</a:t>
            </a:r>
          </a:p>
          <a:p>
            <a:pPr algn="just">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r>
              <a:rPr lang="en-US" b="1" dirty="0"/>
              <a:t>Example:</a:t>
            </a:r>
          </a:p>
          <a:p>
            <a:pPr lvl="1">
              <a:buNone/>
            </a:pPr>
            <a:r>
              <a:rPr lang="en-US" dirty="0">
                <a:latin typeface="Times New Roman" pitchFamily="18" charset="0"/>
                <a:cs typeface="Times New Roman" pitchFamily="18" charset="0"/>
              </a:rPr>
              <a:t>&lt;html&gt;</a:t>
            </a:r>
          </a:p>
          <a:p>
            <a:pPr lvl="1">
              <a:buNone/>
            </a:pPr>
            <a:r>
              <a:rPr lang="en-US" dirty="0">
                <a:latin typeface="Times New Roman" pitchFamily="18" charset="0"/>
                <a:cs typeface="Times New Roman" pitchFamily="18" charset="0"/>
              </a:rPr>
              <a:t>&lt;body&gt;</a:t>
            </a:r>
          </a:p>
          <a:p>
            <a:pPr lvl="1"/>
            <a:endParaRPr lang="en-US" dirty="0">
              <a:latin typeface="Times New Roman" pitchFamily="18" charset="0"/>
              <a:cs typeface="Times New Roman" pitchFamily="18" charset="0"/>
            </a:endParaRPr>
          </a:p>
          <a:p>
            <a:pPr lvl="1">
              <a:buNone/>
            </a:pPr>
            <a:r>
              <a:rPr lang="en-US" dirty="0">
                <a:latin typeface="Times New Roman" pitchFamily="18" charset="0"/>
                <a:cs typeface="Times New Roman" pitchFamily="18" charset="0"/>
              </a:rPr>
              <a:t>&lt;script&gt;</a:t>
            </a:r>
          </a:p>
          <a:p>
            <a:pPr lvl="1">
              <a:buNone/>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str</a:t>
            </a:r>
            <a:r>
              <a:rPr lang="en-US" dirty="0">
                <a:latin typeface="Times New Roman" pitchFamily="18" charset="0"/>
                <a:cs typeface="Times New Roman" pitchFamily="18" charset="0"/>
              </a:rPr>
              <a:t> = “TRIBHUVAN UNIVERSITY";</a:t>
            </a:r>
          </a:p>
          <a:p>
            <a:pPr lvl="1">
              <a:buNone/>
            </a:pPr>
            <a:r>
              <a:rPr lang="en-US" dirty="0" err="1">
                <a:latin typeface="Times New Roman" pitchFamily="18" charset="0"/>
                <a:cs typeface="Times New Roman" pitchFamily="18" charset="0"/>
              </a:rPr>
              <a:t>document.writeln</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str.toLowerCase</a:t>
            </a:r>
            <a:r>
              <a:rPr lang="en-US" dirty="0">
                <a:latin typeface="Times New Roman" pitchFamily="18" charset="0"/>
                <a:cs typeface="Times New Roman" pitchFamily="18" charset="0"/>
              </a:rPr>
              <a:t>());</a:t>
            </a:r>
          </a:p>
          <a:p>
            <a:pPr lvl="1">
              <a:buNone/>
            </a:pPr>
            <a:r>
              <a:rPr lang="en-US" dirty="0">
                <a:latin typeface="Times New Roman" pitchFamily="18" charset="0"/>
                <a:cs typeface="Times New Roman" pitchFamily="18" charset="0"/>
              </a:rPr>
              <a:t>&lt;/script&gt;</a:t>
            </a:r>
          </a:p>
          <a:p>
            <a:pPr lvl="1">
              <a:buNone/>
            </a:pPr>
            <a:endParaRPr lang="en-US" dirty="0">
              <a:latin typeface="Times New Roman" pitchFamily="18" charset="0"/>
              <a:cs typeface="Times New Roman" pitchFamily="18" charset="0"/>
            </a:endParaRPr>
          </a:p>
          <a:p>
            <a:pPr lvl="1">
              <a:buNone/>
            </a:pPr>
            <a:r>
              <a:rPr lang="en-US" dirty="0">
                <a:latin typeface="Times New Roman" pitchFamily="18" charset="0"/>
                <a:cs typeface="Times New Roman" pitchFamily="18" charset="0"/>
              </a:rPr>
              <a:t>&lt;/body&gt;</a:t>
            </a:r>
          </a:p>
          <a:p>
            <a:pPr lvl="1">
              <a:buNone/>
            </a:pPr>
            <a:r>
              <a:rPr lang="en-US" dirty="0">
                <a:latin typeface="Times New Roman" pitchFamily="18" charset="0"/>
                <a:cs typeface="Times New Roman" pitchFamily="18" charset="0"/>
              </a:rPr>
              <a:t>&lt;/html&gt;</a:t>
            </a:r>
          </a:p>
          <a:p>
            <a:pPr lvl="1"/>
            <a:endParaRPr lang="en-US" dirty="0">
              <a:latin typeface="Times New Roman" pitchFamily="18" charset="0"/>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19800"/>
          </a:xfrm>
        </p:spPr>
        <p:txBody>
          <a:bodyPr>
            <a:normAutofit fontScale="47500" lnSpcReduction="20000"/>
          </a:bodyPr>
          <a:lstStyle/>
          <a:p>
            <a:pPr algn="just">
              <a:lnSpc>
                <a:spcPct val="170000"/>
              </a:lnSpc>
              <a:buNone/>
            </a:pPr>
            <a:r>
              <a:rPr lang="en-US" sz="3800" b="1" dirty="0">
                <a:latin typeface="Times New Roman" pitchFamily="18" charset="0"/>
                <a:cs typeface="Times New Roman" pitchFamily="18" charset="0"/>
              </a:rPr>
              <a:t>Math object:</a:t>
            </a:r>
          </a:p>
          <a:p>
            <a:pPr algn="just">
              <a:lnSpc>
                <a:spcPct val="170000"/>
              </a:lnSpc>
              <a:buNone/>
            </a:pPr>
            <a:r>
              <a:rPr lang="en-US" sz="3800" dirty="0">
                <a:latin typeface="Times New Roman" pitchFamily="18" charset="0"/>
                <a:cs typeface="Times New Roman" pitchFamily="18" charset="0"/>
              </a:rPr>
              <a:t>      Java script math object provides several constants and methods to perform mathematical operation.</a:t>
            </a:r>
          </a:p>
          <a:p>
            <a:pPr lvl="1" algn="just">
              <a:lnSpc>
                <a:spcPct val="170000"/>
              </a:lnSpc>
              <a:buNone/>
            </a:pPr>
            <a:r>
              <a:rPr lang="en-US" b="1" dirty="0">
                <a:latin typeface="Times New Roman" pitchFamily="18" charset="0"/>
                <a:cs typeface="Times New Roman" pitchFamily="18" charset="0"/>
              </a:rPr>
              <a:t>Method:</a:t>
            </a:r>
          </a:p>
          <a:p>
            <a:pPr lvl="1" algn="just">
              <a:lnSpc>
                <a:spcPct val="170000"/>
              </a:lnSpc>
            </a:pPr>
            <a:r>
              <a:rPr lang="en-US" dirty="0">
                <a:latin typeface="Times New Roman" pitchFamily="18" charset="0"/>
                <a:cs typeface="Times New Roman" pitchFamily="18" charset="0"/>
              </a:rPr>
              <a:t>Math.sqrt()</a:t>
            </a:r>
          </a:p>
          <a:p>
            <a:pPr lvl="1" algn="just">
              <a:lnSpc>
                <a:spcPct val="170000"/>
              </a:lnSpc>
            </a:pPr>
            <a:r>
              <a:rPr lang="en-US" dirty="0">
                <a:latin typeface="Times New Roman" pitchFamily="18" charset="0"/>
                <a:cs typeface="Times New Roman" pitchFamily="18" charset="0"/>
              </a:rPr>
              <a:t>Math. Random()</a:t>
            </a:r>
          </a:p>
          <a:p>
            <a:pPr lvl="1" algn="just">
              <a:lnSpc>
                <a:spcPct val="170000"/>
              </a:lnSpc>
            </a:pPr>
            <a:r>
              <a:rPr lang="en-US" dirty="0">
                <a:latin typeface="Times New Roman" pitchFamily="18" charset="0"/>
                <a:cs typeface="Times New Roman" pitchFamily="18" charset="0"/>
              </a:rPr>
              <a:t>Math.floor()</a:t>
            </a:r>
          </a:p>
          <a:p>
            <a:pPr lvl="1" algn="just">
              <a:lnSpc>
                <a:spcPct val="170000"/>
              </a:lnSpc>
            </a:pPr>
            <a:r>
              <a:rPr lang="en-US" dirty="0">
                <a:latin typeface="Times New Roman" pitchFamily="18" charset="0"/>
                <a:cs typeface="Times New Roman" pitchFamily="18" charset="0"/>
              </a:rPr>
              <a:t>Math. Ceil()</a:t>
            </a:r>
          </a:p>
          <a:p>
            <a:pPr lvl="1" algn="just">
              <a:lnSpc>
                <a:spcPct val="170000"/>
              </a:lnSpc>
            </a:pPr>
            <a:r>
              <a:rPr lang="en-US" dirty="0">
                <a:latin typeface="Times New Roman" pitchFamily="18" charset="0"/>
                <a:cs typeface="Times New Roman" pitchFamily="18" charset="0"/>
              </a:rPr>
              <a:t>Math.abs()</a:t>
            </a:r>
          </a:p>
          <a:p>
            <a:pPr lvl="1" algn="just">
              <a:lnSpc>
                <a:spcPct val="170000"/>
              </a:lnSpc>
            </a:pPr>
            <a:r>
              <a:rPr lang="en-US" dirty="0">
                <a:latin typeface="Times New Roman" pitchFamily="18" charset="0"/>
                <a:cs typeface="Times New Roman" pitchFamily="18" charset="0"/>
              </a:rPr>
              <a:t>Math.min()</a:t>
            </a:r>
          </a:p>
          <a:p>
            <a:pPr lvl="1" algn="just">
              <a:lnSpc>
                <a:spcPct val="170000"/>
              </a:lnSpc>
            </a:pPr>
            <a:r>
              <a:rPr lang="en-US" dirty="0">
                <a:latin typeface="Times New Roman" pitchFamily="18" charset="0"/>
                <a:cs typeface="Times New Roman" pitchFamily="18" charset="0"/>
              </a:rPr>
              <a:t>Math.max()</a:t>
            </a:r>
          </a:p>
          <a:p>
            <a:pPr lvl="1" algn="just">
              <a:lnSpc>
                <a:spcPct val="170000"/>
              </a:lnSpc>
            </a:pPr>
            <a:r>
              <a:rPr lang="en-US" dirty="0">
                <a:latin typeface="Times New Roman" pitchFamily="18" charset="0"/>
                <a:cs typeface="Times New Roman" pitchFamily="18" charset="0"/>
              </a:rPr>
              <a:t>Math.sin()</a:t>
            </a:r>
          </a:p>
          <a:p>
            <a:pPr lvl="1" algn="just">
              <a:lnSpc>
                <a:spcPct val="170000"/>
              </a:lnSpc>
            </a:pPr>
            <a:r>
              <a:rPr lang="en-US" dirty="0">
                <a:latin typeface="Times New Roman" pitchFamily="18" charset="0"/>
                <a:cs typeface="Times New Roman" pitchFamily="18" charset="0"/>
              </a:rPr>
              <a:t>Math.cos()</a:t>
            </a:r>
          </a:p>
          <a:p>
            <a:pPr lvl="1" algn="just">
              <a:lnSpc>
                <a:spcPct val="170000"/>
              </a:lnSpc>
            </a:pPr>
            <a:r>
              <a:rPr lang="en-US" dirty="0">
                <a:latin typeface="Times New Roman" pitchFamily="18" charset="0"/>
                <a:cs typeface="Times New Roman" pitchFamily="18" charset="0"/>
              </a:rPr>
              <a:t>Math.tan()</a:t>
            </a:r>
          </a:p>
          <a:p>
            <a:pPr lvl="1" algn="just">
              <a:lnSpc>
                <a:spcPct val="170000"/>
              </a:lnSpc>
            </a:pPr>
            <a:r>
              <a:rPr lang="en-US" dirty="0">
                <a:latin typeface="Times New Roman" pitchFamily="18" charset="0"/>
                <a:cs typeface="Times New Roman" pitchFamily="18" charset="0"/>
              </a:rPr>
              <a:t>Math.exp()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7500" lnSpcReduction="20000"/>
          </a:bodyPr>
          <a:lstStyle/>
          <a:p>
            <a:pPr>
              <a:buNone/>
            </a:pPr>
            <a:r>
              <a:rPr lang="en-US" b="1" dirty="0">
                <a:latin typeface="Times New Roman" pitchFamily="18" charset="0"/>
                <a:cs typeface="Times New Roman" pitchFamily="18" charset="0"/>
              </a:rPr>
              <a:t>Date object:</a:t>
            </a:r>
          </a:p>
          <a:p>
            <a:pPr algn="just">
              <a:lnSpc>
                <a:spcPct val="160000"/>
              </a:lnSpc>
            </a:pPr>
            <a:r>
              <a:rPr lang="en-US" dirty="0">
                <a:latin typeface="Times New Roman" pitchFamily="18" charset="0"/>
                <a:cs typeface="Times New Roman" pitchFamily="18" charset="0"/>
              </a:rPr>
              <a:t>Java script date object is used to obtain a date and time .</a:t>
            </a:r>
          </a:p>
          <a:p>
            <a:pPr algn="just">
              <a:lnSpc>
                <a:spcPct val="160000"/>
              </a:lnSpc>
            </a:pPr>
            <a:r>
              <a:rPr lang="en-US" dirty="0">
                <a:latin typeface="Times New Roman" pitchFamily="18" charset="0"/>
                <a:cs typeface="Times New Roman" pitchFamily="18" charset="0"/>
              </a:rPr>
              <a:t>This date and time is based on computer local time</a:t>
            </a:r>
          </a:p>
          <a:p>
            <a:pPr algn="just">
              <a:lnSpc>
                <a:spcPct val="160000"/>
              </a:lnSpc>
            </a:pPr>
            <a:r>
              <a:rPr lang="en-US" dirty="0">
                <a:latin typeface="Times New Roman" pitchFamily="18" charset="0"/>
                <a:cs typeface="Times New Roman" pitchFamily="18" charset="0"/>
              </a:rPr>
              <a:t>Use different date constructor to create data object.</a:t>
            </a:r>
          </a:p>
          <a:p>
            <a:pPr algn="just">
              <a:lnSpc>
                <a:spcPct val="160000"/>
              </a:lnSpc>
            </a:pPr>
            <a:r>
              <a:rPr lang="en-US" dirty="0">
                <a:latin typeface="Times New Roman" pitchFamily="18" charset="0"/>
                <a:cs typeface="Times New Roman" pitchFamily="18" charset="0"/>
              </a:rPr>
              <a:t>Syntax:</a:t>
            </a:r>
          </a:p>
          <a:p>
            <a:pPr lvl="1" algn="just">
              <a:lnSpc>
                <a:spcPct val="160000"/>
              </a:lnSpc>
            </a:pPr>
            <a:r>
              <a:rPr lang="en-US" dirty="0">
                <a:latin typeface="Times New Roman" pitchFamily="18" charset="0"/>
                <a:cs typeface="Times New Roman" pitchFamily="18" charset="0"/>
              </a:rPr>
              <a:t> Date()</a:t>
            </a:r>
          </a:p>
          <a:p>
            <a:pPr lvl="1" algn="just">
              <a:lnSpc>
                <a:spcPct val="160000"/>
              </a:lnSpc>
            </a:pPr>
            <a:r>
              <a:rPr lang="en-US" dirty="0">
                <a:latin typeface="Times New Roman" pitchFamily="18" charset="0"/>
                <a:cs typeface="Times New Roman" pitchFamily="18" charset="0"/>
              </a:rPr>
              <a:t>Date(</a:t>
            </a:r>
            <a:r>
              <a:rPr lang="en-US" dirty="0" err="1">
                <a:latin typeface="Times New Roman" pitchFamily="18" charset="0"/>
                <a:cs typeface="Times New Roman" pitchFamily="18" charset="0"/>
              </a:rPr>
              <a:t>miliseconds</a:t>
            </a:r>
            <a:r>
              <a:rPr lang="en-US" dirty="0">
                <a:latin typeface="Times New Roman" pitchFamily="18" charset="0"/>
                <a:cs typeface="Times New Roman" pitchFamily="18" charset="0"/>
              </a:rPr>
              <a:t>)</a:t>
            </a:r>
          </a:p>
          <a:p>
            <a:pPr lvl="1" algn="just">
              <a:lnSpc>
                <a:spcPct val="160000"/>
              </a:lnSpc>
            </a:pPr>
            <a:r>
              <a:rPr lang="en-US" dirty="0">
                <a:latin typeface="Times New Roman" pitchFamily="18" charset="0"/>
                <a:cs typeface="Times New Roman" pitchFamily="18" charset="0"/>
              </a:rPr>
              <a:t>Date(</a:t>
            </a:r>
            <a:r>
              <a:rPr lang="en-US" dirty="0" err="1">
                <a:latin typeface="Times New Roman" pitchFamily="18" charset="0"/>
                <a:cs typeface="Times New Roman" pitchFamily="18" charset="0"/>
              </a:rPr>
              <a:t>datestring</a:t>
            </a:r>
            <a:r>
              <a:rPr lang="en-US" dirty="0">
                <a:latin typeface="Times New Roman" pitchFamily="18" charset="0"/>
                <a:cs typeface="Times New Roman" pitchFamily="18" charset="0"/>
              </a:rPr>
              <a:t>)</a:t>
            </a:r>
          </a:p>
          <a:p>
            <a:pPr lvl="1" algn="just">
              <a:lnSpc>
                <a:spcPct val="160000"/>
              </a:lnSpc>
            </a:pPr>
            <a:r>
              <a:rPr lang="en-US" dirty="0">
                <a:latin typeface="Times New Roman" pitchFamily="18" charset="0"/>
                <a:cs typeface="Times New Roman" pitchFamily="18" charset="0"/>
              </a:rPr>
              <a:t>Date(year, </a:t>
            </a:r>
            <a:r>
              <a:rPr lang="en-US" dirty="0" err="1">
                <a:latin typeface="Times New Roman" pitchFamily="18" charset="0"/>
                <a:cs typeface="Times New Roman" pitchFamily="18" charset="0"/>
              </a:rPr>
              <a:t>month,day,h,m,s,ms</a:t>
            </a:r>
            <a:r>
              <a:rPr lang="en-US" dirty="0">
                <a:latin typeface="Times New Roman" pitchFamily="18" charset="0"/>
                <a:cs typeface="Times New Roman" pitchFamily="18" charset="0"/>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r>
              <a:rPr lang="en-US" dirty="0"/>
              <a:t>Methods:</a:t>
            </a:r>
          </a:p>
          <a:p>
            <a:pPr lvl="1" algn="just"/>
            <a:r>
              <a:rPr lang="en-US" dirty="0" err="1">
                <a:latin typeface="Times New Roman" pitchFamily="18" charset="0"/>
                <a:cs typeface="Times New Roman" pitchFamily="18" charset="0"/>
              </a:rPr>
              <a:t>getFullyear</a:t>
            </a:r>
            <a:r>
              <a:rPr lang="en-US" dirty="0">
                <a:latin typeface="Times New Roman" pitchFamily="18" charset="0"/>
                <a:cs typeface="Times New Roman" pitchFamily="18" charset="0"/>
              </a:rPr>
              <a:t>()</a:t>
            </a:r>
          </a:p>
          <a:p>
            <a:pPr lvl="1" algn="just"/>
            <a:r>
              <a:rPr lang="en-US" dirty="0" err="1">
                <a:latin typeface="Times New Roman" pitchFamily="18" charset="0"/>
                <a:cs typeface="Times New Roman" pitchFamily="18" charset="0"/>
              </a:rPr>
              <a:t>getMonth</a:t>
            </a:r>
            <a:r>
              <a:rPr lang="en-US" dirty="0">
                <a:latin typeface="Times New Roman" pitchFamily="18" charset="0"/>
                <a:cs typeface="Times New Roman" pitchFamily="18" charset="0"/>
              </a:rPr>
              <a:t>()</a:t>
            </a:r>
          </a:p>
          <a:p>
            <a:pPr lvl="1" algn="just"/>
            <a:r>
              <a:rPr lang="en-US" dirty="0" err="1">
                <a:latin typeface="Times New Roman" pitchFamily="18" charset="0"/>
                <a:cs typeface="Times New Roman" pitchFamily="18" charset="0"/>
              </a:rPr>
              <a:t>getDate</a:t>
            </a:r>
            <a:r>
              <a:rPr lang="en-US" dirty="0">
                <a:latin typeface="Times New Roman" pitchFamily="18" charset="0"/>
                <a:cs typeface="Times New Roman" pitchFamily="18" charset="0"/>
              </a:rPr>
              <a:t>()</a:t>
            </a:r>
          </a:p>
          <a:p>
            <a:pPr lvl="1" algn="just"/>
            <a:r>
              <a:rPr lang="en-US" dirty="0" err="1">
                <a:latin typeface="Times New Roman" pitchFamily="18" charset="0"/>
                <a:cs typeface="Times New Roman" pitchFamily="18" charset="0"/>
              </a:rPr>
              <a:t>getDay</a:t>
            </a:r>
            <a:r>
              <a:rPr lang="en-US" dirty="0">
                <a:latin typeface="Times New Roman" pitchFamily="18" charset="0"/>
                <a:cs typeface="Times New Roman" pitchFamily="18" charset="0"/>
              </a:rPr>
              <a:t>()</a:t>
            </a:r>
          </a:p>
          <a:p>
            <a:pPr lvl="1" algn="just"/>
            <a:r>
              <a:rPr lang="en-US" dirty="0" err="1">
                <a:latin typeface="Times New Roman" pitchFamily="18" charset="0"/>
                <a:cs typeface="Times New Roman" pitchFamily="18" charset="0"/>
              </a:rPr>
              <a:t>getHours</a:t>
            </a:r>
            <a:r>
              <a:rPr lang="en-US" dirty="0">
                <a:latin typeface="Times New Roman" pitchFamily="18" charset="0"/>
                <a:cs typeface="Times New Roman" pitchFamily="18" charset="0"/>
              </a:rPr>
              <a:t>()</a:t>
            </a:r>
          </a:p>
          <a:p>
            <a:pPr lvl="1" algn="just"/>
            <a:r>
              <a:rPr lang="en-US" dirty="0" err="1">
                <a:latin typeface="Times New Roman" pitchFamily="18" charset="0"/>
                <a:cs typeface="Times New Roman" pitchFamily="18" charset="0"/>
              </a:rPr>
              <a:t>getMinutes</a:t>
            </a:r>
            <a:r>
              <a:rPr lang="en-US" dirty="0">
                <a:latin typeface="Times New Roman" pitchFamily="18" charset="0"/>
                <a:cs typeface="Times New Roman" pitchFamily="18" charset="0"/>
              </a:rPr>
              <a:t>()</a:t>
            </a:r>
          </a:p>
          <a:p>
            <a:pPr lvl="1" algn="just"/>
            <a:r>
              <a:rPr lang="en-US" dirty="0" err="1">
                <a:latin typeface="Times New Roman" pitchFamily="18" charset="0"/>
                <a:cs typeface="Times New Roman" pitchFamily="18" charset="0"/>
              </a:rPr>
              <a:t>getSeconds</a:t>
            </a:r>
            <a:r>
              <a:rPr lang="en-US" dirty="0">
                <a:latin typeface="Times New Roman" pitchFamily="18" charset="0"/>
                <a:cs typeface="Times New Roman" pitchFamily="18" charset="0"/>
              </a:rPr>
              <a:t>()</a:t>
            </a:r>
          </a:p>
          <a:p>
            <a:pPr lvl="1" algn="just"/>
            <a:r>
              <a:rPr lang="en-US" dirty="0" err="1">
                <a:latin typeface="Times New Roman" pitchFamily="18" charset="0"/>
                <a:cs typeface="Times New Roman" pitchFamily="18" charset="0"/>
              </a:rPr>
              <a:t>getMiliseconds</a:t>
            </a:r>
            <a:r>
              <a:rPr lang="en-US" dirty="0">
                <a:latin typeface="Times New Roman" pitchFamily="18" charset="0"/>
                <a:cs typeface="Times New Roman" pitchFamily="18" charset="0"/>
              </a:rPr>
              <a:t>()</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pPr>
              <a:buNone/>
            </a:pPr>
            <a:r>
              <a:rPr lang="en-US" b="1" dirty="0"/>
              <a:t>Example:</a:t>
            </a:r>
          </a:p>
          <a:p>
            <a:pPr lvl="1">
              <a:buNone/>
            </a:pPr>
            <a:r>
              <a:rPr lang="en-US" dirty="0">
                <a:latin typeface="Times New Roman" pitchFamily="18" charset="0"/>
                <a:cs typeface="Times New Roman" pitchFamily="18" charset="0"/>
              </a:rPr>
              <a:t>&lt;html&gt;</a:t>
            </a:r>
          </a:p>
          <a:p>
            <a:pPr lvl="1">
              <a:buNone/>
            </a:pPr>
            <a:r>
              <a:rPr lang="en-US" dirty="0">
                <a:latin typeface="Times New Roman" pitchFamily="18" charset="0"/>
                <a:cs typeface="Times New Roman" pitchFamily="18" charset="0"/>
              </a:rPr>
              <a:t>&lt;body&gt;</a:t>
            </a:r>
          </a:p>
          <a:p>
            <a:pPr lvl="1">
              <a:buNone/>
            </a:pPr>
            <a:r>
              <a:rPr lang="en-US" dirty="0">
                <a:latin typeface="Times New Roman" pitchFamily="18" charset="0"/>
                <a:cs typeface="Times New Roman" pitchFamily="18" charset="0"/>
              </a:rPr>
              <a:t>Current Time: &lt;span id="txt"&gt;&lt;/span&gt;</a:t>
            </a:r>
          </a:p>
          <a:p>
            <a:pPr lvl="1">
              <a:buNone/>
            </a:pPr>
            <a:r>
              <a:rPr lang="en-US" dirty="0">
                <a:latin typeface="Times New Roman" pitchFamily="18" charset="0"/>
                <a:cs typeface="Times New Roman" pitchFamily="18" charset="0"/>
              </a:rPr>
              <a:t>&lt;script&gt;</a:t>
            </a:r>
          </a:p>
          <a:p>
            <a:pPr lvl="1">
              <a:buNone/>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today=new Date();</a:t>
            </a:r>
          </a:p>
          <a:p>
            <a:pPr lvl="1">
              <a:buNone/>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h=</a:t>
            </a:r>
            <a:r>
              <a:rPr lang="en-US" dirty="0" err="1">
                <a:latin typeface="Times New Roman" pitchFamily="18" charset="0"/>
                <a:cs typeface="Times New Roman" pitchFamily="18" charset="0"/>
              </a:rPr>
              <a:t>today.getHours</a:t>
            </a:r>
            <a:r>
              <a:rPr lang="en-US" dirty="0">
                <a:latin typeface="Times New Roman" pitchFamily="18" charset="0"/>
                <a:cs typeface="Times New Roman" pitchFamily="18" charset="0"/>
              </a:rPr>
              <a:t>();</a:t>
            </a:r>
          </a:p>
          <a:p>
            <a:pPr lvl="1">
              <a:buNone/>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m=</a:t>
            </a:r>
            <a:r>
              <a:rPr lang="en-US" dirty="0" err="1">
                <a:latin typeface="Times New Roman" pitchFamily="18" charset="0"/>
                <a:cs typeface="Times New Roman" pitchFamily="18" charset="0"/>
              </a:rPr>
              <a:t>today.getMinutes</a:t>
            </a:r>
            <a:r>
              <a:rPr lang="en-US" dirty="0">
                <a:latin typeface="Times New Roman" pitchFamily="18" charset="0"/>
                <a:cs typeface="Times New Roman" pitchFamily="18" charset="0"/>
              </a:rPr>
              <a:t>();</a:t>
            </a:r>
          </a:p>
          <a:p>
            <a:pPr lvl="1">
              <a:buNone/>
            </a:pPr>
            <a:r>
              <a:rPr lang="en-US" dirty="0" err="1">
                <a:latin typeface="Times New Roman" pitchFamily="18" charset="0"/>
                <a:cs typeface="Times New Roman" pitchFamily="18" charset="0"/>
              </a:rPr>
              <a:t>var</a:t>
            </a:r>
            <a:r>
              <a:rPr lang="en-US" dirty="0">
                <a:latin typeface="Times New Roman" pitchFamily="18" charset="0"/>
                <a:cs typeface="Times New Roman" pitchFamily="18" charset="0"/>
              </a:rPr>
              <a:t> s=</a:t>
            </a:r>
            <a:r>
              <a:rPr lang="en-US" dirty="0" err="1">
                <a:latin typeface="Times New Roman" pitchFamily="18" charset="0"/>
                <a:cs typeface="Times New Roman" pitchFamily="18" charset="0"/>
              </a:rPr>
              <a:t>today.getSeconds</a:t>
            </a:r>
            <a:r>
              <a:rPr lang="en-US" dirty="0">
                <a:latin typeface="Times New Roman" pitchFamily="18" charset="0"/>
                <a:cs typeface="Times New Roman" pitchFamily="18" charset="0"/>
              </a:rPr>
              <a:t>();</a:t>
            </a:r>
          </a:p>
          <a:p>
            <a:pPr lvl="1">
              <a:buNone/>
            </a:pPr>
            <a:r>
              <a:rPr lang="en-US" dirty="0" err="1">
                <a:latin typeface="Times New Roman" pitchFamily="18" charset="0"/>
                <a:cs typeface="Times New Roman" pitchFamily="18" charset="0"/>
              </a:rPr>
              <a:t>document.getElementById</a:t>
            </a:r>
            <a:r>
              <a:rPr lang="en-US" dirty="0">
                <a:latin typeface="Times New Roman" pitchFamily="18" charset="0"/>
                <a:cs typeface="Times New Roman" pitchFamily="18" charset="0"/>
              </a:rPr>
              <a:t>('txt').</a:t>
            </a:r>
            <a:r>
              <a:rPr lang="en-US" dirty="0" err="1">
                <a:latin typeface="Times New Roman" pitchFamily="18" charset="0"/>
                <a:cs typeface="Times New Roman" pitchFamily="18" charset="0"/>
              </a:rPr>
              <a:t>innerHTML</a:t>
            </a:r>
            <a:r>
              <a:rPr lang="en-US" dirty="0">
                <a:latin typeface="Times New Roman" pitchFamily="18" charset="0"/>
                <a:cs typeface="Times New Roman" pitchFamily="18" charset="0"/>
              </a:rPr>
              <a:t>=h+":"+m+":"+s;</a:t>
            </a:r>
          </a:p>
          <a:p>
            <a:pPr lvl="1">
              <a:buNone/>
            </a:pPr>
            <a:r>
              <a:rPr lang="en-US" dirty="0">
                <a:latin typeface="Times New Roman" pitchFamily="18" charset="0"/>
                <a:cs typeface="Times New Roman" pitchFamily="18" charset="0"/>
              </a:rPr>
              <a:t>&lt;/script&gt;</a:t>
            </a:r>
          </a:p>
          <a:p>
            <a:pPr lvl="1">
              <a:buNone/>
            </a:pPr>
            <a:r>
              <a:rPr lang="en-US" dirty="0">
                <a:latin typeface="Times New Roman" pitchFamily="18" charset="0"/>
                <a:cs typeface="Times New Roman" pitchFamily="18" charset="0"/>
              </a:rPr>
              <a:t>&lt;/body&gt;</a:t>
            </a:r>
          </a:p>
          <a:p>
            <a:pPr lvl="1">
              <a:buNone/>
            </a:pPr>
            <a:r>
              <a:rPr lang="en-US" dirty="0">
                <a:latin typeface="Times New Roman" pitchFamily="18" charset="0"/>
                <a:cs typeface="Times New Roman" pitchFamily="18" charset="0"/>
              </a:rPr>
              <a:t>&lt;/html&gt;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Browser object model</a:t>
            </a:r>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The browser object model is used to interact with browser.</a:t>
            </a:r>
          </a:p>
          <a:p>
            <a:pPr algn="just"/>
            <a:r>
              <a:rPr lang="en-US" dirty="0">
                <a:latin typeface="Times New Roman" pitchFamily="18" charset="0"/>
                <a:cs typeface="Times New Roman" pitchFamily="18" charset="0"/>
              </a:rPr>
              <a:t>The default object of browser is window.</a:t>
            </a:r>
          </a:p>
          <a:p>
            <a:pPr algn="just"/>
            <a:endParaRPr lang="en-US" dirty="0">
              <a:latin typeface="Times New Roman" pitchFamily="18" charset="0"/>
              <a:cs typeface="Times New Roman" pitchFamily="18" charset="0"/>
            </a:endParaRPr>
          </a:p>
        </p:txBody>
      </p:sp>
      <p:pic>
        <p:nvPicPr>
          <p:cNvPr id="5" name="Picture 4" descr="Capture.JPG"/>
          <p:cNvPicPr>
            <a:picLocks noChangeAspect="1"/>
          </p:cNvPicPr>
          <p:nvPr/>
        </p:nvPicPr>
        <p:blipFill>
          <a:blip r:embed="rId2"/>
          <a:stretch>
            <a:fillRect/>
          </a:stretch>
        </p:blipFill>
        <p:spPr>
          <a:xfrm>
            <a:off x="533400" y="3124200"/>
            <a:ext cx="7924800" cy="28956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pPr algn="just">
              <a:lnSpc>
                <a:spcPct val="170000"/>
              </a:lnSpc>
              <a:buNone/>
            </a:pPr>
            <a:r>
              <a:rPr lang="en-US" b="1" dirty="0">
                <a:latin typeface="Times New Roman" pitchFamily="18" charset="0"/>
                <a:cs typeface="Times New Roman" pitchFamily="18" charset="0"/>
              </a:rPr>
              <a:t>Window object</a:t>
            </a:r>
            <a:r>
              <a:rPr lang="en-US" dirty="0">
                <a:latin typeface="Times New Roman" pitchFamily="18" charset="0"/>
                <a:cs typeface="Times New Roman" pitchFamily="18" charset="0"/>
              </a:rPr>
              <a:t>:</a:t>
            </a:r>
          </a:p>
          <a:p>
            <a:pPr algn="just">
              <a:lnSpc>
                <a:spcPct val="170000"/>
              </a:lnSpc>
            </a:pPr>
            <a:r>
              <a:rPr lang="en-US" dirty="0">
                <a:latin typeface="Times New Roman" pitchFamily="18" charset="0"/>
                <a:cs typeface="Times New Roman" pitchFamily="18" charset="0"/>
              </a:rPr>
              <a:t>Window object represents a window in browser.</a:t>
            </a:r>
          </a:p>
          <a:p>
            <a:pPr algn="just">
              <a:lnSpc>
                <a:spcPct val="170000"/>
              </a:lnSpc>
            </a:pPr>
            <a:r>
              <a:rPr lang="en-US" dirty="0">
                <a:latin typeface="Times New Roman" pitchFamily="18" charset="0"/>
                <a:cs typeface="Times New Roman" pitchFamily="18" charset="0"/>
              </a:rPr>
              <a:t>An object of window is created automatically by the user</a:t>
            </a:r>
          </a:p>
          <a:p>
            <a:pPr algn="just">
              <a:lnSpc>
                <a:spcPct val="170000"/>
              </a:lnSpc>
            </a:pPr>
            <a:r>
              <a:rPr lang="en-US" b="1" dirty="0">
                <a:latin typeface="Times New Roman" pitchFamily="18" charset="0"/>
                <a:cs typeface="Times New Roman" pitchFamily="18" charset="0"/>
              </a:rPr>
              <a:t>Method: </a:t>
            </a:r>
            <a:r>
              <a:rPr lang="en-US" dirty="0">
                <a:latin typeface="Times New Roman" pitchFamily="18" charset="0"/>
                <a:cs typeface="Times New Roman" pitchFamily="18" charset="0"/>
              </a:rPr>
              <a:t>alert(),confirm(), prompt(), setTimeout(),open(),close()</a:t>
            </a:r>
          </a:p>
          <a:p>
            <a:pPr algn="just">
              <a:lnSpc>
                <a:spcPct val="170000"/>
              </a:lnSpc>
              <a:buNone/>
            </a:pPr>
            <a:r>
              <a:rPr lang="en-US" b="1" dirty="0">
                <a:latin typeface="Times New Roman" pitchFamily="18" charset="0"/>
                <a:cs typeface="Times New Roman" pitchFamily="18" charset="0"/>
              </a:rPr>
              <a:t>History objects</a:t>
            </a:r>
            <a:r>
              <a:rPr lang="en-US" dirty="0">
                <a:latin typeface="Times New Roman" pitchFamily="18" charset="0"/>
                <a:cs typeface="Times New Roman" pitchFamily="18" charset="0"/>
              </a:rPr>
              <a:t>:</a:t>
            </a:r>
          </a:p>
          <a:p>
            <a:pPr algn="just">
              <a:lnSpc>
                <a:spcPct val="170000"/>
              </a:lnSpc>
            </a:pPr>
            <a:r>
              <a:rPr lang="en-US" dirty="0">
                <a:latin typeface="Times New Roman" pitchFamily="18" charset="0"/>
                <a:cs typeface="Times New Roman" pitchFamily="18" charset="0"/>
              </a:rPr>
              <a:t>Java script history object represents an array of url’s visited by user.</a:t>
            </a:r>
          </a:p>
          <a:p>
            <a:pPr algn="just">
              <a:lnSpc>
                <a:spcPct val="170000"/>
              </a:lnSpc>
            </a:pPr>
            <a:r>
              <a:rPr lang="en-US" dirty="0">
                <a:latin typeface="Times New Roman" pitchFamily="18" charset="0"/>
                <a:cs typeface="Times New Roman" pitchFamily="18" charset="0"/>
              </a:rPr>
              <a:t>By using this object we can load previous, forward or particular page.</a:t>
            </a:r>
          </a:p>
          <a:p>
            <a:pPr algn="just">
              <a:lnSpc>
                <a:spcPct val="170000"/>
              </a:lnSpc>
            </a:pPr>
            <a:r>
              <a:rPr lang="en-US" dirty="0">
                <a:latin typeface="Times New Roman" pitchFamily="18" charset="0"/>
                <a:cs typeface="Times New Roman" pitchFamily="18" charset="0"/>
              </a:rPr>
              <a:t>Property: length </a:t>
            </a:r>
            <a:endParaRPr lang="en-US" b="1" dirty="0">
              <a:latin typeface="Times New Roman" pitchFamily="18" charset="0"/>
              <a:cs typeface="Times New Roman" pitchFamily="18" charset="0"/>
            </a:endParaRPr>
          </a:p>
          <a:p>
            <a:pPr algn="just">
              <a:lnSpc>
                <a:spcPct val="170000"/>
              </a:lnSpc>
            </a:pPr>
            <a:r>
              <a:rPr lang="en-US" b="1" dirty="0">
                <a:latin typeface="Times New Roman" pitchFamily="18" charset="0"/>
                <a:cs typeface="Times New Roman" pitchFamily="18" charset="0"/>
              </a:rPr>
              <a:t>Method:</a:t>
            </a:r>
            <a:r>
              <a:rPr lang="en-US" dirty="0">
                <a:latin typeface="Times New Roman" pitchFamily="18" charset="0"/>
                <a:cs typeface="Times New Roman" pitchFamily="18" charset="0"/>
              </a:rPr>
              <a:t> forward(),back(),go()</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62500" lnSpcReduction="20000"/>
          </a:bodyPr>
          <a:lstStyle/>
          <a:p>
            <a:pPr algn="just">
              <a:lnSpc>
                <a:spcPct val="170000"/>
              </a:lnSpc>
              <a:buNone/>
            </a:pPr>
            <a:r>
              <a:rPr lang="en-US" b="1" dirty="0">
                <a:latin typeface="Times New Roman" pitchFamily="18" charset="0"/>
                <a:cs typeface="Times New Roman" pitchFamily="18" charset="0"/>
              </a:rPr>
              <a:t>Navigator object:</a:t>
            </a:r>
          </a:p>
          <a:p>
            <a:pPr algn="just">
              <a:lnSpc>
                <a:spcPct val="170000"/>
              </a:lnSpc>
            </a:pPr>
            <a:r>
              <a:rPr lang="en-US" dirty="0">
                <a:latin typeface="Times New Roman" pitchFamily="18" charset="0"/>
                <a:cs typeface="Times New Roman" pitchFamily="18" charset="0"/>
              </a:rPr>
              <a:t>It is used for browser detection</a:t>
            </a:r>
          </a:p>
          <a:p>
            <a:pPr algn="just">
              <a:lnSpc>
                <a:spcPct val="170000"/>
              </a:lnSpc>
            </a:pPr>
            <a:r>
              <a:rPr lang="en-US" dirty="0">
                <a:latin typeface="Times New Roman" pitchFamily="18" charset="0"/>
                <a:cs typeface="Times New Roman" pitchFamily="18" charset="0"/>
              </a:rPr>
              <a:t>It is used to get browser information such as </a:t>
            </a:r>
            <a:r>
              <a:rPr lang="en-US" dirty="0" err="1">
                <a:latin typeface="Times New Roman" pitchFamily="18" charset="0"/>
                <a:cs typeface="Times New Roman" pitchFamily="18" charset="0"/>
              </a:rPr>
              <a:t>appName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appCodeName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userAgent</a:t>
            </a:r>
            <a:r>
              <a:rPr lang="en-US" dirty="0">
                <a:latin typeface="Times New Roman" pitchFamily="18" charset="0"/>
                <a:cs typeface="Times New Roman" pitchFamily="18" charset="0"/>
              </a:rPr>
              <a:t> etc.</a:t>
            </a:r>
          </a:p>
          <a:p>
            <a:pPr algn="just">
              <a:lnSpc>
                <a:spcPct val="170000"/>
              </a:lnSpc>
            </a:pPr>
            <a:r>
              <a:rPr lang="en-US" b="1" dirty="0">
                <a:solidFill>
                  <a:srgbClr val="FF0000"/>
                </a:solidFill>
                <a:latin typeface="Times New Roman" pitchFamily="18" charset="0"/>
                <a:cs typeface="Times New Roman" pitchFamily="18" charset="0"/>
              </a:rPr>
              <a:t>Property</a:t>
            </a:r>
            <a:r>
              <a:rPr lang="en-US" b="1" dirty="0">
                <a:latin typeface="Times New Roman" pitchFamily="18" charset="0"/>
                <a:cs typeface="Times New Roman" pitchFamily="18" charset="0"/>
              </a:rPr>
              <a:t>: </a:t>
            </a:r>
            <a:r>
              <a:rPr lang="en-US" dirty="0" err="1">
                <a:latin typeface="Times New Roman" pitchFamily="18" charset="0"/>
                <a:cs typeface="Times New Roman" pitchFamily="18" charset="0"/>
              </a:rPr>
              <a:t>appName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appVersion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appCodeName</a:t>
            </a:r>
            <a:r>
              <a:rPr lang="en-US" dirty="0">
                <a:latin typeface="Times New Roman" pitchFamily="18" charset="0"/>
                <a:cs typeface="Times New Roman" pitchFamily="18" charset="0"/>
              </a:rPr>
              <a:t>, Language, </a:t>
            </a:r>
            <a:r>
              <a:rPr lang="en-US" dirty="0" err="1">
                <a:latin typeface="Times New Roman" pitchFamily="18" charset="0"/>
                <a:cs typeface="Times New Roman" pitchFamily="18" charset="0"/>
              </a:rPr>
              <a:t>userAgent</a:t>
            </a:r>
            <a:r>
              <a:rPr lang="en-US" dirty="0">
                <a:latin typeface="Times New Roman" pitchFamily="18" charset="0"/>
                <a:cs typeface="Times New Roman" pitchFamily="18" charset="0"/>
              </a:rPr>
              <a:t> etc</a:t>
            </a:r>
          </a:p>
          <a:p>
            <a:pPr algn="just">
              <a:lnSpc>
                <a:spcPct val="170000"/>
              </a:lnSpc>
            </a:pPr>
            <a:r>
              <a:rPr lang="en-US" b="1" dirty="0" err="1">
                <a:solidFill>
                  <a:srgbClr val="FF0000"/>
                </a:solidFill>
                <a:latin typeface="Times New Roman" pitchFamily="18" charset="0"/>
                <a:cs typeface="Times New Roman" pitchFamily="18" charset="0"/>
              </a:rPr>
              <a:t>Mtheod</a:t>
            </a:r>
            <a:r>
              <a:rPr lang="en-US" b="1" dirty="0">
                <a:solidFill>
                  <a:srgbClr val="FF0000"/>
                </a:solidFill>
                <a:latin typeface="Times New Roman" pitchFamily="18" charset="0"/>
                <a:cs typeface="Times New Roman" pitchFamily="18" charset="0"/>
              </a:rPr>
              <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javaEnabled</a:t>
            </a:r>
            <a:r>
              <a:rPr lang="en-US" dirty="0">
                <a:latin typeface="Times New Roman" pitchFamily="18" charset="0"/>
                <a:cs typeface="Times New Roman" pitchFamily="18" charset="0"/>
              </a:rPr>
              <a:t>()</a:t>
            </a:r>
            <a:endParaRPr lang="en-US" b="1" dirty="0">
              <a:latin typeface="Times New Roman" pitchFamily="18" charset="0"/>
              <a:cs typeface="Times New Roman" pitchFamily="18" charset="0"/>
            </a:endParaRPr>
          </a:p>
          <a:p>
            <a:pPr algn="just">
              <a:lnSpc>
                <a:spcPct val="170000"/>
              </a:lnSpc>
              <a:buNone/>
            </a:pPr>
            <a:r>
              <a:rPr lang="en-US" b="1" dirty="0">
                <a:latin typeface="Times New Roman" pitchFamily="18" charset="0"/>
                <a:cs typeface="Times New Roman" pitchFamily="18" charset="0"/>
              </a:rPr>
              <a:t>Screen Object:</a:t>
            </a:r>
          </a:p>
          <a:p>
            <a:pPr algn="just">
              <a:lnSpc>
                <a:spcPct val="170000"/>
              </a:lnSpc>
            </a:pPr>
            <a:r>
              <a:rPr lang="en-US" dirty="0">
                <a:latin typeface="Times New Roman" pitchFamily="18" charset="0"/>
                <a:cs typeface="Times New Roman" pitchFamily="18" charset="0"/>
              </a:rPr>
              <a:t>It hold information about browser screens</a:t>
            </a:r>
          </a:p>
          <a:p>
            <a:pPr algn="just">
              <a:lnSpc>
                <a:spcPct val="170000"/>
              </a:lnSpc>
            </a:pPr>
            <a:r>
              <a:rPr lang="en-US" dirty="0">
                <a:latin typeface="Times New Roman" pitchFamily="18" charset="0"/>
                <a:cs typeface="Times New Roman" pitchFamily="18" charset="0"/>
              </a:rPr>
              <a:t>It can be used to display screen width, height, color depth pixel depth etc.</a:t>
            </a:r>
          </a:p>
          <a:p>
            <a:pPr algn="just">
              <a:lnSpc>
                <a:spcPct val="170000"/>
              </a:lnSpc>
            </a:pPr>
            <a:r>
              <a:rPr lang="en-US" dirty="0">
                <a:solidFill>
                  <a:srgbClr val="FF0000"/>
                </a:solidFill>
                <a:latin typeface="Times New Roman" pitchFamily="18" charset="0"/>
                <a:cs typeface="Times New Roman" pitchFamily="18" charset="0"/>
              </a:rPr>
              <a:t>Property:</a:t>
            </a:r>
            <a:r>
              <a:rPr lang="en-US" dirty="0">
                <a:latin typeface="Times New Roman" pitchFamily="18" charset="0"/>
                <a:cs typeface="Times New Roman" pitchFamily="18" charset="0"/>
              </a:rPr>
              <a:t> width ,height, </a:t>
            </a:r>
            <a:r>
              <a:rPr lang="en-US" dirty="0" err="1">
                <a:latin typeface="Times New Roman" pitchFamily="18" charset="0"/>
                <a:cs typeface="Times New Roman" pitchFamily="18" charset="0"/>
              </a:rPr>
              <a:t>availwidth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availheight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colaorDepth</a:t>
            </a:r>
            <a:r>
              <a:rPr lang="en-US" dirty="0">
                <a:latin typeface="Times New Roman" pitchFamily="18" charset="0"/>
                <a:cs typeface="Times New Roman" pitchFamily="18" charset="0"/>
              </a:rPr>
              <a:t> etc. </a:t>
            </a:r>
          </a:p>
          <a:p>
            <a:pPr algn="just">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Object model</a:t>
            </a:r>
          </a:p>
        </p:txBody>
      </p:sp>
      <p:sp>
        <p:nvSpPr>
          <p:cNvPr id="3" name="Content Placeholder 2"/>
          <p:cNvSpPr>
            <a:spLocks noGrp="1"/>
          </p:cNvSpPr>
          <p:nvPr>
            <p:ph idx="1"/>
          </p:nvPr>
        </p:nvSpPr>
        <p:spPr>
          <a:xfrm>
            <a:off x="457200" y="1219200"/>
            <a:ext cx="8229600" cy="5105400"/>
          </a:xfrm>
        </p:spPr>
        <p:txBody>
          <a:bodyPr>
            <a:normAutofit fontScale="55000" lnSpcReduction="20000"/>
          </a:bodyPr>
          <a:lstStyle/>
          <a:p>
            <a:pPr algn="just">
              <a:lnSpc>
                <a:spcPct val="170000"/>
              </a:lnSpc>
            </a:pPr>
            <a:r>
              <a:rPr lang="en-US" dirty="0">
                <a:latin typeface="Times New Roman" pitchFamily="18" charset="0"/>
                <a:cs typeface="Times New Roman" pitchFamily="18" charset="0"/>
              </a:rPr>
              <a:t>The document object represents the whole html document .</a:t>
            </a:r>
          </a:p>
          <a:p>
            <a:pPr algn="just">
              <a:lnSpc>
                <a:spcPct val="170000"/>
              </a:lnSpc>
            </a:pPr>
            <a:r>
              <a:rPr lang="en-US" dirty="0">
                <a:latin typeface="Times New Roman" pitchFamily="18" charset="0"/>
                <a:cs typeface="Times New Roman" pitchFamily="18" charset="0"/>
              </a:rPr>
              <a:t>The document object model (DOM) is a platform and language neutral interface that allows programs and scripts to dynamically access and update the content, structure and style of document.</a:t>
            </a:r>
          </a:p>
          <a:p>
            <a:pPr algn="just">
              <a:lnSpc>
                <a:spcPct val="170000"/>
              </a:lnSpc>
            </a:pPr>
            <a:r>
              <a:rPr lang="en-US" dirty="0">
                <a:latin typeface="Times New Roman" pitchFamily="18" charset="0"/>
                <a:cs typeface="Times New Roman" pitchFamily="18" charset="0"/>
              </a:rPr>
              <a:t>HTML DOM is standard object model  for HTML</a:t>
            </a:r>
          </a:p>
          <a:p>
            <a:pPr algn="just">
              <a:lnSpc>
                <a:spcPct val="170000"/>
              </a:lnSpc>
            </a:pPr>
            <a:r>
              <a:rPr lang="en-US" dirty="0">
                <a:latin typeface="Times New Roman" pitchFamily="18" charset="0"/>
                <a:cs typeface="Times New Roman" pitchFamily="18" charset="0"/>
              </a:rPr>
              <a:t>The DOM says:</a:t>
            </a:r>
          </a:p>
          <a:p>
            <a:pPr lvl="1" algn="just">
              <a:lnSpc>
                <a:spcPct val="170000"/>
              </a:lnSpc>
            </a:pPr>
            <a:r>
              <a:rPr lang="en-US" dirty="0">
                <a:latin typeface="Times New Roman" pitchFamily="18" charset="0"/>
                <a:cs typeface="Times New Roman" pitchFamily="18" charset="0"/>
              </a:rPr>
              <a:t>The entire document is document node</a:t>
            </a:r>
          </a:p>
          <a:p>
            <a:pPr lvl="1" algn="just">
              <a:lnSpc>
                <a:spcPct val="170000"/>
              </a:lnSpc>
            </a:pPr>
            <a:r>
              <a:rPr lang="en-US" dirty="0">
                <a:latin typeface="Times New Roman" pitchFamily="18" charset="0"/>
                <a:cs typeface="Times New Roman" pitchFamily="18" charset="0"/>
              </a:rPr>
              <a:t>Every HTML element is an element node</a:t>
            </a:r>
          </a:p>
          <a:p>
            <a:pPr lvl="1" algn="just">
              <a:lnSpc>
                <a:spcPct val="170000"/>
              </a:lnSpc>
            </a:pPr>
            <a:r>
              <a:rPr lang="en-US" dirty="0">
                <a:latin typeface="Times New Roman" pitchFamily="18" charset="0"/>
                <a:cs typeface="Times New Roman" pitchFamily="18" charset="0"/>
              </a:rPr>
              <a:t>Text in html elements are text nodes</a:t>
            </a:r>
          </a:p>
          <a:p>
            <a:pPr lvl="1" algn="just">
              <a:lnSpc>
                <a:spcPct val="170000"/>
              </a:lnSpc>
            </a:pPr>
            <a:r>
              <a:rPr lang="en-US" dirty="0">
                <a:latin typeface="Times New Roman" pitchFamily="18" charset="0"/>
                <a:cs typeface="Times New Roman" pitchFamily="18" charset="0"/>
              </a:rPr>
              <a:t>Every html attribute is an attribute node</a:t>
            </a:r>
          </a:p>
          <a:p>
            <a:pPr lvl="1" algn="just">
              <a:lnSpc>
                <a:spcPct val="170000"/>
              </a:lnSpc>
            </a:pPr>
            <a:r>
              <a:rPr lang="en-US" dirty="0">
                <a:latin typeface="Times New Roman" pitchFamily="18" charset="0"/>
                <a:cs typeface="Times New Roman" pitchFamily="18" charset="0"/>
              </a:rPr>
              <a:t>Comments are  comment node.</a:t>
            </a:r>
          </a:p>
          <a:p>
            <a:pPr algn="just">
              <a:lnSpc>
                <a:spcPct val="170000"/>
              </a:lnSpc>
              <a:buNone/>
            </a:pPr>
            <a:endParaRPr lang="en-US" dirty="0">
              <a:latin typeface="Times New Roman" pitchFamily="18" charset="0"/>
              <a:cs typeface="Times New Roman"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914400" y="609600"/>
            <a:ext cx="7543799" cy="5715000"/>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77500" lnSpcReduction="20000"/>
          </a:bodyPr>
          <a:lstStyle/>
          <a:p>
            <a:pPr algn="just">
              <a:lnSpc>
                <a:spcPct val="160000"/>
              </a:lnSpc>
              <a:buNone/>
            </a:pPr>
            <a:r>
              <a:rPr lang="en-US" b="1" dirty="0">
                <a:latin typeface="Times New Roman" pitchFamily="18" charset="0"/>
                <a:cs typeface="Times New Roman" pitchFamily="18" charset="0"/>
              </a:rPr>
              <a:t>HTML DOM properties:</a:t>
            </a:r>
          </a:p>
          <a:p>
            <a:pPr algn="just">
              <a:lnSpc>
                <a:spcPct val="160000"/>
              </a:lnSpc>
              <a:buNone/>
            </a:pPr>
            <a:r>
              <a:rPr lang="en-US" dirty="0">
                <a:latin typeface="Times New Roman" pitchFamily="18" charset="0"/>
                <a:cs typeface="Times New Roman" pitchFamily="18" charset="0"/>
              </a:rPr>
              <a:t>Some DOM properties are</a:t>
            </a:r>
          </a:p>
          <a:p>
            <a:pPr lvl="1" algn="just">
              <a:lnSpc>
                <a:spcPct val="160000"/>
              </a:lnSpc>
              <a:buNone/>
            </a:pPr>
            <a:r>
              <a:rPr lang="en-US" b="1" dirty="0" err="1">
                <a:latin typeface="Times New Roman" pitchFamily="18" charset="0"/>
                <a:cs typeface="Times New Roman" pitchFamily="18" charset="0"/>
              </a:rPr>
              <a:t>X.innerHTML</a:t>
            </a:r>
            <a:r>
              <a:rPr lang="en-US" dirty="0">
                <a:latin typeface="Times New Roman" pitchFamily="18" charset="0"/>
                <a:cs typeface="Times New Roman" pitchFamily="18" charset="0"/>
              </a:rPr>
              <a:t>:  		The text value of x</a:t>
            </a:r>
          </a:p>
          <a:p>
            <a:pPr lvl="1" algn="just">
              <a:lnSpc>
                <a:spcPct val="160000"/>
              </a:lnSpc>
              <a:buNone/>
            </a:pPr>
            <a:r>
              <a:rPr lang="en-US" b="1" dirty="0" err="1">
                <a:latin typeface="Times New Roman" pitchFamily="18" charset="0"/>
                <a:cs typeface="Times New Roman" pitchFamily="18" charset="0"/>
              </a:rPr>
              <a:t>X.innerText</a:t>
            </a:r>
            <a:r>
              <a:rPr lang="en-US" dirty="0">
                <a:latin typeface="Times New Roman" pitchFamily="18" charset="0"/>
                <a:cs typeface="Times New Roman" pitchFamily="18" charset="0"/>
              </a:rPr>
              <a:t>: 		Sets or returns the text content of  X</a:t>
            </a:r>
          </a:p>
          <a:p>
            <a:pPr lvl="1" algn="just">
              <a:lnSpc>
                <a:spcPct val="160000"/>
              </a:lnSpc>
              <a:buNone/>
            </a:pPr>
            <a:r>
              <a:rPr lang="en-US" b="1" dirty="0" err="1">
                <a:latin typeface="Times New Roman" pitchFamily="18" charset="0"/>
                <a:cs typeface="Times New Roman" pitchFamily="18" charset="0"/>
              </a:rPr>
              <a:t>X.nodeName</a:t>
            </a:r>
            <a:r>
              <a:rPr lang="en-US" dirty="0">
                <a:latin typeface="Times New Roman" pitchFamily="18" charset="0"/>
                <a:cs typeface="Times New Roman" pitchFamily="18" charset="0"/>
              </a:rPr>
              <a:t>: 		The name of x</a:t>
            </a:r>
          </a:p>
          <a:p>
            <a:pPr lvl="1" algn="just">
              <a:lnSpc>
                <a:spcPct val="160000"/>
              </a:lnSpc>
              <a:buNone/>
            </a:pPr>
            <a:r>
              <a:rPr lang="en-US" b="1" dirty="0" err="1">
                <a:latin typeface="Times New Roman" pitchFamily="18" charset="0"/>
                <a:cs typeface="Times New Roman" pitchFamily="18" charset="0"/>
              </a:rPr>
              <a:t>X.nodeValue</a:t>
            </a:r>
            <a:r>
              <a:rPr lang="en-US" dirty="0">
                <a:latin typeface="Times New Roman" pitchFamily="18" charset="0"/>
                <a:cs typeface="Times New Roman" pitchFamily="18" charset="0"/>
              </a:rPr>
              <a:t>: 		The value of x</a:t>
            </a:r>
          </a:p>
          <a:p>
            <a:pPr lvl="1" algn="just">
              <a:lnSpc>
                <a:spcPct val="160000"/>
              </a:lnSpc>
              <a:buNone/>
            </a:pPr>
            <a:r>
              <a:rPr lang="en-US" b="1" dirty="0" err="1">
                <a:latin typeface="Times New Roman" pitchFamily="18" charset="0"/>
                <a:cs typeface="Times New Roman" pitchFamily="18" charset="0"/>
              </a:rPr>
              <a:t>X.parentNode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The parent of node X</a:t>
            </a:r>
          </a:p>
          <a:p>
            <a:pPr lvl="1" algn="just">
              <a:lnSpc>
                <a:spcPct val="160000"/>
              </a:lnSpc>
              <a:buNone/>
            </a:pPr>
            <a:r>
              <a:rPr lang="en-US" b="1" dirty="0" err="1">
                <a:latin typeface="Times New Roman" pitchFamily="18" charset="0"/>
                <a:cs typeface="Times New Roman" pitchFamily="18" charset="0"/>
              </a:rPr>
              <a:t>X.childNode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The child node of x.</a:t>
            </a:r>
          </a:p>
          <a:p>
            <a:pPr lvl="1" algn="just">
              <a:lnSpc>
                <a:spcPct val="160000"/>
              </a:lnSpc>
              <a:buNone/>
            </a:pPr>
            <a:r>
              <a:rPr lang="en-US" b="1" dirty="0" err="1">
                <a:latin typeface="Times New Roman" pitchFamily="18" charset="0"/>
                <a:cs typeface="Times New Roman" pitchFamily="18" charset="0"/>
              </a:rPr>
              <a:t>X.attribute</a:t>
            </a:r>
            <a:r>
              <a:rPr lang="en-US" dirty="0">
                <a:latin typeface="Times New Roman" pitchFamily="18" charset="0"/>
                <a:cs typeface="Times New Roman" pitchFamily="18" charset="0"/>
              </a:rPr>
              <a:t>: 		The attribute of x</a:t>
            </a:r>
          </a:p>
          <a:p>
            <a:pPr algn="just">
              <a:lnSpc>
                <a:spcPct val="160000"/>
              </a:lnSpc>
              <a:buNone/>
            </a:pPr>
            <a:endParaRPr lang="en-US" dirty="0">
              <a:latin typeface="Times New Roman" pitchFamily="18" charset="0"/>
              <a:cs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pPr algn="just">
              <a:lnSpc>
                <a:spcPct val="170000"/>
              </a:lnSpc>
              <a:buNone/>
            </a:pPr>
            <a:r>
              <a:rPr lang="en-US" b="1" dirty="0">
                <a:latin typeface="Times New Roman" pitchFamily="18" charset="0"/>
                <a:cs typeface="Times New Roman" pitchFamily="18" charset="0"/>
              </a:rPr>
              <a:t>HTML DOM Methods:</a:t>
            </a:r>
          </a:p>
          <a:p>
            <a:pPr lvl="1" algn="just">
              <a:lnSpc>
                <a:spcPct val="170000"/>
              </a:lnSpc>
            </a:pPr>
            <a:r>
              <a:rPr lang="en-US" b="1" dirty="0">
                <a:latin typeface="Times New Roman" pitchFamily="18" charset="0"/>
                <a:cs typeface="Times New Roman" pitchFamily="18" charset="0"/>
              </a:rPr>
              <a:t>Write(“string”): </a:t>
            </a:r>
            <a:r>
              <a:rPr lang="en-US" dirty="0">
                <a:latin typeface="Times New Roman" pitchFamily="18" charset="0"/>
                <a:cs typeface="Times New Roman" pitchFamily="18" charset="0"/>
              </a:rPr>
              <a:t>writes the given string on the document.</a:t>
            </a:r>
          </a:p>
          <a:p>
            <a:pPr lvl="1" algn="just">
              <a:lnSpc>
                <a:spcPct val="170000"/>
              </a:lnSpc>
            </a:pPr>
            <a:r>
              <a:rPr lang="en-US" b="1" dirty="0" err="1">
                <a:latin typeface="Times New Roman" pitchFamily="18" charset="0"/>
                <a:cs typeface="Times New Roman" pitchFamily="18" charset="0"/>
              </a:rPr>
              <a:t>Writeln</a:t>
            </a:r>
            <a:r>
              <a:rPr lang="en-US" b="1" dirty="0">
                <a:latin typeface="Times New Roman" pitchFamily="18" charset="0"/>
                <a:cs typeface="Times New Roman" pitchFamily="18" charset="0"/>
              </a:rPr>
              <a:t>(“string”): </a:t>
            </a:r>
            <a:r>
              <a:rPr lang="en-US" dirty="0">
                <a:latin typeface="Times New Roman" pitchFamily="18" charset="0"/>
                <a:cs typeface="Times New Roman" pitchFamily="18" charset="0"/>
              </a:rPr>
              <a:t>writes the given string on the document with newline character at the end.</a:t>
            </a:r>
          </a:p>
          <a:p>
            <a:pPr lvl="1" algn="just">
              <a:lnSpc>
                <a:spcPct val="170000"/>
              </a:lnSpc>
            </a:pPr>
            <a:r>
              <a:rPr lang="en-US" b="1" dirty="0" err="1">
                <a:latin typeface="Times New Roman" pitchFamily="18" charset="0"/>
                <a:cs typeface="Times New Roman" pitchFamily="18" charset="0"/>
              </a:rPr>
              <a:t>getElementById</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returns the element having the given id value.</a:t>
            </a:r>
          </a:p>
          <a:p>
            <a:pPr lvl="1" algn="just">
              <a:lnSpc>
                <a:spcPct val="170000"/>
              </a:lnSpc>
            </a:pPr>
            <a:r>
              <a:rPr lang="en-US" b="1" dirty="0" err="1">
                <a:latin typeface="Times New Roman" pitchFamily="18" charset="0"/>
                <a:cs typeface="Times New Roman" pitchFamily="18" charset="0"/>
              </a:rPr>
              <a:t>getElementsByName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returns all the elements having the given name value.</a:t>
            </a:r>
          </a:p>
          <a:p>
            <a:pPr lvl="1" algn="just">
              <a:lnSpc>
                <a:spcPct val="170000"/>
              </a:lnSpc>
            </a:pPr>
            <a:r>
              <a:rPr lang="en-US" b="1" dirty="0" err="1">
                <a:latin typeface="Times New Roman" pitchFamily="18" charset="0"/>
                <a:cs typeface="Times New Roman" pitchFamily="18" charset="0"/>
              </a:rPr>
              <a:t>getElementsByTagName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returns all the elements having the given tag name.</a:t>
            </a:r>
          </a:p>
          <a:p>
            <a:pPr lvl="1" algn="just">
              <a:lnSpc>
                <a:spcPct val="170000"/>
              </a:lnSpc>
            </a:pPr>
            <a:r>
              <a:rPr lang="en-US" b="1" dirty="0" err="1">
                <a:latin typeface="Times New Roman" pitchFamily="18" charset="0"/>
                <a:cs typeface="Times New Roman" pitchFamily="18" charset="0"/>
              </a:rPr>
              <a:t>getElementsByClassName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returns all the elements having the given class name.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pPr>
              <a:buNone/>
            </a:pPr>
            <a:r>
              <a:rPr lang="en-US" b="1" dirty="0"/>
              <a:t>Example :</a:t>
            </a:r>
            <a:r>
              <a:rPr lang="en-US" b="1" dirty="0" err="1"/>
              <a:t>getElementById</a:t>
            </a:r>
            <a:r>
              <a:rPr lang="en-US" b="1" dirty="0"/>
              <a:t>():</a:t>
            </a:r>
          </a:p>
          <a:p>
            <a:pPr lvl="1">
              <a:buNone/>
            </a:pPr>
            <a:r>
              <a:rPr lang="en-US" b="1" dirty="0">
                <a:latin typeface="Times New Roman" pitchFamily="18" charset="0"/>
                <a:cs typeface="Times New Roman" pitchFamily="18" charset="0"/>
              </a:rPr>
              <a:t>&lt;!DOCTYPE html&gt;</a:t>
            </a:r>
          </a:p>
          <a:p>
            <a:pPr lvl="1">
              <a:buNone/>
            </a:pPr>
            <a:r>
              <a:rPr lang="en-US" b="1" dirty="0">
                <a:latin typeface="Times New Roman" pitchFamily="18" charset="0"/>
                <a:cs typeface="Times New Roman" pitchFamily="18" charset="0"/>
              </a:rPr>
              <a:t>&lt;html&gt;</a:t>
            </a:r>
          </a:p>
          <a:p>
            <a:pPr lvl="1">
              <a:buNone/>
            </a:pPr>
            <a:r>
              <a:rPr lang="en-US" b="1" dirty="0">
                <a:latin typeface="Times New Roman" pitchFamily="18" charset="0"/>
                <a:cs typeface="Times New Roman" pitchFamily="18" charset="0"/>
              </a:rPr>
              <a:t>&lt;body&gt;</a:t>
            </a:r>
          </a:p>
          <a:p>
            <a:pPr lvl="1"/>
            <a:endParaRPr lang="en-US" b="1" dirty="0">
              <a:latin typeface="Times New Roman" pitchFamily="18" charset="0"/>
              <a:cs typeface="Times New Roman" pitchFamily="18" charset="0"/>
            </a:endParaRPr>
          </a:p>
          <a:p>
            <a:pPr lvl="1">
              <a:buNone/>
            </a:pPr>
            <a:r>
              <a:rPr lang="en-US" b="1" dirty="0">
                <a:latin typeface="Times New Roman" pitchFamily="18" charset="0"/>
                <a:cs typeface="Times New Roman" pitchFamily="18" charset="0"/>
              </a:rPr>
              <a:t>&lt;p id="demo"&gt;Click the button to change the text in this paragraph.&lt;/p&gt;</a:t>
            </a:r>
          </a:p>
          <a:p>
            <a:pPr lvl="1"/>
            <a:endParaRPr lang="en-US" b="1" dirty="0">
              <a:latin typeface="Times New Roman" pitchFamily="18" charset="0"/>
              <a:cs typeface="Times New Roman" pitchFamily="18" charset="0"/>
            </a:endParaRPr>
          </a:p>
          <a:p>
            <a:pPr lvl="1">
              <a:buNone/>
            </a:pPr>
            <a:r>
              <a:rPr lang="en-US" b="1" dirty="0">
                <a:latin typeface="Times New Roman" pitchFamily="18" charset="0"/>
                <a:cs typeface="Times New Roman" pitchFamily="18" charset="0"/>
              </a:rPr>
              <a:t>&lt;button </a:t>
            </a:r>
            <a:r>
              <a:rPr lang="en-US" b="1" dirty="0" err="1">
                <a:latin typeface="Times New Roman" pitchFamily="18" charset="0"/>
                <a:cs typeface="Times New Roman" pitchFamily="18" charset="0"/>
              </a:rPr>
              <a:t>onclick</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myFunction</a:t>
            </a:r>
            <a:r>
              <a:rPr lang="en-US" b="1" dirty="0">
                <a:latin typeface="Times New Roman" pitchFamily="18" charset="0"/>
                <a:cs typeface="Times New Roman" pitchFamily="18" charset="0"/>
              </a:rPr>
              <a:t>()"&gt;Click Me&lt;/button&gt;</a:t>
            </a:r>
          </a:p>
          <a:p>
            <a:pPr lvl="1"/>
            <a:endParaRPr lang="en-US" b="1" dirty="0">
              <a:latin typeface="Times New Roman" pitchFamily="18" charset="0"/>
              <a:cs typeface="Times New Roman" pitchFamily="18" charset="0"/>
            </a:endParaRPr>
          </a:p>
          <a:p>
            <a:pPr lvl="1">
              <a:buNone/>
            </a:pPr>
            <a:r>
              <a:rPr lang="en-US" b="1" dirty="0">
                <a:latin typeface="Times New Roman" pitchFamily="18" charset="0"/>
                <a:cs typeface="Times New Roman" pitchFamily="18" charset="0"/>
              </a:rPr>
              <a:t>&lt;script&gt;</a:t>
            </a:r>
          </a:p>
          <a:p>
            <a:pPr lvl="1">
              <a:buNone/>
            </a:pPr>
            <a:r>
              <a:rPr lang="en-US" b="1" dirty="0">
                <a:latin typeface="Times New Roman" pitchFamily="18" charset="0"/>
                <a:cs typeface="Times New Roman" pitchFamily="18" charset="0"/>
              </a:rPr>
              <a:t>function </a:t>
            </a:r>
            <a:r>
              <a:rPr lang="en-US" b="1" dirty="0" err="1">
                <a:latin typeface="Times New Roman" pitchFamily="18" charset="0"/>
                <a:cs typeface="Times New Roman" pitchFamily="18" charset="0"/>
              </a:rPr>
              <a:t>myFunction</a:t>
            </a:r>
            <a:r>
              <a:rPr lang="en-US" b="1" dirty="0">
                <a:latin typeface="Times New Roman" pitchFamily="18" charset="0"/>
                <a:cs typeface="Times New Roman" pitchFamily="18" charset="0"/>
              </a:rPr>
              <a:t>() {</a:t>
            </a:r>
          </a:p>
          <a:p>
            <a:pPr lvl="1">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document.getElementById</a:t>
            </a:r>
            <a:r>
              <a:rPr lang="en-US" b="1" dirty="0">
                <a:latin typeface="Times New Roman" pitchFamily="18" charset="0"/>
                <a:cs typeface="Times New Roman" pitchFamily="18" charset="0"/>
              </a:rPr>
              <a:t>("demo").</a:t>
            </a:r>
            <a:r>
              <a:rPr lang="en-US" b="1" dirty="0" err="1">
                <a:latin typeface="Times New Roman" pitchFamily="18" charset="0"/>
                <a:cs typeface="Times New Roman" pitchFamily="18" charset="0"/>
              </a:rPr>
              <a:t>innerHTML</a:t>
            </a:r>
            <a:r>
              <a:rPr lang="en-US" b="1" dirty="0">
                <a:latin typeface="Times New Roman" pitchFamily="18" charset="0"/>
                <a:cs typeface="Times New Roman" pitchFamily="18" charset="0"/>
              </a:rPr>
              <a:t> = "Hello World";</a:t>
            </a:r>
          </a:p>
          <a:p>
            <a:pPr lvl="1">
              <a:buNone/>
            </a:pPr>
            <a:r>
              <a:rPr lang="en-US" b="1" dirty="0">
                <a:latin typeface="Times New Roman" pitchFamily="18" charset="0"/>
                <a:cs typeface="Times New Roman" pitchFamily="18" charset="0"/>
              </a:rPr>
              <a:t>}</a:t>
            </a:r>
          </a:p>
          <a:p>
            <a:pPr lvl="1">
              <a:buNone/>
            </a:pPr>
            <a:r>
              <a:rPr lang="en-US" b="1" dirty="0">
                <a:latin typeface="Times New Roman" pitchFamily="18" charset="0"/>
                <a:cs typeface="Times New Roman" pitchFamily="18" charset="0"/>
              </a:rPr>
              <a:t>&lt;/script&gt;</a:t>
            </a:r>
          </a:p>
          <a:p>
            <a:pPr lvl="1">
              <a:buNone/>
            </a:pPr>
            <a:endParaRPr lang="en-US" b="1" dirty="0">
              <a:latin typeface="Times New Roman" pitchFamily="18" charset="0"/>
              <a:cs typeface="Times New Roman" pitchFamily="18" charset="0"/>
            </a:endParaRPr>
          </a:p>
          <a:p>
            <a:pPr lvl="1">
              <a:buNone/>
            </a:pPr>
            <a:r>
              <a:rPr lang="en-US" b="1" dirty="0">
                <a:latin typeface="Times New Roman" pitchFamily="18" charset="0"/>
                <a:cs typeface="Times New Roman" pitchFamily="18" charset="0"/>
              </a:rPr>
              <a:t>&lt;/body&gt;</a:t>
            </a:r>
          </a:p>
          <a:p>
            <a:pPr lvl="1">
              <a:buNone/>
            </a:pPr>
            <a:r>
              <a:rPr lang="en-US" b="1" dirty="0">
                <a:latin typeface="Times New Roman" pitchFamily="18" charset="0"/>
                <a:cs typeface="Times New Roman" pitchFamily="18" charset="0"/>
              </a:rPr>
              <a:t>&lt;/html&gt;</a:t>
            </a:r>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a:t>
            </a:r>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pPr algn="just">
              <a:lnSpc>
                <a:spcPct val="160000"/>
              </a:lnSpc>
            </a:pPr>
            <a:r>
              <a:rPr lang="en-US" dirty="0">
                <a:latin typeface="Times New Roman" pitchFamily="18" charset="0"/>
                <a:cs typeface="Times New Roman" pitchFamily="18" charset="0"/>
              </a:rPr>
              <a:t>Validation is process of ensuring that form’s values are correct or not.</a:t>
            </a:r>
          </a:p>
          <a:p>
            <a:pPr algn="just">
              <a:lnSpc>
                <a:spcPct val="160000"/>
              </a:lnSpc>
            </a:pPr>
            <a:r>
              <a:rPr lang="en-US" dirty="0">
                <a:latin typeface="Times New Roman" pitchFamily="18" charset="0"/>
                <a:cs typeface="Times New Roman" pitchFamily="18" charset="0"/>
              </a:rPr>
              <a:t>Form validation is process of checking that form has been filled in correctly before it is processed.</a:t>
            </a:r>
          </a:p>
          <a:p>
            <a:pPr algn="just">
              <a:lnSpc>
                <a:spcPct val="160000"/>
              </a:lnSpc>
            </a:pPr>
            <a:r>
              <a:rPr lang="en-US" dirty="0">
                <a:latin typeface="Times New Roman" pitchFamily="18" charset="0"/>
                <a:cs typeface="Times New Roman" pitchFamily="18" charset="0"/>
              </a:rPr>
              <a:t>Some type of validation are:</a:t>
            </a:r>
          </a:p>
          <a:p>
            <a:pPr lvl="1" algn="just">
              <a:lnSpc>
                <a:spcPct val="160000"/>
              </a:lnSpc>
            </a:pPr>
            <a:r>
              <a:rPr lang="en-US" dirty="0">
                <a:latin typeface="Times New Roman" pitchFamily="18" charset="0"/>
                <a:cs typeface="Times New Roman" pitchFamily="18" charset="0"/>
              </a:rPr>
              <a:t>Preventing blank values.</a:t>
            </a:r>
          </a:p>
          <a:p>
            <a:pPr lvl="1" algn="just">
              <a:lnSpc>
                <a:spcPct val="160000"/>
              </a:lnSpc>
            </a:pPr>
            <a:r>
              <a:rPr lang="en-US" dirty="0">
                <a:latin typeface="Times New Roman" pitchFamily="18" charset="0"/>
                <a:cs typeface="Times New Roman" pitchFamily="18" charset="0"/>
              </a:rPr>
              <a:t>Ensuring the type of values</a:t>
            </a:r>
          </a:p>
          <a:p>
            <a:pPr lvl="1" algn="just">
              <a:lnSpc>
                <a:spcPct val="160000"/>
              </a:lnSpc>
            </a:pPr>
            <a:r>
              <a:rPr lang="en-US" dirty="0">
                <a:latin typeface="Times New Roman" pitchFamily="18" charset="0"/>
                <a:cs typeface="Times New Roman" pitchFamily="18" charset="0"/>
              </a:rPr>
              <a:t>Ensuring the format and range of values</a:t>
            </a:r>
          </a:p>
          <a:p>
            <a:pPr lvl="1" algn="just">
              <a:lnSpc>
                <a:spcPct val="160000"/>
              </a:lnSpc>
            </a:pPr>
            <a:r>
              <a:rPr lang="en-US" dirty="0">
                <a:latin typeface="Times New Roman" pitchFamily="18" charset="0"/>
                <a:cs typeface="Times New Roman" pitchFamily="18" charset="0"/>
              </a:rPr>
              <a:t>Ensuring that values fit together.</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248400"/>
          </a:xfrm>
        </p:spPr>
        <p:txBody>
          <a:bodyPr>
            <a:normAutofit fontScale="62500" lnSpcReduction="20000"/>
          </a:bodyPr>
          <a:lstStyle/>
          <a:p>
            <a:pPr algn="just">
              <a:lnSpc>
                <a:spcPct val="160000"/>
              </a:lnSpc>
              <a:buNone/>
            </a:pPr>
            <a:r>
              <a:rPr lang="en-US" dirty="0">
                <a:latin typeface="Times New Roman" pitchFamily="18" charset="0"/>
                <a:cs typeface="Times New Roman" pitchFamily="18" charset="0"/>
              </a:rPr>
              <a:t>There are mainly two methods for validating form.</a:t>
            </a:r>
          </a:p>
          <a:p>
            <a:pPr algn="just">
              <a:lnSpc>
                <a:spcPct val="160000"/>
              </a:lnSpc>
              <a:buNone/>
            </a:pPr>
            <a:r>
              <a:rPr lang="en-US" b="1" dirty="0">
                <a:latin typeface="Times New Roman" pitchFamily="18" charset="0"/>
                <a:cs typeface="Times New Roman" pitchFamily="18" charset="0"/>
              </a:rPr>
              <a:t>Client-side validation</a:t>
            </a:r>
          </a:p>
          <a:p>
            <a:pPr algn="just">
              <a:lnSpc>
                <a:spcPct val="160000"/>
              </a:lnSpc>
            </a:pPr>
            <a:r>
              <a:rPr lang="en-US" dirty="0">
                <a:latin typeface="Times New Roman" pitchFamily="18" charset="0"/>
                <a:cs typeface="Times New Roman" pitchFamily="18" charset="0"/>
              </a:rPr>
              <a:t>Validation is done before the form is submitted</a:t>
            </a:r>
          </a:p>
          <a:p>
            <a:pPr algn="just">
              <a:lnSpc>
                <a:spcPct val="160000"/>
              </a:lnSpc>
            </a:pPr>
            <a:r>
              <a:rPr lang="en-US" dirty="0">
                <a:latin typeface="Times New Roman" pitchFamily="18" charset="0"/>
                <a:cs typeface="Times New Roman" pitchFamily="18" charset="0"/>
              </a:rPr>
              <a:t>Can lead to better user experience but not secure</a:t>
            </a:r>
          </a:p>
          <a:p>
            <a:pPr algn="just">
              <a:lnSpc>
                <a:spcPct val="160000"/>
              </a:lnSpc>
            </a:pPr>
            <a:r>
              <a:rPr lang="en-US" dirty="0">
                <a:latin typeface="Times New Roman" pitchFamily="18" charset="0"/>
                <a:cs typeface="Times New Roman" pitchFamily="18" charset="0"/>
              </a:rPr>
              <a:t>Faster and easier to do.</a:t>
            </a:r>
          </a:p>
          <a:p>
            <a:pPr algn="just">
              <a:lnSpc>
                <a:spcPct val="160000"/>
              </a:lnSpc>
            </a:pPr>
            <a:r>
              <a:rPr lang="en-US" dirty="0">
                <a:latin typeface="Times New Roman" pitchFamily="18" charset="0"/>
                <a:cs typeface="Times New Roman" pitchFamily="18" charset="0"/>
              </a:rPr>
              <a:t>client-side validation usually done using JavaScript and VBScript.</a:t>
            </a:r>
          </a:p>
          <a:p>
            <a:pPr algn="just">
              <a:lnSpc>
                <a:spcPct val="160000"/>
              </a:lnSpc>
            </a:pPr>
            <a:r>
              <a:rPr lang="en-US" b="1" dirty="0">
                <a:latin typeface="Times New Roman" pitchFamily="18" charset="0"/>
                <a:cs typeface="Times New Roman" pitchFamily="18" charset="0"/>
              </a:rPr>
              <a:t>Server-side validation:</a:t>
            </a:r>
          </a:p>
          <a:p>
            <a:pPr algn="just">
              <a:lnSpc>
                <a:spcPct val="160000"/>
              </a:lnSpc>
            </a:pPr>
            <a:r>
              <a:rPr lang="en-US" dirty="0">
                <a:latin typeface="Times New Roman" pitchFamily="18" charset="0"/>
                <a:cs typeface="Times New Roman" pitchFamily="18" charset="0"/>
              </a:rPr>
              <a:t>Validation is done after the form is submitted</a:t>
            </a:r>
          </a:p>
          <a:p>
            <a:pPr algn="just">
              <a:lnSpc>
                <a:spcPct val="160000"/>
              </a:lnSpc>
            </a:pPr>
            <a:r>
              <a:rPr lang="en-US" dirty="0">
                <a:latin typeface="Times New Roman" pitchFamily="18" charset="0"/>
                <a:cs typeface="Times New Roman" pitchFamily="18" charset="0"/>
              </a:rPr>
              <a:t>Server-side validation is more secure but often more tricky to code.</a:t>
            </a:r>
          </a:p>
          <a:p>
            <a:pPr lvl="0" algn="just">
              <a:lnSpc>
                <a:spcPct val="160000"/>
              </a:lnSpc>
            </a:pPr>
            <a:r>
              <a:rPr lang="en-US" dirty="0">
                <a:latin typeface="Times New Roman" pitchFamily="18" charset="0"/>
                <a:cs typeface="Times New Roman" pitchFamily="18" charset="0"/>
              </a:rPr>
              <a:t>it also increases load of server computer, it is slower.</a:t>
            </a:r>
          </a:p>
          <a:p>
            <a:pPr lvl="0" algn="just">
              <a:lnSpc>
                <a:spcPct val="160000"/>
              </a:lnSpc>
            </a:pPr>
            <a:r>
              <a:rPr lang="en-US" dirty="0">
                <a:latin typeface="Times New Roman" pitchFamily="18" charset="0"/>
                <a:cs typeface="Times New Roman" pitchFamily="18" charset="0"/>
              </a:rPr>
              <a:t>Server-side validation is done usually done using </a:t>
            </a:r>
            <a:r>
              <a:rPr lang="en-US" dirty="0" err="1">
                <a:latin typeface="Times New Roman" pitchFamily="18" charset="0"/>
                <a:cs typeface="Times New Roman" pitchFamily="18" charset="0"/>
              </a:rPr>
              <a:t>php</a:t>
            </a:r>
            <a:r>
              <a:rPr lang="en-US" dirty="0">
                <a:latin typeface="Times New Roman" pitchFamily="18" charset="0"/>
                <a:cs typeface="Times New Roman" pitchFamily="18" charset="0"/>
              </a:rPr>
              <a:t>, asp and </a:t>
            </a:r>
            <a:r>
              <a:rPr lang="en-US" dirty="0" err="1">
                <a:latin typeface="Times New Roman" pitchFamily="18" charset="0"/>
                <a:cs typeface="Times New Roman" pitchFamily="18" charset="0"/>
              </a:rPr>
              <a:t>jsp</a:t>
            </a:r>
            <a:r>
              <a:rPr lang="en-US" dirty="0">
                <a:latin typeface="Times New Roman" pitchFamily="18" charset="0"/>
                <a:cs typeface="Times New Roman" pitchFamily="18" charset="0"/>
              </a:rPr>
              <a:t> etc.</a:t>
            </a:r>
          </a:p>
          <a:p>
            <a:pPr algn="just">
              <a:lnSpc>
                <a:spcPct val="160000"/>
              </a:lnSpc>
            </a:pPr>
            <a:endParaRPr lang="en-US" dirty="0">
              <a:latin typeface="Times New Roman" pitchFamily="18" charset="0"/>
              <a:cs typeface="Times New Roman"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72CC74-D726-4FC7-AF82-94F8E0A0DD7F}"/>
              </a:ext>
            </a:extLst>
          </p:cNvPr>
          <p:cNvSpPr>
            <a:spLocks noGrp="1"/>
          </p:cNvSpPr>
          <p:nvPr>
            <p:ph type="title"/>
          </p:nvPr>
        </p:nvSpPr>
        <p:spPr>
          <a:xfrm>
            <a:off x="457200" y="274638"/>
            <a:ext cx="8229600" cy="334962"/>
          </a:xfrm>
        </p:spPr>
        <p:txBody>
          <a:bodyPr>
            <a:normAutofit fontScale="90000"/>
          </a:bodyPr>
          <a:lstStyle/>
          <a:p>
            <a:r>
              <a:rPr lang="en-US" b="1" i="0" dirty="0">
                <a:solidFill>
                  <a:srgbClr val="FF0000"/>
                </a:solidFill>
                <a:effectLst/>
                <a:latin typeface="Times New Roman" panose="02020603050405020304" pitchFamily="18" charset="0"/>
                <a:cs typeface="Times New Roman" panose="02020603050405020304" pitchFamily="18" charset="0"/>
              </a:rPr>
              <a:t/>
            </a:r>
            <a:br>
              <a:rPr lang="en-US" b="1" i="0" dirty="0">
                <a:solidFill>
                  <a:srgbClr val="FF0000"/>
                </a:solidFill>
                <a:effectLst/>
                <a:latin typeface="Times New Roman" panose="02020603050405020304" pitchFamily="18" charset="0"/>
                <a:cs typeface="Times New Roman" panose="02020603050405020304" pitchFamily="18" charset="0"/>
              </a:rPr>
            </a:br>
            <a:r>
              <a:rPr lang="en-US" b="1" i="0" dirty="0">
                <a:solidFill>
                  <a:srgbClr val="FF0000"/>
                </a:solidFill>
                <a:effectLst/>
                <a:latin typeface="Times New Roman" panose="02020603050405020304" pitchFamily="18" charset="0"/>
                <a:cs typeface="Times New Roman" panose="02020603050405020304" pitchFamily="18" charset="0"/>
              </a:rPr>
              <a:t>Some of Validation rules for field</a:t>
            </a:r>
            <a:br>
              <a:rPr lang="en-US" b="1" i="0" dirty="0">
                <a:solidFill>
                  <a:srgbClr val="FF0000"/>
                </a:solidFill>
                <a:effectLst/>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xmlns="" id="{D9D65A4E-6D7E-4B16-BA63-C40102EED972}"/>
              </a:ext>
            </a:extLst>
          </p:cNvPr>
          <p:cNvGraphicFramePr>
            <a:graphicFrameLocks noGrp="1"/>
          </p:cNvGraphicFramePr>
          <p:nvPr>
            <p:ph idx="1"/>
            <p:extLst>
              <p:ext uri="{D42A27DB-BD31-4B8C-83A1-F6EECF244321}">
                <p14:modId xmlns:p14="http://schemas.microsoft.com/office/powerpoint/2010/main" val="3941577287"/>
              </p:ext>
            </p:extLst>
          </p:nvPr>
        </p:nvGraphicFramePr>
        <p:xfrm>
          <a:off x="457200" y="914400"/>
          <a:ext cx="8229600" cy="53340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xmlns="" val="3961066034"/>
                    </a:ext>
                  </a:extLst>
                </a:gridCol>
                <a:gridCol w="4114800">
                  <a:extLst>
                    <a:ext uri="{9D8B030D-6E8A-4147-A177-3AD203B41FA5}">
                      <a16:colId xmlns:a16="http://schemas.microsoft.com/office/drawing/2014/main" xmlns="" val="1566622972"/>
                    </a:ext>
                  </a:extLst>
                </a:gridCol>
              </a:tblGrid>
              <a:tr h="762000">
                <a:tc>
                  <a:txBody>
                    <a:bodyPr/>
                    <a:lstStyle/>
                    <a:p>
                      <a:pPr fontAlgn="t"/>
                      <a:r>
                        <a:rPr lang="en-US" dirty="0">
                          <a:effectLst/>
                        </a:rPr>
                        <a:t>Field</a:t>
                      </a:r>
                    </a:p>
                  </a:txBody>
                  <a:tcPr marL="76200" marR="76200" marT="76200" marB="76200"/>
                </a:tc>
                <a:tc>
                  <a:txBody>
                    <a:bodyPr/>
                    <a:lstStyle/>
                    <a:p>
                      <a:pPr fontAlgn="t"/>
                      <a:r>
                        <a:rPr lang="en-US">
                          <a:effectLst/>
                        </a:rPr>
                        <a:t>Validation Rules</a:t>
                      </a:r>
                    </a:p>
                  </a:txBody>
                  <a:tcPr marL="76200" marR="76200" marT="76200" marB="76200"/>
                </a:tc>
                <a:extLst>
                  <a:ext uri="{0D108BD9-81ED-4DB2-BD59-A6C34878D82A}">
                    <a16:rowId xmlns:a16="http://schemas.microsoft.com/office/drawing/2014/main" xmlns="" val="3776284627"/>
                  </a:ext>
                </a:extLst>
              </a:tr>
              <a:tr h="762000">
                <a:tc>
                  <a:txBody>
                    <a:bodyPr/>
                    <a:lstStyle/>
                    <a:p>
                      <a:pPr fontAlgn="t"/>
                      <a:r>
                        <a:rPr lang="en-US">
                          <a:effectLst/>
                        </a:rPr>
                        <a:t>Name</a:t>
                      </a:r>
                    </a:p>
                  </a:txBody>
                  <a:tcPr marL="76200" marR="76200" marT="76200" marB="76200"/>
                </a:tc>
                <a:tc>
                  <a:txBody>
                    <a:bodyPr/>
                    <a:lstStyle/>
                    <a:p>
                      <a:pPr fontAlgn="t"/>
                      <a:r>
                        <a:rPr lang="en-US">
                          <a:effectLst/>
                        </a:rPr>
                        <a:t>Should required letters and white-spaces</a:t>
                      </a:r>
                    </a:p>
                  </a:txBody>
                  <a:tcPr marL="76200" marR="76200" marT="76200" marB="76200"/>
                </a:tc>
                <a:extLst>
                  <a:ext uri="{0D108BD9-81ED-4DB2-BD59-A6C34878D82A}">
                    <a16:rowId xmlns:a16="http://schemas.microsoft.com/office/drawing/2014/main" xmlns="" val="995944850"/>
                  </a:ext>
                </a:extLst>
              </a:tr>
              <a:tr h="762000">
                <a:tc>
                  <a:txBody>
                    <a:bodyPr/>
                    <a:lstStyle/>
                    <a:p>
                      <a:pPr fontAlgn="t"/>
                      <a:r>
                        <a:rPr lang="en-US">
                          <a:effectLst/>
                        </a:rPr>
                        <a:t>Email</a:t>
                      </a:r>
                    </a:p>
                  </a:txBody>
                  <a:tcPr marL="76200" marR="76200" marT="76200" marB="76200"/>
                </a:tc>
                <a:tc>
                  <a:txBody>
                    <a:bodyPr/>
                    <a:lstStyle/>
                    <a:p>
                      <a:pPr fontAlgn="t"/>
                      <a:r>
                        <a:rPr lang="en-US">
                          <a:effectLst/>
                        </a:rPr>
                        <a:t>Should required </a:t>
                      </a:r>
                      <a:r>
                        <a:rPr lang="en-US" b="1">
                          <a:effectLst/>
                        </a:rPr>
                        <a:t>@</a:t>
                      </a:r>
                      <a:r>
                        <a:rPr lang="en-US">
                          <a:effectLst/>
                        </a:rPr>
                        <a:t> and </a:t>
                      </a:r>
                      <a:r>
                        <a:rPr lang="en-US" b="1">
                          <a:effectLst/>
                        </a:rPr>
                        <a:t>.</a:t>
                      </a:r>
                      <a:endParaRPr lang="en-US">
                        <a:effectLst/>
                      </a:endParaRPr>
                    </a:p>
                  </a:txBody>
                  <a:tcPr marL="76200" marR="76200" marT="76200" marB="76200"/>
                </a:tc>
                <a:extLst>
                  <a:ext uri="{0D108BD9-81ED-4DB2-BD59-A6C34878D82A}">
                    <a16:rowId xmlns:a16="http://schemas.microsoft.com/office/drawing/2014/main" xmlns="" val="2952194084"/>
                  </a:ext>
                </a:extLst>
              </a:tr>
              <a:tr h="762000">
                <a:tc>
                  <a:txBody>
                    <a:bodyPr/>
                    <a:lstStyle/>
                    <a:p>
                      <a:pPr fontAlgn="t"/>
                      <a:r>
                        <a:rPr lang="en-US">
                          <a:effectLst/>
                        </a:rPr>
                        <a:t>Website</a:t>
                      </a:r>
                    </a:p>
                  </a:txBody>
                  <a:tcPr marL="76200" marR="76200" marT="76200" marB="76200"/>
                </a:tc>
                <a:tc>
                  <a:txBody>
                    <a:bodyPr/>
                    <a:lstStyle/>
                    <a:p>
                      <a:pPr fontAlgn="t"/>
                      <a:r>
                        <a:rPr lang="en-US">
                          <a:effectLst/>
                        </a:rPr>
                        <a:t>Should required a valid URL</a:t>
                      </a:r>
                    </a:p>
                  </a:txBody>
                  <a:tcPr marL="76200" marR="76200" marT="76200" marB="76200"/>
                </a:tc>
                <a:extLst>
                  <a:ext uri="{0D108BD9-81ED-4DB2-BD59-A6C34878D82A}">
                    <a16:rowId xmlns:a16="http://schemas.microsoft.com/office/drawing/2014/main" xmlns="" val="3608813029"/>
                  </a:ext>
                </a:extLst>
              </a:tr>
              <a:tr h="762000">
                <a:tc>
                  <a:txBody>
                    <a:bodyPr/>
                    <a:lstStyle/>
                    <a:p>
                      <a:pPr fontAlgn="t"/>
                      <a:r>
                        <a:rPr lang="en-US">
                          <a:effectLst/>
                        </a:rPr>
                        <a:t>Radio</a:t>
                      </a:r>
                    </a:p>
                  </a:txBody>
                  <a:tcPr marL="76200" marR="76200" marT="76200" marB="76200"/>
                </a:tc>
                <a:tc>
                  <a:txBody>
                    <a:bodyPr/>
                    <a:lstStyle/>
                    <a:p>
                      <a:pPr fontAlgn="t"/>
                      <a:r>
                        <a:rPr lang="en-US">
                          <a:effectLst/>
                        </a:rPr>
                        <a:t>Must be selectable at least once</a:t>
                      </a:r>
                    </a:p>
                  </a:txBody>
                  <a:tcPr marL="76200" marR="76200" marT="76200" marB="76200"/>
                </a:tc>
                <a:extLst>
                  <a:ext uri="{0D108BD9-81ED-4DB2-BD59-A6C34878D82A}">
                    <a16:rowId xmlns:a16="http://schemas.microsoft.com/office/drawing/2014/main" xmlns="" val="1030777911"/>
                  </a:ext>
                </a:extLst>
              </a:tr>
              <a:tr h="762000">
                <a:tc>
                  <a:txBody>
                    <a:bodyPr/>
                    <a:lstStyle/>
                    <a:p>
                      <a:pPr fontAlgn="t"/>
                      <a:r>
                        <a:rPr lang="en-US">
                          <a:effectLst/>
                        </a:rPr>
                        <a:t>Check Box</a:t>
                      </a:r>
                    </a:p>
                  </a:txBody>
                  <a:tcPr marL="76200" marR="76200" marT="76200" marB="76200"/>
                </a:tc>
                <a:tc>
                  <a:txBody>
                    <a:bodyPr/>
                    <a:lstStyle/>
                    <a:p>
                      <a:pPr fontAlgn="t"/>
                      <a:r>
                        <a:rPr lang="en-US">
                          <a:effectLst/>
                        </a:rPr>
                        <a:t>Must be checkable at least once</a:t>
                      </a:r>
                    </a:p>
                  </a:txBody>
                  <a:tcPr marL="76200" marR="76200" marT="76200" marB="76200"/>
                </a:tc>
                <a:extLst>
                  <a:ext uri="{0D108BD9-81ED-4DB2-BD59-A6C34878D82A}">
                    <a16:rowId xmlns:a16="http://schemas.microsoft.com/office/drawing/2014/main" xmlns="" val="2900620376"/>
                  </a:ext>
                </a:extLst>
              </a:tr>
              <a:tr h="762000">
                <a:tc>
                  <a:txBody>
                    <a:bodyPr/>
                    <a:lstStyle/>
                    <a:p>
                      <a:pPr fontAlgn="t"/>
                      <a:r>
                        <a:rPr lang="en-US">
                          <a:effectLst/>
                        </a:rPr>
                        <a:t>Drop Down menu</a:t>
                      </a:r>
                    </a:p>
                  </a:txBody>
                  <a:tcPr marL="76200" marR="76200" marT="76200" marB="76200"/>
                </a:tc>
                <a:tc>
                  <a:txBody>
                    <a:bodyPr/>
                    <a:lstStyle/>
                    <a:p>
                      <a:pPr fontAlgn="t"/>
                      <a:r>
                        <a:rPr lang="en-US" dirty="0">
                          <a:effectLst/>
                        </a:rPr>
                        <a:t>Must be selectable at least once</a:t>
                      </a:r>
                    </a:p>
                  </a:txBody>
                  <a:tcPr marL="76200" marR="76200" marT="76200" marB="76200"/>
                </a:tc>
                <a:extLst>
                  <a:ext uri="{0D108BD9-81ED-4DB2-BD59-A6C34878D82A}">
                    <a16:rowId xmlns:a16="http://schemas.microsoft.com/office/drawing/2014/main" xmlns="" val="2114703662"/>
                  </a:ext>
                </a:extLst>
              </a:tr>
            </a:tbl>
          </a:graphicData>
        </a:graphic>
      </p:graphicFrame>
    </p:spTree>
    <p:extLst>
      <p:ext uri="{BB962C8B-B14F-4D97-AF65-F5344CB8AC3E}">
        <p14:creationId xmlns:p14="http://schemas.microsoft.com/office/powerpoint/2010/main" val="32620875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55000" lnSpcReduction="20000"/>
          </a:bodyPr>
          <a:lstStyle/>
          <a:p>
            <a:pPr>
              <a:buNone/>
            </a:pPr>
            <a:r>
              <a:rPr lang="en-US" b="1" dirty="0"/>
              <a:t>Form Validation - Checking for Non-Empty</a:t>
            </a:r>
          </a:p>
          <a:p>
            <a:pPr>
              <a:buNone/>
            </a:pPr>
            <a:r>
              <a:rPr lang="en-US" dirty="0"/>
              <a:t>Check to see if a given HTML input is empty or not.</a:t>
            </a:r>
          </a:p>
          <a:p>
            <a:pPr>
              <a:buNone/>
            </a:pPr>
            <a:r>
              <a:rPr lang="en-US" b="1" dirty="0"/>
              <a:t>Example:</a:t>
            </a:r>
          </a:p>
          <a:p>
            <a:pPr lvl="1">
              <a:buNone/>
            </a:pPr>
            <a:r>
              <a:rPr lang="en-US" b="1" dirty="0"/>
              <a:t>&lt;!DOCTYPE html&gt;</a:t>
            </a:r>
          </a:p>
          <a:p>
            <a:pPr lvl="1">
              <a:buNone/>
            </a:pPr>
            <a:r>
              <a:rPr lang="en-US" b="1" dirty="0"/>
              <a:t>&lt;html&gt;</a:t>
            </a:r>
          </a:p>
          <a:p>
            <a:pPr lvl="1">
              <a:buNone/>
            </a:pPr>
            <a:r>
              <a:rPr lang="en-US" b="1" dirty="0"/>
              <a:t>&lt;head&gt;</a:t>
            </a:r>
          </a:p>
          <a:p>
            <a:pPr lvl="1">
              <a:buNone/>
            </a:pPr>
            <a:r>
              <a:rPr lang="en-US" b="1" dirty="0"/>
              <a:t>	&lt;title&gt;validation Example:&lt;/title&gt;</a:t>
            </a:r>
          </a:p>
          <a:p>
            <a:pPr lvl="1">
              <a:buNone/>
            </a:pPr>
            <a:r>
              <a:rPr lang="en-US" b="1" dirty="0"/>
              <a:t>	&lt;script type='text/</a:t>
            </a:r>
            <a:r>
              <a:rPr lang="en-US" b="1" dirty="0" err="1"/>
              <a:t>javascript</a:t>
            </a:r>
            <a:r>
              <a:rPr lang="en-US" b="1" dirty="0"/>
              <a:t>'&gt; </a:t>
            </a:r>
          </a:p>
          <a:p>
            <a:pPr lvl="1">
              <a:buNone/>
            </a:pPr>
            <a:r>
              <a:rPr lang="en-US" b="1" dirty="0"/>
              <a:t>	function </a:t>
            </a:r>
            <a:r>
              <a:rPr lang="en-US" b="1" dirty="0" err="1"/>
              <a:t>notEmpty</a:t>
            </a:r>
            <a:r>
              <a:rPr lang="en-US" b="1" dirty="0"/>
              <a:t>()</a:t>
            </a:r>
          </a:p>
          <a:p>
            <a:pPr lvl="1">
              <a:buNone/>
            </a:pPr>
            <a:r>
              <a:rPr lang="en-US" b="1" dirty="0"/>
              <a:t>	{</a:t>
            </a:r>
          </a:p>
          <a:p>
            <a:pPr lvl="1">
              <a:buNone/>
            </a:pPr>
            <a:r>
              <a:rPr lang="en-US" b="1" dirty="0"/>
              <a:t>	 </a:t>
            </a:r>
            <a:r>
              <a:rPr lang="en-US" b="1" dirty="0" err="1"/>
              <a:t>var</a:t>
            </a:r>
            <a:r>
              <a:rPr lang="en-US" b="1" dirty="0"/>
              <a:t> v= </a:t>
            </a:r>
            <a:r>
              <a:rPr lang="en-US" b="1" dirty="0" err="1"/>
              <a:t>document.getElementById</a:t>
            </a:r>
            <a:r>
              <a:rPr lang="en-US" b="1" dirty="0"/>
              <a:t>("</a:t>
            </a:r>
            <a:r>
              <a:rPr lang="en-US" b="1" dirty="0" err="1"/>
              <a:t>elem</a:t>
            </a:r>
            <a:r>
              <a:rPr lang="en-US" b="1" dirty="0"/>
              <a:t>").value; </a:t>
            </a:r>
          </a:p>
          <a:p>
            <a:pPr lvl="1">
              <a:buNone/>
            </a:pPr>
            <a:r>
              <a:rPr lang="en-US" b="1" dirty="0"/>
              <a:t>	if(</a:t>
            </a:r>
            <a:r>
              <a:rPr lang="en-US" b="1" dirty="0" err="1"/>
              <a:t>v.length</a:t>
            </a:r>
            <a:r>
              <a:rPr lang="en-US" b="1" dirty="0"/>
              <a:t> == 0)</a:t>
            </a:r>
          </a:p>
          <a:p>
            <a:pPr lvl="1">
              <a:buNone/>
            </a:pPr>
            <a:r>
              <a:rPr lang="en-US" b="1" dirty="0"/>
              <a:t>	{</a:t>
            </a:r>
          </a:p>
          <a:p>
            <a:pPr lvl="1">
              <a:buNone/>
            </a:pPr>
            <a:r>
              <a:rPr lang="en-US" b="1" dirty="0"/>
              <a:t>	alert("Field should not be empty:"); </a:t>
            </a:r>
          </a:p>
          <a:p>
            <a:pPr lvl="1">
              <a:buNone/>
            </a:pPr>
            <a:r>
              <a:rPr lang="en-US" b="1" dirty="0"/>
              <a:t>	}</a:t>
            </a:r>
          </a:p>
          <a:p>
            <a:pPr lvl="1">
              <a:buNone/>
            </a:pPr>
            <a:r>
              <a:rPr lang="en-US" b="1" dirty="0"/>
              <a:t>	}</a:t>
            </a:r>
          </a:p>
          <a:p>
            <a:pPr lvl="1">
              <a:buNone/>
            </a:pPr>
            <a:r>
              <a:rPr lang="en-US" b="1" dirty="0"/>
              <a:t>&lt;/script&gt;</a:t>
            </a:r>
          </a:p>
          <a:p>
            <a:pPr lvl="1">
              <a:buNone/>
            </a:pPr>
            <a:r>
              <a:rPr lang="en-US" b="1" dirty="0"/>
              <a:t>&lt;/head&gt;</a:t>
            </a:r>
          </a:p>
          <a:p>
            <a:pPr lvl="1">
              <a:buNone/>
            </a:pPr>
            <a:r>
              <a:rPr lang="en-US" b="1" dirty="0"/>
              <a:t>&lt;body&gt;</a:t>
            </a:r>
          </a:p>
          <a:p>
            <a:pPr lvl="1">
              <a:buNone/>
            </a:pPr>
            <a:r>
              <a:rPr lang="en-US" b="1" dirty="0"/>
              <a:t>&lt;form&gt;</a:t>
            </a:r>
          </a:p>
          <a:p>
            <a:pPr lvl="1">
              <a:buNone/>
            </a:pPr>
            <a:r>
              <a:rPr lang="en-US" b="1" dirty="0"/>
              <a:t>Required Field: &lt;input type="text" id="</a:t>
            </a:r>
            <a:r>
              <a:rPr lang="en-US" b="1" dirty="0" err="1"/>
              <a:t>elem</a:t>
            </a:r>
            <a:r>
              <a:rPr lang="en-US" b="1" dirty="0"/>
              <a:t>"/&gt;</a:t>
            </a:r>
          </a:p>
          <a:p>
            <a:pPr lvl="1">
              <a:buNone/>
            </a:pPr>
            <a:r>
              <a:rPr lang="en-US" b="1" dirty="0"/>
              <a:t>&lt;input type="button" </a:t>
            </a:r>
            <a:r>
              <a:rPr lang="en-US" b="1" dirty="0" err="1"/>
              <a:t>onclick</a:t>
            </a:r>
            <a:r>
              <a:rPr lang="en-US" b="1" dirty="0"/>
              <a:t>="</a:t>
            </a:r>
            <a:r>
              <a:rPr lang="en-US" b="1" dirty="0" err="1"/>
              <a:t>notEmpty</a:t>
            </a:r>
            <a:r>
              <a:rPr lang="en-US" b="1" dirty="0"/>
              <a:t>()" value="Check"/&gt;</a:t>
            </a:r>
          </a:p>
          <a:p>
            <a:pPr lvl="1">
              <a:buNone/>
            </a:pPr>
            <a:r>
              <a:rPr lang="en-US" b="1" dirty="0"/>
              <a:t>&lt;/form&gt;</a:t>
            </a:r>
          </a:p>
          <a:p>
            <a:pPr lvl="1">
              <a:buNone/>
            </a:pPr>
            <a:r>
              <a:rPr lang="en-US" b="1" dirty="0"/>
              <a:t>&lt;/body&gt;</a:t>
            </a:r>
          </a:p>
          <a:p>
            <a:pPr lvl="1">
              <a:buNone/>
            </a:pPr>
            <a:r>
              <a:rPr lang="en-US" b="1" dirty="0"/>
              <a:t>&lt;/html&gt;</a:t>
            </a:r>
          </a:p>
          <a:p>
            <a:pPr lvl="1"/>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47500" lnSpcReduction="20000"/>
          </a:bodyPr>
          <a:lstStyle/>
          <a:p>
            <a:pPr algn="just">
              <a:buNone/>
            </a:pPr>
            <a:r>
              <a:rPr lang="en-US" b="1" dirty="0">
                <a:latin typeface="Times New Roman" pitchFamily="18" charset="0"/>
                <a:cs typeface="Times New Roman" pitchFamily="18" charset="0"/>
              </a:rPr>
              <a:t>Form Validation - Checking for All Numbers</a:t>
            </a:r>
          </a:p>
          <a:p>
            <a:pPr algn="just"/>
            <a:r>
              <a:rPr lang="en-US" dirty="0">
                <a:latin typeface="Times New Roman" pitchFamily="18" charset="0"/>
                <a:cs typeface="Times New Roman" pitchFamily="18" charset="0"/>
              </a:rPr>
              <a:t>The quickest way to check if an input's string value is all numbers is to use a regular expression /^[0-9]+$/ that will only </a:t>
            </a:r>
            <a:r>
              <a:rPr lang="en-US" i="1" dirty="0">
                <a:latin typeface="Times New Roman" pitchFamily="18" charset="0"/>
                <a:cs typeface="Times New Roman" pitchFamily="18" charset="0"/>
              </a:rPr>
              <a:t>match </a:t>
            </a:r>
            <a:r>
              <a:rPr lang="en-US" dirty="0">
                <a:latin typeface="Times New Roman" pitchFamily="18" charset="0"/>
                <a:cs typeface="Times New Roman" pitchFamily="18" charset="0"/>
              </a:rPr>
              <a:t>if the string is all numbers and is at least one character long.</a:t>
            </a:r>
          </a:p>
          <a:p>
            <a:pPr algn="just">
              <a:buNone/>
            </a:pPr>
            <a:r>
              <a:rPr lang="en-US" b="1" dirty="0">
                <a:latin typeface="Times New Roman" pitchFamily="18" charset="0"/>
                <a:cs typeface="Times New Roman" pitchFamily="18" charset="0"/>
              </a:rPr>
              <a:t>&lt;!DOCTYPE html&gt;</a:t>
            </a:r>
          </a:p>
          <a:p>
            <a:pPr algn="just">
              <a:buNone/>
            </a:pPr>
            <a:r>
              <a:rPr lang="en-US" b="1" dirty="0">
                <a:latin typeface="Times New Roman" pitchFamily="18" charset="0"/>
                <a:cs typeface="Times New Roman" pitchFamily="18" charset="0"/>
              </a:rPr>
              <a:t>&lt;html&gt;</a:t>
            </a:r>
          </a:p>
          <a:p>
            <a:pPr algn="just">
              <a:buNone/>
            </a:pPr>
            <a:r>
              <a:rPr lang="en-US" b="1" dirty="0">
                <a:latin typeface="Times New Roman" pitchFamily="18" charset="0"/>
                <a:cs typeface="Times New Roman" pitchFamily="18" charset="0"/>
              </a:rPr>
              <a:t>&lt;head&gt;</a:t>
            </a:r>
          </a:p>
          <a:p>
            <a:pPr algn="just">
              <a:buNone/>
            </a:pPr>
            <a:r>
              <a:rPr lang="en-US" b="1" dirty="0">
                <a:latin typeface="Times New Roman" pitchFamily="18" charset="0"/>
                <a:cs typeface="Times New Roman" pitchFamily="18" charset="0"/>
              </a:rPr>
              <a:t>	&lt;title&gt;validation Example:&lt;/title&gt;</a:t>
            </a:r>
          </a:p>
          <a:p>
            <a:pPr algn="just">
              <a:buNone/>
            </a:pPr>
            <a:r>
              <a:rPr lang="en-US" b="1" dirty="0">
                <a:latin typeface="Times New Roman" pitchFamily="18" charset="0"/>
                <a:cs typeface="Times New Roman" pitchFamily="18" charset="0"/>
              </a:rPr>
              <a:t>	&lt;script type='text/</a:t>
            </a:r>
            <a:r>
              <a:rPr lang="en-US" b="1" dirty="0" err="1">
                <a:latin typeface="Times New Roman" pitchFamily="18" charset="0"/>
                <a:cs typeface="Times New Roman" pitchFamily="18" charset="0"/>
              </a:rPr>
              <a:t>javascript</a:t>
            </a:r>
            <a:r>
              <a:rPr lang="en-US" b="1" dirty="0">
                <a:latin typeface="Times New Roman" pitchFamily="18" charset="0"/>
                <a:cs typeface="Times New Roman" pitchFamily="18" charset="0"/>
              </a:rPr>
              <a:t>'&gt; </a:t>
            </a:r>
          </a:p>
          <a:p>
            <a:pPr algn="just">
              <a:buNone/>
            </a:pPr>
            <a:r>
              <a:rPr lang="en-US" b="1" dirty="0">
                <a:latin typeface="Times New Roman" pitchFamily="18" charset="0"/>
                <a:cs typeface="Times New Roman" pitchFamily="18" charset="0"/>
              </a:rPr>
              <a:t>	function validate()</a:t>
            </a:r>
          </a:p>
          <a:p>
            <a:pPr algn="just">
              <a:buNone/>
            </a:pPr>
            <a:r>
              <a:rPr lang="en-US" b="1" dirty="0">
                <a:latin typeface="Times New Roman" pitchFamily="18" charset="0"/>
                <a:cs typeface="Times New Roman" pitchFamily="18" charset="0"/>
              </a:rPr>
              <a:t>	{</a:t>
            </a:r>
          </a:p>
          <a:p>
            <a:pPr algn="just">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patt</a:t>
            </a:r>
            <a:r>
              <a:rPr lang="en-US" b="1" dirty="0">
                <a:latin typeface="Times New Roman" pitchFamily="18" charset="0"/>
                <a:cs typeface="Times New Roman" pitchFamily="18" charset="0"/>
              </a:rPr>
              <a:t>=/^[0-9]+$/;</a:t>
            </a:r>
          </a:p>
          <a:p>
            <a:pPr algn="just">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v= </a:t>
            </a:r>
            <a:r>
              <a:rPr lang="en-US" b="1" dirty="0" err="1">
                <a:latin typeface="Times New Roman" pitchFamily="18" charset="0"/>
                <a:cs typeface="Times New Roman" pitchFamily="18" charset="0"/>
              </a:rPr>
              <a:t>document.getElementById</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elem</a:t>
            </a:r>
            <a:r>
              <a:rPr lang="en-US" b="1" dirty="0">
                <a:latin typeface="Times New Roman" pitchFamily="18" charset="0"/>
                <a:cs typeface="Times New Roman" pitchFamily="18" charset="0"/>
              </a:rPr>
              <a:t>').value; </a:t>
            </a:r>
          </a:p>
          <a:p>
            <a:pPr algn="just">
              <a:buNone/>
            </a:pPr>
            <a:r>
              <a:rPr lang="en-US" b="1" dirty="0">
                <a:latin typeface="Times New Roman" pitchFamily="18" charset="0"/>
                <a:cs typeface="Times New Roman" pitchFamily="18" charset="0"/>
              </a:rPr>
              <a:t>		if(</a:t>
            </a:r>
            <a:r>
              <a:rPr lang="en-US" b="1" dirty="0" err="1">
                <a:latin typeface="Times New Roman" pitchFamily="18" charset="0"/>
                <a:cs typeface="Times New Roman" pitchFamily="18" charset="0"/>
              </a:rPr>
              <a:t>v.match</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patt</a:t>
            </a:r>
            <a:r>
              <a:rPr lang="en-US" b="1" dirty="0">
                <a:latin typeface="Times New Roman" pitchFamily="18" charset="0"/>
                <a:cs typeface="Times New Roman" pitchFamily="18" charset="0"/>
              </a:rPr>
              <a:t>))</a:t>
            </a:r>
          </a:p>
          <a:p>
            <a:pPr algn="just">
              <a:buNone/>
            </a:pPr>
            <a:r>
              <a:rPr lang="en-US" b="1" dirty="0">
                <a:latin typeface="Times New Roman" pitchFamily="18" charset="0"/>
                <a:cs typeface="Times New Roman" pitchFamily="18" charset="0"/>
              </a:rPr>
              <a:t>		 alert("valid entry");</a:t>
            </a:r>
          </a:p>
          <a:p>
            <a:pPr algn="just">
              <a:buNone/>
            </a:pPr>
            <a:r>
              <a:rPr lang="en-US" b="1" dirty="0">
                <a:latin typeface="Times New Roman" pitchFamily="18" charset="0"/>
                <a:cs typeface="Times New Roman" pitchFamily="18" charset="0"/>
              </a:rPr>
              <a:t>		else</a:t>
            </a:r>
          </a:p>
          <a:p>
            <a:pPr algn="just">
              <a:buNone/>
            </a:pPr>
            <a:r>
              <a:rPr lang="en-US" b="1" dirty="0">
                <a:latin typeface="Times New Roman" pitchFamily="18" charset="0"/>
                <a:cs typeface="Times New Roman" pitchFamily="18" charset="0"/>
              </a:rPr>
              <a:t>		alert("Invalid entry");</a:t>
            </a:r>
          </a:p>
          <a:p>
            <a:pPr algn="just">
              <a:buNone/>
            </a:pPr>
            <a:r>
              <a:rPr lang="en-US" b="1" dirty="0">
                <a:latin typeface="Times New Roman" pitchFamily="18" charset="0"/>
                <a:cs typeface="Times New Roman" pitchFamily="18" charset="0"/>
              </a:rPr>
              <a:t>	}</a:t>
            </a:r>
          </a:p>
          <a:p>
            <a:pPr algn="just">
              <a:buNone/>
            </a:pPr>
            <a:r>
              <a:rPr lang="en-US" b="1" dirty="0">
                <a:latin typeface="Times New Roman" pitchFamily="18" charset="0"/>
                <a:cs typeface="Times New Roman" pitchFamily="18" charset="0"/>
              </a:rPr>
              <a:t>&lt;/script&gt;</a:t>
            </a:r>
          </a:p>
          <a:p>
            <a:pPr algn="just">
              <a:buNone/>
            </a:pPr>
            <a:r>
              <a:rPr lang="en-US" b="1" dirty="0">
                <a:latin typeface="Times New Roman" pitchFamily="18" charset="0"/>
                <a:cs typeface="Times New Roman" pitchFamily="18" charset="0"/>
              </a:rPr>
              <a:t>&lt;/head&gt;</a:t>
            </a:r>
          </a:p>
          <a:p>
            <a:pPr algn="just">
              <a:buNone/>
            </a:pPr>
            <a:r>
              <a:rPr lang="en-US" b="1" dirty="0">
                <a:latin typeface="Times New Roman" pitchFamily="18" charset="0"/>
                <a:cs typeface="Times New Roman" pitchFamily="18" charset="0"/>
              </a:rPr>
              <a:t>&lt;body&gt;&lt;form&gt;</a:t>
            </a:r>
          </a:p>
          <a:p>
            <a:pPr algn="just">
              <a:buNone/>
            </a:pPr>
            <a:r>
              <a:rPr lang="en-US" b="1" dirty="0">
                <a:latin typeface="Times New Roman" pitchFamily="18" charset="0"/>
                <a:cs typeface="Times New Roman" pitchFamily="18" charset="0"/>
              </a:rPr>
              <a:t>Required Field: &lt;input type="text" id="</a:t>
            </a:r>
            <a:r>
              <a:rPr lang="en-US" b="1" dirty="0" err="1">
                <a:latin typeface="Times New Roman" pitchFamily="18" charset="0"/>
                <a:cs typeface="Times New Roman" pitchFamily="18" charset="0"/>
              </a:rPr>
              <a:t>elem</a:t>
            </a:r>
            <a:r>
              <a:rPr lang="en-US" b="1" dirty="0">
                <a:latin typeface="Times New Roman" pitchFamily="18" charset="0"/>
                <a:cs typeface="Times New Roman" pitchFamily="18" charset="0"/>
              </a:rPr>
              <a:t>"/&gt;</a:t>
            </a:r>
          </a:p>
          <a:p>
            <a:pPr algn="just">
              <a:buNone/>
            </a:pPr>
            <a:r>
              <a:rPr lang="en-US" b="1" dirty="0">
                <a:latin typeface="Times New Roman" pitchFamily="18" charset="0"/>
                <a:cs typeface="Times New Roman" pitchFamily="18" charset="0"/>
              </a:rPr>
              <a:t>&lt;input type="button" </a:t>
            </a:r>
            <a:r>
              <a:rPr lang="en-US" b="1" dirty="0" err="1">
                <a:latin typeface="Times New Roman" pitchFamily="18" charset="0"/>
                <a:cs typeface="Times New Roman" pitchFamily="18" charset="0"/>
              </a:rPr>
              <a:t>onclick</a:t>
            </a:r>
            <a:r>
              <a:rPr lang="en-US" b="1" dirty="0">
                <a:latin typeface="Times New Roman" pitchFamily="18" charset="0"/>
                <a:cs typeface="Times New Roman" pitchFamily="18" charset="0"/>
              </a:rPr>
              <a:t>="validate()" value="Check"/&gt;</a:t>
            </a:r>
          </a:p>
          <a:p>
            <a:pPr algn="just">
              <a:buNone/>
            </a:pPr>
            <a:r>
              <a:rPr lang="en-US" b="1" dirty="0">
                <a:latin typeface="Times New Roman" pitchFamily="18" charset="0"/>
                <a:cs typeface="Times New Roman" pitchFamily="18" charset="0"/>
              </a:rPr>
              <a:t>&lt;/form&gt;</a:t>
            </a:r>
          </a:p>
          <a:p>
            <a:pPr algn="just">
              <a:buNone/>
            </a:pPr>
            <a:r>
              <a:rPr lang="en-US" b="1" dirty="0">
                <a:latin typeface="Times New Roman" pitchFamily="18" charset="0"/>
                <a:cs typeface="Times New Roman" pitchFamily="18" charset="0"/>
              </a:rPr>
              <a:t>&lt;/body&gt;&lt;/html&gt;</a:t>
            </a:r>
          </a:p>
          <a:p>
            <a:pPr algn="just"/>
            <a:endParaRPr lang="en-US" dirty="0">
              <a:latin typeface="Times New Roman" pitchFamily="18" charset="0"/>
              <a:cs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47500" lnSpcReduction="20000"/>
          </a:bodyPr>
          <a:lstStyle/>
          <a:p>
            <a:pPr>
              <a:buNone/>
            </a:pPr>
            <a:r>
              <a:rPr lang="en-US" b="1" dirty="0"/>
              <a:t>Form Validation - Checking for All Letters</a:t>
            </a:r>
          </a:p>
          <a:p>
            <a:r>
              <a:rPr lang="en-US" dirty="0" err="1"/>
              <a:t>regEX</a:t>
            </a:r>
            <a:r>
              <a:rPr lang="en-US" b="1" dirty="0"/>
              <a:t>:/^[a-</a:t>
            </a:r>
            <a:r>
              <a:rPr lang="en-US" b="1" dirty="0" err="1"/>
              <a:t>zA</a:t>
            </a:r>
            <a:r>
              <a:rPr lang="en-US" b="1" dirty="0"/>
              <a:t>-Z]+$/ </a:t>
            </a:r>
          </a:p>
          <a:p>
            <a:pPr>
              <a:buNone/>
            </a:pPr>
            <a:r>
              <a:rPr lang="en-US" b="1" dirty="0">
                <a:solidFill>
                  <a:srgbClr val="FF0000"/>
                </a:solidFill>
              </a:rPr>
              <a:t>Example:</a:t>
            </a:r>
          </a:p>
          <a:p>
            <a:pPr algn="just">
              <a:buNone/>
            </a:pPr>
            <a:r>
              <a:rPr lang="en-US" b="1" dirty="0">
                <a:latin typeface="Times New Roman" pitchFamily="18" charset="0"/>
                <a:cs typeface="Times New Roman" pitchFamily="18" charset="0"/>
              </a:rPr>
              <a:t>&lt;!DOCTYPE html&gt;</a:t>
            </a:r>
          </a:p>
          <a:p>
            <a:pPr algn="just">
              <a:buNone/>
            </a:pPr>
            <a:r>
              <a:rPr lang="en-US" b="1" dirty="0">
                <a:latin typeface="Times New Roman" pitchFamily="18" charset="0"/>
                <a:cs typeface="Times New Roman" pitchFamily="18" charset="0"/>
              </a:rPr>
              <a:t>&lt;html&gt;</a:t>
            </a:r>
          </a:p>
          <a:p>
            <a:pPr algn="just">
              <a:buNone/>
            </a:pPr>
            <a:r>
              <a:rPr lang="en-US" b="1" dirty="0">
                <a:latin typeface="Times New Roman" pitchFamily="18" charset="0"/>
                <a:cs typeface="Times New Roman" pitchFamily="18" charset="0"/>
              </a:rPr>
              <a:t>&lt;head&gt;</a:t>
            </a:r>
          </a:p>
          <a:p>
            <a:pPr algn="just">
              <a:buNone/>
            </a:pPr>
            <a:r>
              <a:rPr lang="en-US" b="1" dirty="0">
                <a:latin typeface="Times New Roman" pitchFamily="18" charset="0"/>
                <a:cs typeface="Times New Roman" pitchFamily="18" charset="0"/>
              </a:rPr>
              <a:t>	&lt;title&gt;validation Example:&lt;/title&gt;</a:t>
            </a:r>
          </a:p>
          <a:p>
            <a:pPr algn="just">
              <a:buNone/>
            </a:pPr>
            <a:r>
              <a:rPr lang="en-US" b="1" dirty="0">
                <a:latin typeface="Times New Roman" pitchFamily="18" charset="0"/>
                <a:cs typeface="Times New Roman" pitchFamily="18" charset="0"/>
              </a:rPr>
              <a:t>	&lt;script type='text/</a:t>
            </a:r>
            <a:r>
              <a:rPr lang="en-US" b="1" dirty="0" err="1">
                <a:latin typeface="Times New Roman" pitchFamily="18" charset="0"/>
                <a:cs typeface="Times New Roman" pitchFamily="18" charset="0"/>
              </a:rPr>
              <a:t>javascript</a:t>
            </a:r>
            <a:r>
              <a:rPr lang="en-US" b="1" dirty="0">
                <a:latin typeface="Times New Roman" pitchFamily="18" charset="0"/>
                <a:cs typeface="Times New Roman" pitchFamily="18" charset="0"/>
              </a:rPr>
              <a:t>'&gt; </a:t>
            </a:r>
          </a:p>
          <a:p>
            <a:pPr algn="just">
              <a:buNone/>
            </a:pPr>
            <a:r>
              <a:rPr lang="en-US" b="1" dirty="0">
                <a:latin typeface="Times New Roman" pitchFamily="18" charset="0"/>
                <a:cs typeface="Times New Roman" pitchFamily="18" charset="0"/>
              </a:rPr>
              <a:t>	function validate()</a:t>
            </a:r>
          </a:p>
          <a:p>
            <a:pPr algn="just">
              <a:buNone/>
            </a:pPr>
            <a:r>
              <a:rPr lang="en-US" b="1" dirty="0">
                <a:latin typeface="Times New Roman" pitchFamily="18" charset="0"/>
                <a:cs typeface="Times New Roman" pitchFamily="18" charset="0"/>
              </a:rPr>
              <a:t>	{</a:t>
            </a:r>
          </a:p>
          <a:p>
            <a:pPr algn="just">
              <a:buNone/>
            </a:pPr>
            <a:r>
              <a:rPr lang="en-US" b="1" dirty="0">
                <a:latin typeface="Times New Roman" pitchFamily="18" charset="0"/>
                <a:cs typeface="Times New Roman" pitchFamily="18" charset="0"/>
              </a:rPr>
              <a:t>	            </a:t>
            </a:r>
            <a:r>
              <a:rPr lang="en-US" b="1" dirty="0" err="1"/>
              <a:t>var</a:t>
            </a:r>
            <a:r>
              <a:rPr lang="en-US" b="1" dirty="0"/>
              <a:t> </a:t>
            </a:r>
            <a:r>
              <a:rPr lang="en-US" b="1" dirty="0" err="1"/>
              <a:t>patt</a:t>
            </a:r>
            <a:r>
              <a:rPr lang="en-US" b="1" dirty="0"/>
              <a:t>=/^[a-</a:t>
            </a:r>
            <a:r>
              <a:rPr lang="en-US" b="1" dirty="0" err="1"/>
              <a:t>zA</a:t>
            </a:r>
            <a:r>
              <a:rPr lang="en-US" b="1" dirty="0"/>
              <a:t>-Z]+$/;</a:t>
            </a:r>
            <a:endParaRPr lang="en-US" b="1" dirty="0">
              <a:latin typeface="Times New Roman" pitchFamily="18" charset="0"/>
              <a:cs typeface="Times New Roman" pitchFamily="18" charset="0"/>
            </a:endParaRPr>
          </a:p>
          <a:p>
            <a:pPr algn="just">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v= </a:t>
            </a:r>
            <a:r>
              <a:rPr lang="en-US" b="1" dirty="0" err="1">
                <a:latin typeface="Times New Roman" pitchFamily="18" charset="0"/>
                <a:cs typeface="Times New Roman" pitchFamily="18" charset="0"/>
              </a:rPr>
              <a:t>document.getElementById</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elem</a:t>
            </a:r>
            <a:r>
              <a:rPr lang="en-US" b="1" dirty="0">
                <a:latin typeface="Times New Roman" pitchFamily="18" charset="0"/>
                <a:cs typeface="Times New Roman" pitchFamily="18" charset="0"/>
              </a:rPr>
              <a:t>').value; </a:t>
            </a:r>
          </a:p>
          <a:p>
            <a:pPr algn="just">
              <a:buNone/>
            </a:pPr>
            <a:r>
              <a:rPr lang="en-US" b="1" dirty="0">
                <a:latin typeface="Times New Roman" pitchFamily="18" charset="0"/>
                <a:cs typeface="Times New Roman" pitchFamily="18" charset="0"/>
              </a:rPr>
              <a:t>		if(</a:t>
            </a:r>
            <a:r>
              <a:rPr lang="en-US" b="1" dirty="0" err="1">
                <a:latin typeface="Times New Roman" pitchFamily="18" charset="0"/>
                <a:cs typeface="Times New Roman" pitchFamily="18" charset="0"/>
              </a:rPr>
              <a:t>v.match</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patt</a:t>
            </a:r>
            <a:r>
              <a:rPr lang="en-US" b="1" dirty="0">
                <a:latin typeface="Times New Roman" pitchFamily="18" charset="0"/>
                <a:cs typeface="Times New Roman" pitchFamily="18" charset="0"/>
              </a:rPr>
              <a:t>))</a:t>
            </a:r>
          </a:p>
          <a:p>
            <a:pPr algn="just">
              <a:buNone/>
            </a:pPr>
            <a:r>
              <a:rPr lang="en-US" b="1" dirty="0">
                <a:latin typeface="Times New Roman" pitchFamily="18" charset="0"/>
                <a:cs typeface="Times New Roman" pitchFamily="18" charset="0"/>
              </a:rPr>
              <a:t>		 alert("valid entry");</a:t>
            </a:r>
          </a:p>
          <a:p>
            <a:pPr algn="just">
              <a:buNone/>
            </a:pPr>
            <a:r>
              <a:rPr lang="en-US" b="1" dirty="0">
                <a:latin typeface="Times New Roman" pitchFamily="18" charset="0"/>
                <a:cs typeface="Times New Roman" pitchFamily="18" charset="0"/>
              </a:rPr>
              <a:t>		else</a:t>
            </a:r>
          </a:p>
          <a:p>
            <a:pPr algn="just">
              <a:buNone/>
            </a:pPr>
            <a:r>
              <a:rPr lang="en-US" b="1" dirty="0">
                <a:latin typeface="Times New Roman" pitchFamily="18" charset="0"/>
                <a:cs typeface="Times New Roman" pitchFamily="18" charset="0"/>
              </a:rPr>
              <a:t>		alert("Invalid entry");</a:t>
            </a:r>
          </a:p>
          <a:p>
            <a:pPr algn="just">
              <a:buNone/>
            </a:pPr>
            <a:r>
              <a:rPr lang="en-US" b="1" dirty="0">
                <a:latin typeface="Times New Roman" pitchFamily="18" charset="0"/>
                <a:cs typeface="Times New Roman" pitchFamily="18" charset="0"/>
              </a:rPr>
              <a:t>	}</a:t>
            </a:r>
          </a:p>
          <a:p>
            <a:pPr algn="just">
              <a:buNone/>
            </a:pPr>
            <a:r>
              <a:rPr lang="en-US" b="1" dirty="0">
                <a:latin typeface="Times New Roman" pitchFamily="18" charset="0"/>
                <a:cs typeface="Times New Roman" pitchFamily="18" charset="0"/>
              </a:rPr>
              <a:t>&lt;/script&gt;</a:t>
            </a:r>
          </a:p>
          <a:p>
            <a:pPr algn="just">
              <a:buNone/>
            </a:pPr>
            <a:r>
              <a:rPr lang="en-US" b="1" dirty="0">
                <a:latin typeface="Times New Roman" pitchFamily="18" charset="0"/>
                <a:cs typeface="Times New Roman" pitchFamily="18" charset="0"/>
              </a:rPr>
              <a:t>&lt;/head&gt;</a:t>
            </a:r>
          </a:p>
          <a:p>
            <a:pPr algn="just">
              <a:buNone/>
            </a:pPr>
            <a:r>
              <a:rPr lang="en-US" b="1" dirty="0">
                <a:latin typeface="Times New Roman" pitchFamily="18" charset="0"/>
                <a:cs typeface="Times New Roman" pitchFamily="18" charset="0"/>
              </a:rPr>
              <a:t>&lt;body&gt;&lt;form&gt;</a:t>
            </a:r>
          </a:p>
          <a:p>
            <a:pPr algn="just">
              <a:buNone/>
            </a:pPr>
            <a:r>
              <a:rPr lang="en-US" b="1" dirty="0">
                <a:latin typeface="Times New Roman" pitchFamily="18" charset="0"/>
                <a:cs typeface="Times New Roman" pitchFamily="18" charset="0"/>
              </a:rPr>
              <a:t>Required Field: &lt;input type="text" id="</a:t>
            </a:r>
            <a:r>
              <a:rPr lang="en-US" b="1" dirty="0" err="1">
                <a:latin typeface="Times New Roman" pitchFamily="18" charset="0"/>
                <a:cs typeface="Times New Roman" pitchFamily="18" charset="0"/>
              </a:rPr>
              <a:t>elem</a:t>
            </a:r>
            <a:r>
              <a:rPr lang="en-US" b="1" dirty="0">
                <a:latin typeface="Times New Roman" pitchFamily="18" charset="0"/>
                <a:cs typeface="Times New Roman" pitchFamily="18" charset="0"/>
              </a:rPr>
              <a:t>"/&gt;</a:t>
            </a:r>
          </a:p>
          <a:p>
            <a:pPr algn="just">
              <a:buNone/>
            </a:pPr>
            <a:r>
              <a:rPr lang="en-US" b="1" dirty="0">
                <a:latin typeface="Times New Roman" pitchFamily="18" charset="0"/>
                <a:cs typeface="Times New Roman" pitchFamily="18" charset="0"/>
              </a:rPr>
              <a:t>&lt;input type="button" </a:t>
            </a:r>
            <a:r>
              <a:rPr lang="en-US" b="1" dirty="0" err="1">
                <a:latin typeface="Times New Roman" pitchFamily="18" charset="0"/>
                <a:cs typeface="Times New Roman" pitchFamily="18" charset="0"/>
              </a:rPr>
              <a:t>onclick</a:t>
            </a:r>
            <a:r>
              <a:rPr lang="en-US" b="1" dirty="0">
                <a:latin typeface="Times New Roman" pitchFamily="18" charset="0"/>
                <a:cs typeface="Times New Roman" pitchFamily="18" charset="0"/>
              </a:rPr>
              <a:t>="validate()" value="Check"/&gt;</a:t>
            </a:r>
          </a:p>
          <a:p>
            <a:pPr algn="just">
              <a:buNone/>
            </a:pPr>
            <a:r>
              <a:rPr lang="en-US" b="1" dirty="0">
                <a:latin typeface="Times New Roman" pitchFamily="18" charset="0"/>
                <a:cs typeface="Times New Roman" pitchFamily="18" charset="0"/>
              </a:rPr>
              <a:t>&lt;/form&gt;</a:t>
            </a:r>
          </a:p>
          <a:p>
            <a:pPr algn="just">
              <a:buNone/>
            </a:pPr>
            <a:r>
              <a:rPr lang="en-US" b="1" dirty="0">
                <a:latin typeface="Times New Roman" pitchFamily="18" charset="0"/>
                <a:cs typeface="Times New Roman" pitchFamily="18" charset="0"/>
              </a:rPr>
              <a:t>&lt;/body&gt;&lt;/html&gt;</a:t>
            </a:r>
          </a:p>
          <a:p>
            <a:pPr algn="just"/>
            <a:endParaRPr lang="en-US" dirty="0">
              <a:latin typeface="Times New Roman" pitchFamily="18" charset="0"/>
              <a:cs typeface="Times New Roman" pitchFamily="18" charset="0"/>
            </a:endParaRPr>
          </a:p>
          <a:p>
            <a:endParaRPr lang="en-US" dirty="0"/>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fontScale="55000" lnSpcReduction="20000"/>
          </a:bodyPr>
          <a:lstStyle/>
          <a:p>
            <a:pPr>
              <a:buNone/>
            </a:pPr>
            <a:r>
              <a:rPr lang="en-US" b="1" dirty="0"/>
              <a:t>Form Validation - Restricting the Length</a:t>
            </a:r>
          </a:p>
          <a:p>
            <a:pPr>
              <a:buNone/>
            </a:pPr>
            <a:r>
              <a:rPr lang="en-US" b="1" dirty="0"/>
              <a:t>Example :</a:t>
            </a:r>
          </a:p>
          <a:p>
            <a:pPr lvl="1">
              <a:buNone/>
            </a:pPr>
            <a:r>
              <a:rPr lang="en-US" b="1" dirty="0"/>
              <a:t>&lt;!DOCTYPE html&gt;</a:t>
            </a:r>
          </a:p>
          <a:p>
            <a:pPr lvl="1">
              <a:buNone/>
            </a:pPr>
            <a:r>
              <a:rPr lang="en-US" b="1" dirty="0"/>
              <a:t>&lt;html&gt;</a:t>
            </a:r>
          </a:p>
          <a:p>
            <a:pPr lvl="1">
              <a:buNone/>
            </a:pPr>
            <a:r>
              <a:rPr lang="en-US" b="1" dirty="0"/>
              <a:t>&lt;head&gt;</a:t>
            </a:r>
          </a:p>
          <a:p>
            <a:pPr lvl="1">
              <a:buNone/>
            </a:pPr>
            <a:r>
              <a:rPr lang="en-US" b="1" dirty="0"/>
              <a:t>	&lt;title&gt;validation Example:&lt;/title&gt;</a:t>
            </a:r>
          </a:p>
          <a:p>
            <a:pPr lvl="1">
              <a:buNone/>
            </a:pPr>
            <a:r>
              <a:rPr lang="en-US" b="1" dirty="0"/>
              <a:t>	&lt;script type='text/</a:t>
            </a:r>
            <a:r>
              <a:rPr lang="en-US" b="1" dirty="0" err="1"/>
              <a:t>javascript</a:t>
            </a:r>
            <a:r>
              <a:rPr lang="en-US" b="1" dirty="0"/>
              <a:t>'&gt; </a:t>
            </a:r>
          </a:p>
          <a:p>
            <a:pPr lvl="1">
              <a:buNone/>
            </a:pPr>
            <a:r>
              <a:rPr lang="en-US" b="1" dirty="0"/>
              <a:t>	function validate()</a:t>
            </a:r>
          </a:p>
          <a:p>
            <a:pPr lvl="1">
              <a:buNone/>
            </a:pPr>
            <a:r>
              <a:rPr lang="en-US" b="1" dirty="0"/>
              <a:t>	{</a:t>
            </a:r>
          </a:p>
          <a:p>
            <a:pPr lvl="1">
              <a:buNone/>
            </a:pPr>
            <a:r>
              <a:rPr lang="en-US" b="1" dirty="0"/>
              <a:t>	  </a:t>
            </a:r>
            <a:r>
              <a:rPr lang="en-US" b="1" dirty="0" err="1"/>
              <a:t>var</a:t>
            </a:r>
            <a:r>
              <a:rPr lang="en-US" b="1" dirty="0"/>
              <a:t> </a:t>
            </a:r>
            <a:r>
              <a:rPr lang="en-US" b="1" dirty="0" err="1"/>
              <a:t>minlen</a:t>
            </a:r>
            <a:r>
              <a:rPr lang="en-US" b="1" dirty="0"/>
              <a:t>=6;</a:t>
            </a:r>
          </a:p>
          <a:p>
            <a:pPr lvl="1">
              <a:buNone/>
            </a:pPr>
            <a:r>
              <a:rPr lang="en-US" b="1" dirty="0"/>
              <a:t>		</a:t>
            </a:r>
            <a:r>
              <a:rPr lang="en-US" b="1" dirty="0" err="1"/>
              <a:t>var</a:t>
            </a:r>
            <a:r>
              <a:rPr lang="en-US" b="1" dirty="0"/>
              <a:t> v= </a:t>
            </a:r>
            <a:r>
              <a:rPr lang="en-US" b="1" dirty="0" err="1"/>
              <a:t>document.getElementById</a:t>
            </a:r>
            <a:r>
              <a:rPr lang="en-US" b="1" dirty="0"/>
              <a:t>('</a:t>
            </a:r>
            <a:r>
              <a:rPr lang="en-US" b="1" dirty="0" err="1"/>
              <a:t>elem</a:t>
            </a:r>
            <a:r>
              <a:rPr lang="en-US" b="1" dirty="0"/>
              <a:t>').value; </a:t>
            </a:r>
          </a:p>
          <a:p>
            <a:pPr lvl="1">
              <a:buNone/>
            </a:pPr>
            <a:r>
              <a:rPr lang="en-US" b="1" dirty="0"/>
              <a:t>		if(</a:t>
            </a:r>
            <a:r>
              <a:rPr lang="en-US" b="1" dirty="0" err="1"/>
              <a:t>v.length</a:t>
            </a:r>
            <a:r>
              <a:rPr lang="en-US" b="1" dirty="0"/>
              <a:t>&lt;</a:t>
            </a:r>
            <a:r>
              <a:rPr lang="en-US" b="1" dirty="0" err="1"/>
              <a:t>minlen</a:t>
            </a:r>
            <a:r>
              <a:rPr lang="en-US" b="1" dirty="0"/>
              <a:t>)</a:t>
            </a:r>
          </a:p>
          <a:p>
            <a:pPr lvl="1">
              <a:buNone/>
            </a:pPr>
            <a:r>
              <a:rPr lang="en-US" b="1" dirty="0"/>
              <a:t>		 alert("User ID must have at least 6 Characters"); ;</a:t>
            </a:r>
          </a:p>
          <a:p>
            <a:pPr lvl="1">
              <a:buNone/>
            </a:pPr>
            <a:r>
              <a:rPr lang="en-US" b="1" dirty="0"/>
              <a:t>		else</a:t>
            </a:r>
          </a:p>
          <a:p>
            <a:pPr lvl="1">
              <a:buNone/>
            </a:pPr>
            <a:r>
              <a:rPr lang="en-US" b="1" dirty="0"/>
              <a:t>		alert("valid entry");</a:t>
            </a:r>
          </a:p>
          <a:p>
            <a:pPr lvl="1">
              <a:buNone/>
            </a:pPr>
            <a:r>
              <a:rPr lang="en-US" b="1" dirty="0"/>
              <a:t>	}</a:t>
            </a:r>
          </a:p>
          <a:p>
            <a:pPr lvl="1">
              <a:buNone/>
            </a:pPr>
            <a:r>
              <a:rPr lang="en-US" b="1" dirty="0"/>
              <a:t>&lt;/script&gt;</a:t>
            </a:r>
          </a:p>
          <a:p>
            <a:pPr lvl="1">
              <a:buNone/>
            </a:pPr>
            <a:r>
              <a:rPr lang="en-US" b="1" dirty="0"/>
              <a:t>&lt;/head&gt;</a:t>
            </a:r>
          </a:p>
          <a:p>
            <a:pPr lvl="1">
              <a:buNone/>
            </a:pPr>
            <a:r>
              <a:rPr lang="en-US" b="1" dirty="0"/>
              <a:t>&lt;body&gt;</a:t>
            </a:r>
          </a:p>
          <a:p>
            <a:pPr lvl="1">
              <a:buNone/>
            </a:pPr>
            <a:r>
              <a:rPr lang="en-US" b="1" dirty="0"/>
              <a:t>&lt;form&gt;</a:t>
            </a:r>
          </a:p>
          <a:p>
            <a:pPr lvl="1">
              <a:buNone/>
            </a:pPr>
            <a:r>
              <a:rPr lang="en-US" b="1" dirty="0"/>
              <a:t>Required Field: &lt;input type="text" id="</a:t>
            </a:r>
            <a:r>
              <a:rPr lang="en-US" b="1" dirty="0" err="1"/>
              <a:t>elem</a:t>
            </a:r>
            <a:r>
              <a:rPr lang="en-US" b="1" dirty="0"/>
              <a:t>"/&gt;</a:t>
            </a:r>
          </a:p>
          <a:p>
            <a:pPr lvl="1">
              <a:buNone/>
            </a:pPr>
            <a:r>
              <a:rPr lang="en-US" b="1" dirty="0"/>
              <a:t>&lt;input type="button" </a:t>
            </a:r>
            <a:r>
              <a:rPr lang="en-US" b="1" dirty="0" err="1"/>
              <a:t>onclick</a:t>
            </a:r>
            <a:r>
              <a:rPr lang="en-US" b="1" dirty="0"/>
              <a:t>="validate()" value="Check"/&gt;</a:t>
            </a:r>
          </a:p>
          <a:p>
            <a:pPr lvl="1">
              <a:buNone/>
            </a:pPr>
            <a:r>
              <a:rPr lang="en-US" b="1" dirty="0"/>
              <a:t>&lt;/form&gt;</a:t>
            </a:r>
          </a:p>
          <a:p>
            <a:pPr lvl="1">
              <a:buNone/>
            </a:pPr>
            <a:r>
              <a:rPr lang="en-US" b="1" dirty="0"/>
              <a:t>&lt;/body&gt;</a:t>
            </a:r>
          </a:p>
          <a:p>
            <a:pPr lvl="1">
              <a:buNone/>
            </a:pPr>
            <a:r>
              <a:rPr lang="en-US" b="1" dirty="0"/>
              <a:t>&lt;/html&gt;</a:t>
            </a:r>
          </a:p>
          <a:p>
            <a:pPr lvl="1"/>
            <a:endParaRPr lang="en-US"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55000" lnSpcReduction="20000"/>
          </a:bodyPr>
          <a:lstStyle/>
          <a:p>
            <a:pPr>
              <a:buNone/>
            </a:pPr>
            <a:r>
              <a:rPr lang="en-US" b="1" dirty="0"/>
              <a:t>Form Validation - Selection Made</a:t>
            </a:r>
          </a:p>
          <a:p>
            <a:pPr>
              <a:buNone/>
            </a:pPr>
            <a:r>
              <a:rPr lang="en-US" b="1" dirty="0"/>
              <a:t>Example:</a:t>
            </a:r>
          </a:p>
          <a:p>
            <a:pPr lvl="1">
              <a:buNone/>
            </a:pPr>
            <a:r>
              <a:rPr lang="en-US" b="1" dirty="0">
                <a:latin typeface="Times New Roman" pitchFamily="18" charset="0"/>
                <a:cs typeface="Times New Roman" pitchFamily="18" charset="0"/>
              </a:rPr>
              <a:t>&lt;!DOCTYPE html&gt;</a:t>
            </a:r>
          </a:p>
          <a:p>
            <a:pPr lvl="1">
              <a:buNone/>
            </a:pPr>
            <a:r>
              <a:rPr lang="en-US" b="1" dirty="0">
                <a:latin typeface="Times New Roman" pitchFamily="18" charset="0"/>
                <a:cs typeface="Times New Roman" pitchFamily="18" charset="0"/>
              </a:rPr>
              <a:t>&lt;html&gt;</a:t>
            </a:r>
          </a:p>
          <a:p>
            <a:pPr lvl="1">
              <a:buNone/>
            </a:pPr>
            <a:r>
              <a:rPr lang="en-US" b="1" dirty="0">
                <a:latin typeface="Times New Roman" pitchFamily="18" charset="0"/>
                <a:cs typeface="Times New Roman" pitchFamily="18" charset="0"/>
              </a:rPr>
              <a:t>&lt;head&gt;</a:t>
            </a:r>
          </a:p>
          <a:p>
            <a:pPr lvl="1">
              <a:buNone/>
            </a:pPr>
            <a:r>
              <a:rPr lang="en-US" b="1" dirty="0">
                <a:latin typeface="Times New Roman" pitchFamily="18" charset="0"/>
                <a:cs typeface="Times New Roman" pitchFamily="18" charset="0"/>
              </a:rPr>
              <a:t>	&lt;title&gt;validation Example:&lt;/title&gt;</a:t>
            </a:r>
          </a:p>
          <a:p>
            <a:pPr lvl="1">
              <a:buNone/>
            </a:pPr>
            <a:r>
              <a:rPr lang="en-US" b="1" dirty="0">
                <a:latin typeface="Times New Roman" pitchFamily="18" charset="0"/>
                <a:cs typeface="Times New Roman" pitchFamily="18" charset="0"/>
              </a:rPr>
              <a:t>	&lt;script type='text/</a:t>
            </a:r>
            <a:r>
              <a:rPr lang="en-US" b="1" dirty="0" err="1">
                <a:latin typeface="Times New Roman" pitchFamily="18" charset="0"/>
                <a:cs typeface="Times New Roman" pitchFamily="18" charset="0"/>
              </a:rPr>
              <a:t>javascript</a:t>
            </a:r>
            <a:r>
              <a:rPr lang="en-US" b="1" dirty="0">
                <a:latin typeface="Times New Roman" pitchFamily="18" charset="0"/>
                <a:cs typeface="Times New Roman" pitchFamily="18" charset="0"/>
              </a:rPr>
              <a:t>'&gt;</a:t>
            </a:r>
          </a:p>
          <a:p>
            <a:pPr lvl="1">
              <a:buNone/>
            </a:pPr>
            <a:r>
              <a:rPr lang="en-US" b="1" dirty="0">
                <a:latin typeface="Times New Roman" pitchFamily="18" charset="0"/>
                <a:cs typeface="Times New Roman" pitchFamily="18" charset="0"/>
              </a:rPr>
              <a:t>		function validate()</a:t>
            </a:r>
          </a:p>
          <a:p>
            <a:pPr lvl="1">
              <a:buNone/>
            </a:pPr>
            <a:r>
              <a:rPr lang="en-US" b="1" dirty="0">
                <a:latin typeface="Times New Roman" pitchFamily="18" charset="0"/>
                <a:cs typeface="Times New Roman" pitchFamily="18" charset="0"/>
              </a:rPr>
              <a:t>		{</a:t>
            </a:r>
          </a:p>
          <a:p>
            <a:pPr lvl="1">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si</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document.getElementById</a:t>
            </a:r>
            <a:r>
              <a:rPr lang="en-US" b="1" dirty="0">
                <a:latin typeface="Times New Roman" pitchFamily="18" charset="0"/>
                <a:cs typeface="Times New Roman" pitchFamily="18" charset="0"/>
              </a:rPr>
              <a:t>('con').</a:t>
            </a:r>
            <a:r>
              <a:rPr lang="en-US" b="1" dirty="0" err="1">
                <a:latin typeface="Times New Roman" pitchFamily="18" charset="0"/>
                <a:cs typeface="Times New Roman" pitchFamily="18" charset="0"/>
              </a:rPr>
              <a:t>selectedIndex</a:t>
            </a:r>
            <a:r>
              <a:rPr lang="en-US" b="1" dirty="0">
                <a:latin typeface="Times New Roman" pitchFamily="18" charset="0"/>
                <a:cs typeface="Times New Roman" pitchFamily="18" charset="0"/>
              </a:rPr>
              <a:t>;</a:t>
            </a:r>
          </a:p>
          <a:p>
            <a:pPr lvl="1">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v= </a:t>
            </a:r>
            <a:r>
              <a:rPr lang="en-US" b="1" dirty="0" err="1">
                <a:latin typeface="Times New Roman" pitchFamily="18" charset="0"/>
                <a:cs typeface="Times New Roman" pitchFamily="18" charset="0"/>
              </a:rPr>
              <a:t>document.getElementById</a:t>
            </a:r>
            <a:r>
              <a:rPr lang="en-US" b="1" dirty="0">
                <a:latin typeface="Times New Roman" pitchFamily="18" charset="0"/>
                <a:cs typeface="Times New Roman" pitchFamily="18" charset="0"/>
              </a:rPr>
              <a:t>('con').options[</a:t>
            </a:r>
            <a:r>
              <a:rPr lang="en-US" b="1" dirty="0" err="1">
                <a:latin typeface="Times New Roman" pitchFamily="18" charset="0"/>
                <a:cs typeface="Times New Roman" pitchFamily="18" charset="0"/>
              </a:rPr>
              <a:t>si</a:t>
            </a:r>
            <a:r>
              <a:rPr lang="en-US" b="1" dirty="0">
                <a:latin typeface="Times New Roman" pitchFamily="18" charset="0"/>
                <a:cs typeface="Times New Roman" pitchFamily="18" charset="0"/>
              </a:rPr>
              <a:t>].text;</a:t>
            </a:r>
          </a:p>
          <a:p>
            <a:pPr lvl="1">
              <a:buNone/>
            </a:pPr>
            <a:r>
              <a:rPr lang="en-US" b="1" dirty="0">
                <a:latin typeface="Times New Roman" pitchFamily="18" charset="0"/>
                <a:cs typeface="Times New Roman" pitchFamily="18" charset="0"/>
              </a:rPr>
              <a:t>		if(v=="Please Choose")</a:t>
            </a:r>
          </a:p>
          <a:p>
            <a:pPr lvl="1">
              <a:buNone/>
            </a:pPr>
            <a:r>
              <a:rPr lang="en-US" b="1" dirty="0">
                <a:latin typeface="Times New Roman" pitchFamily="18" charset="0"/>
                <a:cs typeface="Times New Roman" pitchFamily="18" charset="0"/>
              </a:rPr>
              <a:t>		alert("You must choose the country");</a:t>
            </a:r>
          </a:p>
          <a:p>
            <a:pPr lvl="1">
              <a:buNone/>
            </a:pPr>
            <a:r>
              <a:rPr lang="en-US" b="1" dirty="0">
                <a:latin typeface="Times New Roman" pitchFamily="18" charset="0"/>
                <a:cs typeface="Times New Roman" pitchFamily="18" charset="0"/>
              </a:rPr>
              <a:t>		else</a:t>
            </a:r>
          </a:p>
          <a:p>
            <a:pPr lvl="1">
              <a:buNone/>
            </a:pPr>
            <a:r>
              <a:rPr lang="en-US" b="1" dirty="0">
                <a:latin typeface="Times New Roman" pitchFamily="18" charset="0"/>
                <a:cs typeface="Times New Roman" pitchFamily="18" charset="0"/>
              </a:rPr>
              <a:t>		alert("Your Country is:"+v);</a:t>
            </a:r>
          </a:p>
          <a:p>
            <a:pPr lvl="1">
              <a:buNone/>
            </a:pPr>
            <a:r>
              <a:rPr lang="en-US" b="1" dirty="0">
                <a:latin typeface="Times New Roman" pitchFamily="18" charset="0"/>
                <a:cs typeface="Times New Roman" pitchFamily="18" charset="0"/>
              </a:rPr>
              <a:t>		}</a:t>
            </a:r>
          </a:p>
          <a:p>
            <a:pPr lvl="1">
              <a:buNone/>
            </a:pPr>
            <a:r>
              <a:rPr lang="en-US" b="1" dirty="0">
                <a:latin typeface="Times New Roman" pitchFamily="18" charset="0"/>
                <a:cs typeface="Times New Roman" pitchFamily="18" charset="0"/>
              </a:rPr>
              <a:t>&lt;/script&gt;</a:t>
            </a:r>
          </a:p>
          <a:p>
            <a:pPr lvl="1">
              <a:buNone/>
            </a:pPr>
            <a:r>
              <a:rPr lang="en-US" b="1" dirty="0">
                <a:latin typeface="Times New Roman" pitchFamily="18" charset="0"/>
                <a:cs typeface="Times New Roman" pitchFamily="18" charset="0"/>
              </a:rPr>
              <a:t>&lt;form&gt;</a:t>
            </a:r>
          </a:p>
          <a:p>
            <a:pPr lvl="1">
              <a:buNone/>
            </a:pPr>
            <a:r>
              <a:rPr lang="en-US" b="1" dirty="0">
                <a:latin typeface="Times New Roman" pitchFamily="18" charset="0"/>
                <a:cs typeface="Times New Roman" pitchFamily="18" charset="0"/>
              </a:rPr>
              <a:t>Select Country: &lt;select id='con'&gt;</a:t>
            </a:r>
          </a:p>
          <a:p>
            <a:pPr lvl="1">
              <a:buNone/>
            </a:pPr>
            <a:r>
              <a:rPr lang="en-US" b="1" dirty="0">
                <a:latin typeface="Times New Roman" pitchFamily="18" charset="0"/>
                <a:cs typeface="Times New Roman" pitchFamily="18" charset="0"/>
              </a:rPr>
              <a:t>&lt;option&gt;Please Choose&lt;/option&gt; &lt;option&gt;Nepal&lt;/option&gt;</a:t>
            </a:r>
          </a:p>
          <a:p>
            <a:pPr lvl="1">
              <a:buNone/>
            </a:pPr>
            <a:r>
              <a:rPr lang="en-US" b="1" dirty="0">
                <a:latin typeface="Times New Roman" pitchFamily="18" charset="0"/>
                <a:cs typeface="Times New Roman" pitchFamily="18" charset="0"/>
              </a:rPr>
              <a:t>&lt;option&gt;India&lt;/option&gt; &lt;option&gt;China&lt;/option&gt;</a:t>
            </a:r>
          </a:p>
          <a:p>
            <a:pPr lvl="1">
              <a:buNone/>
            </a:pPr>
            <a:r>
              <a:rPr lang="en-US" b="1" dirty="0">
                <a:latin typeface="Times New Roman" pitchFamily="18" charset="0"/>
                <a:cs typeface="Times New Roman" pitchFamily="18" charset="0"/>
              </a:rPr>
              <a:t>&lt;/select&gt;</a:t>
            </a:r>
          </a:p>
          <a:p>
            <a:pPr lvl="1">
              <a:buNone/>
            </a:pPr>
            <a:r>
              <a:rPr lang="en-US" b="1" dirty="0">
                <a:latin typeface="Times New Roman" pitchFamily="18" charset="0"/>
                <a:cs typeface="Times New Roman" pitchFamily="18" charset="0"/>
              </a:rPr>
              <a:t>&lt;input type='button' </a:t>
            </a:r>
            <a:r>
              <a:rPr lang="en-US" b="1" dirty="0" err="1">
                <a:latin typeface="Times New Roman" pitchFamily="18" charset="0"/>
                <a:cs typeface="Times New Roman" pitchFamily="18" charset="0"/>
              </a:rPr>
              <a:t>onclick</a:t>
            </a:r>
            <a:r>
              <a:rPr lang="en-US" b="1" dirty="0">
                <a:latin typeface="Times New Roman" pitchFamily="18" charset="0"/>
                <a:cs typeface="Times New Roman" pitchFamily="18" charset="0"/>
              </a:rPr>
              <a:t>='validate()' value='Check'/&gt;</a:t>
            </a:r>
          </a:p>
          <a:p>
            <a:pPr lvl="1">
              <a:buNone/>
            </a:pPr>
            <a:r>
              <a:rPr lang="en-US" b="1" dirty="0">
                <a:latin typeface="Times New Roman" pitchFamily="18" charset="0"/>
                <a:cs typeface="Times New Roman" pitchFamily="18" charset="0"/>
              </a:rPr>
              <a:t>&lt;/form&gt;</a:t>
            </a:r>
          </a:p>
          <a:p>
            <a:pPr lvl="1">
              <a:buNone/>
            </a:pPr>
            <a:r>
              <a:rPr lang="en-US" b="1" dirty="0">
                <a:latin typeface="Times New Roman" pitchFamily="18" charset="0"/>
                <a:cs typeface="Times New Roman" pitchFamily="18" charset="0"/>
              </a:rPr>
              <a:t>&lt;/body&gt;</a:t>
            </a:r>
          </a:p>
          <a:p>
            <a:pPr lvl="1">
              <a:buNone/>
            </a:pPr>
            <a:r>
              <a:rPr lang="en-US" b="1" dirty="0">
                <a:latin typeface="Times New Roman" pitchFamily="18" charset="0"/>
                <a:cs typeface="Times New Roman" pitchFamily="18" charset="0"/>
              </a:rPr>
              <a:t>&lt;/html&gt;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800"/>
          </a:xfrm>
        </p:spPr>
        <p:txBody>
          <a:bodyPr numCol="2">
            <a:normAutofit fontScale="62500" lnSpcReduction="20000"/>
          </a:bodyPr>
          <a:lstStyle/>
          <a:p>
            <a:pPr>
              <a:buNone/>
            </a:pPr>
            <a:r>
              <a:rPr lang="en-US" b="1" dirty="0">
                <a:solidFill>
                  <a:srgbClr val="FF0000"/>
                </a:solidFill>
              </a:rPr>
              <a:t>Validating radio buttons:</a:t>
            </a:r>
          </a:p>
          <a:p>
            <a:pPr>
              <a:buNone/>
            </a:pPr>
            <a:r>
              <a:rPr lang="en-US" b="1" dirty="0"/>
              <a:t>Example:</a:t>
            </a:r>
          </a:p>
          <a:p>
            <a:pPr>
              <a:buNone/>
            </a:pPr>
            <a:r>
              <a:rPr lang="en-US" b="1" dirty="0"/>
              <a:t>&lt;!DOCTYPE html&gt;</a:t>
            </a:r>
          </a:p>
          <a:p>
            <a:pPr>
              <a:buNone/>
            </a:pPr>
            <a:r>
              <a:rPr lang="en-US" b="1" dirty="0"/>
              <a:t>&lt;html&gt;</a:t>
            </a:r>
          </a:p>
          <a:p>
            <a:pPr>
              <a:buNone/>
            </a:pPr>
            <a:r>
              <a:rPr lang="en-US" b="1" dirty="0"/>
              <a:t>&lt;head&gt;</a:t>
            </a:r>
          </a:p>
          <a:p>
            <a:pPr>
              <a:buNone/>
            </a:pPr>
            <a:r>
              <a:rPr lang="en-US" b="1" dirty="0"/>
              <a:t>	&lt;title&gt;validation Example:&lt;/title&gt;</a:t>
            </a:r>
          </a:p>
          <a:p>
            <a:pPr>
              <a:buNone/>
            </a:pPr>
            <a:r>
              <a:rPr lang="en-US" b="1" dirty="0"/>
              <a:t>	&lt;script type='text/</a:t>
            </a:r>
            <a:r>
              <a:rPr lang="en-US" b="1" dirty="0" err="1"/>
              <a:t>javascript</a:t>
            </a:r>
            <a:r>
              <a:rPr lang="en-US" b="1" dirty="0"/>
              <a:t>'&gt;</a:t>
            </a:r>
          </a:p>
          <a:p>
            <a:pPr>
              <a:buNone/>
            </a:pPr>
            <a:r>
              <a:rPr lang="en-US" b="1" dirty="0"/>
              <a:t>function validate()</a:t>
            </a:r>
          </a:p>
          <a:p>
            <a:pPr>
              <a:buNone/>
            </a:pPr>
            <a:r>
              <a:rPr lang="en-US" b="1" dirty="0"/>
              <a:t>{</a:t>
            </a:r>
          </a:p>
          <a:p>
            <a:pPr>
              <a:buNone/>
            </a:pPr>
            <a:r>
              <a:rPr lang="en-US" b="1" dirty="0" err="1" smtClean="0"/>
              <a:t>var</a:t>
            </a:r>
            <a:r>
              <a:rPr lang="en-US" b="1" dirty="0"/>
              <a:t> </a:t>
            </a:r>
            <a:r>
              <a:rPr lang="en-US" b="1" dirty="0" smtClean="0"/>
              <a:t>gender=</a:t>
            </a:r>
            <a:r>
              <a:rPr lang="en-US" b="1" dirty="0" err="1" smtClean="0"/>
              <a:t>document.getElementsByName</a:t>
            </a:r>
            <a:r>
              <a:rPr lang="en-US" b="1" dirty="0"/>
              <a:t>("gen");</a:t>
            </a:r>
          </a:p>
          <a:p>
            <a:pPr>
              <a:buNone/>
            </a:pPr>
            <a:r>
              <a:rPr lang="en-US" b="1" dirty="0"/>
              <a:t>if(gender[0].checked==false &amp;&amp; gender[1].checked==false)</a:t>
            </a:r>
          </a:p>
          <a:p>
            <a:pPr>
              <a:buNone/>
            </a:pPr>
            <a:r>
              <a:rPr lang="en-US" b="1" dirty="0"/>
              <a:t>{</a:t>
            </a:r>
          </a:p>
          <a:p>
            <a:pPr>
              <a:buNone/>
            </a:pPr>
            <a:r>
              <a:rPr lang="en-US" b="1" dirty="0"/>
              <a:t>alert("You must choose Gender");</a:t>
            </a:r>
          </a:p>
          <a:p>
            <a:pPr>
              <a:buNone/>
            </a:pPr>
            <a:r>
              <a:rPr lang="en-US" b="1" dirty="0"/>
              <a:t>}</a:t>
            </a:r>
          </a:p>
          <a:p>
            <a:pPr>
              <a:buNone/>
            </a:pPr>
            <a:r>
              <a:rPr lang="en-US" b="1" dirty="0"/>
              <a:t>else</a:t>
            </a:r>
          </a:p>
          <a:p>
            <a:pPr>
              <a:buNone/>
            </a:pPr>
            <a:r>
              <a:rPr lang="en-US" b="1" dirty="0"/>
              <a:t>{</a:t>
            </a:r>
          </a:p>
          <a:p>
            <a:pPr>
              <a:buNone/>
            </a:pPr>
            <a:r>
              <a:rPr lang="en-US" b="1" dirty="0"/>
              <a:t>if(gender[0].checked==true)</a:t>
            </a:r>
          </a:p>
          <a:p>
            <a:pPr>
              <a:buNone/>
            </a:pPr>
            <a:r>
              <a:rPr lang="en-US" b="1" dirty="0"/>
              <a:t>alert("Male");</a:t>
            </a:r>
          </a:p>
          <a:p>
            <a:pPr>
              <a:buNone/>
            </a:pPr>
            <a:r>
              <a:rPr lang="en-US" b="1" dirty="0"/>
              <a:t>else</a:t>
            </a:r>
          </a:p>
          <a:p>
            <a:pPr>
              <a:buNone/>
            </a:pPr>
            <a:r>
              <a:rPr lang="en-US" b="1" dirty="0"/>
              <a:t>alert("Female");</a:t>
            </a:r>
          </a:p>
          <a:p>
            <a:pPr>
              <a:buNone/>
            </a:pPr>
            <a:r>
              <a:rPr lang="en-US" b="1" dirty="0"/>
              <a:t>}}</a:t>
            </a:r>
          </a:p>
          <a:p>
            <a:pPr>
              <a:buNone/>
            </a:pPr>
            <a:r>
              <a:rPr lang="en-US" b="1" dirty="0"/>
              <a:t>&lt;/script&gt;</a:t>
            </a:r>
          </a:p>
          <a:p>
            <a:pPr>
              <a:buNone/>
            </a:pPr>
            <a:r>
              <a:rPr lang="en-US" b="1" dirty="0"/>
              <a:t>&lt;form&gt;</a:t>
            </a:r>
          </a:p>
          <a:p>
            <a:pPr>
              <a:buNone/>
            </a:pPr>
            <a:r>
              <a:rPr lang="en-US" b="1" dirty="0"/>
              <a:t>Select Gender:</a:t>
            </a:r>
          </a:p>
          <a:p>
            <a:pPr>
              <a:buNone/>
            </a:pPr>
            <a:r>
              <a:rPr lang="en-US" b="1" dirty="0"/>
              <a:t>&lt;input type=radio name='gen'&gt;Male</a:t>
            </a:r>
          </a:p>
          <a:p>
            <a:pPr>
              <a:buNone/>
            </a:pPr>
            <a:r>
              <a:rPr lang="en-US" b="1" dirty="0"/>
              <a:t>&lt;input type=radio name='gen'&gt;Female</a:t>
            </a:r>
          </a:p>
          <a:p>
            <a:pPr>
              <a:buNone/>
            </a:pPr>
            <a:r>
              <a:rPr lang="en-US" b="1" dirty="0"/>
              <a:t>&lt;input type='button' </a:t>
            </a:r>
            <a:r>
              <a:rPr lang="en-US" b="1" dirty="0" err="1"/>
              <a:t>onclick</a:t>
            </a:r>
            <a:r>
              <a:rPr lang="en-US" b="1" dirty="0"/>
              <a:t>='validate()' value='Check'/&gt;</a:t>
            </a:r>
          </a:p>
          <a:p>
            <a:pPr>
              <a:buNone/>
            </a:pPr>
            <a:r>
              <a:rPr lang="en-US" b="1" dirty="0"/>
              <a:t>&lt;/form&gt;</a:t>
            </a:r>
          </a:p>
          <a:p>
            <a:pPr>
              <a:buNone/>
            </a:pPr>
            <a:r>
              <a:rPr lang="en-US" b="1" dirty="0"/>
              <a:t>&lt;/body&gt;</a:t>
            </a:r>
          </a:p>
          <a:p>
            <a:pPr>
              <a:buNone/>
            </a:pPr>
            <a:r>
              <a:rPr lang="en-US" b="1" dirty="0"/>
              <a:t>&lt;/html&gt;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248400"/>
          </a:xfrm>
        </p:spPr>
        <p:txBody>
          <a:bodyPr>
            <a:normAutofit fontScale="55000" lnSpcReduction="20000"/>
          </a:bodyPr>
          <a:lstStyle/>
          <a:p>
            <a:pPr>
              <a:lnSpc>
                <a:spcPct val="170000"/>
              </a:lnSpc>
              <a:buNone/>
            </a:pPr>
            <a:r>
              <a:rPr lang="en-US" b="1" dirty="0">
                <a:latin typeface="Times New Roman" pitchFamily="18" charset="0"/>
                <a:cs typeface="Times New Roman" pitchFamily="18" charset="0"/>
              </a:rPr>
              <a:t>Email validation:</a:t>
            </a:r>
          </a:p>
          <a:p>
            <a:pPr>
              <a:lnSpc>
                <a:spcPct val="170000"/>
              </a:lnSpc>
              <a:buNone/>
            </a:pPr>
            <a:r>
              <a:rPr lang="en-US" dirty="0">
                <a:latin typeface="Times New Roman" pitchFamily="18" charset="0"/>
                <a:cs typeface="Times New Roman" pitchFamily="18" charset="0"/>
              </a:rPr>
              <a:t>Every email is made up for 5 parts: </a:t>
            </a:r>
          </a:p>
          <a:p>
            <a:pPr lvl="1">
              <a:lnSpc>
                <a:spcPct val="170000"/>
              </a:lnSpc>
              <a:buNone/>
            </a:pPr>
            <a:r>
              <a:rPr lang="en-US" dirty="0">
                <a:latin typeface="Times New Roman" pitchFamily="18" charset="0"/>
                <a:cs typeface="Times New Roman" pitchFamily="18" charset="0"/>
              </a:rPr>
              <a:t>1. A combination of letters, numbers, periods, hyphens, plus signs, and/or underscores </a:t>
            </a:r>
          </a:p>
          <a:p>
            <a:pPr lvl="1">
              <a:lnSpc>
                <a:spcPct val="170000"/>
              </a:lnSpc>
              <a:buNone/>
            </a:pPr>
            <a:r>
              <a:rPr lang="en-US" dirty="0">
                <a:latin typeface="Times New Roman" pitchFamily="18" charset="0"/>
                <a:cs typeface="Times New Roman" pitchFamily="18" charset="0"/>
              </a:rPr>
              <a:t>2. The at symbol @ </a:t>
            </a:r>
          </a:p>
          <a:p>
            <a:pPr lvl="1">
              <a:lnSpc>
                <a:spcPct val="170000"/>
              </a:lnSpc>
              <a:buNone/>
            </a:pPr>
            <a:r>
              <a:rPr lang="en-US" dirty="0">
                <a:latin typeface="Times New Roman" pitchFamily="18" charset="0"/>
                <a:cs typeface="Times New Roman" pitchFamily="18" charset="0"/>
              </a:rPr>
              <a:t>3. A combination of letters, numbers, hyphens, and/or periods </a:t>
            </a:r>
          </a:p>
          <a:p>
            <a:pPr lvl="1">
              <a:lnSpc>
                <a:spcPct val="170000"/>
              </a:lnSpc>
              <a:buNone/>
            </a:pPr>
            <a:r>
              <a:rPr lang="en-US" dirty="0">
                <a:latin typeface="Times New Roman" pitchFamily="18" charset="0"/>
                <a:cs typeface="Times New Roman" pitchFamily="18" charset="0"/>
              </a:rPr>
              <a:t>4. A period </a:t>
            </a:r>
          </a:p>
          <a:p>
            <a:pPr lvl="1">
              <a:lnSpc>
                <a:spcPct val="170000"/>
              </a:lnSpc>
              <a:buNone/>
            </a:pPr>
            <a:r>
              <a:rPr lang="en-US" dirty="0">
                <a:latin typeface="Times New Roman" pitchFamily="18" charset="0"/>
                <a:cs typeface="Times New Roman" pitchFamily="18" charset="0"/>
              </a:rPr>
              <a:t>5. The top level domain (com, net, org, us, </a:t>
            </a:r>
            <a:r>
              <a:rPr lang="en-US" dirty="0" err="1">
                <a:latin typeface="Times New Roman" pitchFamily="18" charset="0"/>
                <a:cs typeface="Times New Roman" pitchFamily="18" charset="0"/>
              </a:rPr>
              <a:t>gov</a:t>
            </a:r>
            <a:r>
              <a:rPr lang="en-US" dirty="0">
                <a:latin typeface="Times New Roman" pitchFamily="18" charset="0"/>
                <a:cs typeface="Times New Roman" pitchFamily="18" charset="0"/>
              </a:rPr>
              <a:t>, ...) </a:t>
            </a:r>
          </a:p>
          <a:p>
            <a:pPr>
              <a:lnSpc>
                <a:spcPct val="170000"/>
              </a:lnSpc>
              <a:buNone/>
            </a:pPr>
            <a:r>
              <a:rPr lang="en-US" b="1" dirty="0">
                <a:latin typeface="Times New Roman" pitchFamily="18" charset="0"/>
                <a:cs typeface="Times New Roman" pitchFamily="18" charset="0"/>
              </a:rPr>
              <a:t>Valid Examples:</a:t>
            </a:r>
          </a:p>
          <a:p>
            <a:pPr lvl="1">
              <a:lnSpc>
                <a:spcPct val="170000"/>
              </a:lnSpc>
              <a:buNone/>
            </a:pPr>
            <a:r>
              <a:rPr lang="en-US" dirty="0">
                <a:latin typeface="Times New Roman" pitchFamily="18" charset="0"/>
                <a:cs typeface="Times New Roman" pitchFamily="18" charset="0"/>
              </a:rPr>
              <a:t>ram@ntc.net </a:t>
            </a:r>
          </a:p>
          <a:p>
            <a:pPr lvl="1">
              <a:lnSpc>
                <a:spcPct val="170000"/>
              </a:lnSpc>
              <a:buNone/>
            </a:pPr>
            <a:r>
              <a:rPr lang="en-US" dirty="0" err="1">
                <a:latin typeface="Times New Roman" pitchFamily="18" charset="0"/>
                <a:cs typeface="Times New Roman" pitchFamily="18" charset="0"/>
              </a:rPr>
              <a:t>ram+nepal@gmail.com</a:t>
            </a:r>
            <a:r>
              <a:rPr lang="en-US" dirty="0">
                <a:latin typeface="Times New Roman" pitchFamily="18" charset="0"/>
                <a:cs typeface="Times New Roman" pitchFamily="18" charset="0"/>
              </a:rPr>
              <a:t> </a:t>
            </a:r>
          </a:p>
          <a:p>
            <a:pPr lvl="1">
              <a:lnSpc>
                <a:spcPct val="170000"/>
              </a:lnSpc>
              <a:buNone/>
            </a:pPr>
            <a:r>
              <a:rPr lang="en-US" dirty="0">
                <a:solidFill>
                  <a:srgbClr val="FF0000"/>
                </a:solidFill>
                <a:latin typeface="Times New Roman" pitchFamily="18" charset="0"/>
                <a:cs typeface="Times New Roman" pitchFamily="18" charset="0"/>
              </a:rPr>
              <a:t> ram-nepal</a:t>
            </a:r>
            <a:r>
              <a:rPr lang="en-US" b="1" dirty="0">
                <a:latin typeface="Times New Roman" pitchFamily="18" charset="0"/>
                <a:cs typeface="Times New Roman" pitchFamily="18" charset="0"/>
              </a:rPr>
              <a:t>@</a:t>
            </a:r>
            <a:r>
              <a:rPr lang="en-US" dirty="0">
                <a:solidFill>
                  <a:srgbClr val="00B050"/>
                </a:solidFill>
                <a:latin typeface="Times New Roman" pitchFamily="18" charset="0"/>
                <a:cs typeface="Times New Roman" pitchFamily="18" charset="0"/>
              </a:rPr>
              <a:t>patan.edu</a:t>
            </a:r>
            <a:r>
              <a:rPr lang="en-US" dirty="0">
                <a:latin typeface="Times New Roman" pitchFamily="18" charset="0"/>
                <a:cs typeface="Times New Roman" pitchFamily="18" charset="0"/>
              </a:rPr>
              <a:t>.</a:t>
            </a:r>
            <a:r>
              <a:rPr lang="en-US" dirty="0">
                <a:solidFill>
                  <a:srgbClr val="002060"/>
                </a:solidFill>
                <a:latin typeface="Times New Roman" pitchFamily="18" charset="0"/>
                <a:cs typeface="Times New Roman" pitchFamily="18" charset="0"/>
              </a:rPr>
              <a:t>np</a:t>
            </a:r>
            <a:r>
              <a:rPr lang="en-US" dirty="0">
                <a:latin typeface="Times New Roman" pitchFamily="18" charset="0"/>
                <a:cs typeface="Times New Roman" pitchFamily="18" charset="0"/>
              </a:rPr>
              <a:t> </a:t>
            </a:r>
          </a:p>
          <a:p>
            <a:pPr>
              <a:lnSpc>
                <a:spcPct val="170000"/>
              </a:lnSpc>
              <a:buNone/>
            </a:pPr>
            <a:r>
              <a:rPr lang="en-US" b="1" dirty="0">
                <a:latin typeface="Times New Roman" pitchFamily="18" charset="0"/>
                <a:cs typeface="Times New Roman" pitchFamily="18" charset="0"/>
              </a:rPr>
              <a:t>Invalid Examples: </a:t>
            </a:r>
          </a:p>
          <a:p>
            <a:pPr lvl="1">
              <a:lnSpc>
                <a:spcPct val="170000"/>
              </a:lnSpc>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deleted.net</a:t>
            </a:r>
            <a:r>
              <a:rPr lang="en-US" dirty="0">
                <a:latin typeface="Times New Roman" pitchFamily="18" charset="0"/>
                <a:cs typeface="Times New Roman" pitchFamily="18" charset="0"/>
              </a:rPr>
              <a:t> - no characters before the @ </a:t>
            </a:r>
          </a:p>
          <a:p>
            <a:pPr lvl="1">
              <a:lnSpc>
                <a:spcPct val="170000"/>
              </a:lnSpc>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free!dom@bravehe.art</a:t>
            </a:r>
            <a:r>
              <a:rPr lang="en-US" dirty="0">
                <a:latin typeface="Times New Roman" pitchFamily="18" charset="0"/>
                <a:cs typeface="Times New Roman" pitchFamily="18" charset="0"/>
              </a:rPr>
              <a:t> - invalid character ! </a:t>
            </a:r>
          </a:p>
          <a:p>
            <a:pPr lvl="1">
              <a:lnSpc>
                <a:spcPct val="170000"/>
              </a:lnSpc>
              <a:buNone/>
            </a:pPr>
            <a:r>
              <a:rPr lang="en-US" dirty="0">
                <a:latin typeface="Times New Roman" pitchFamily="18" charset="0"/>
                <a:cs typeface="Times New Roman" pitchFamily="18" charset="0"/>
              </a:rPr>
              <a:t> shoes@need_shining.com - underscores are not allowed in the domain name </a:t>
            </a:r>
          </a:p>
          <a:p>
            <a:pPr>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55000" lnSpcReduction="20000"/>
          </a:bodyPr>
          <a:lstStyle/>
          <a:p>
            <a:pPr>
              <a:buNone/>
            </a:pPr>
            <a:r>
              <a:rPr lang="en-US" b="1" dirty="0"/>
              <a:t>Example(Regular Expression):</a:t>
            </a:r>
          </a:p>
          <a:p>
            <a:pPr>
              <a:buNone/>
            </a:pPr>
            <a:r>
              <a:rPr lang="en-US" b="1" dirty="0">
                <a:latin typeface="Times New Roman" pitchFamily="18" charset="0"/>
                <a:cs typeface="Times New Roman" pitchFamily="18" charset="0"/>
              </a:rPr>
              <a:t>&lt;!DOCTYPE html&gt;</a:t>
            </a:r>
          </a:p>
          <a:p>
            <a:pPr>
              <a:buNone/>
            </a:pPr>
            <a:r>
              <a:rPr lang="en-US" b="1" dirty="0">
                <a:latin typeface="Times New Roman" pitchFamily="18" charset="0"/>
                <a:cs typeface="Times New Roman" pitchFamily="18" charset="0"/>
              </a:rPr>
              <a:t>&lt;html&gt;</a:t>
            </a:r>
          </a:p>
          <a:p>
            <a:pPr>
              <a:buNone/>
            </a:pPr>
            <a:r>
              <a:rPr lang="en-US" b="1" dirty="0">
                <a:latin typeface="Times New Roman" pitchFamily="18" charset="0"/>
                <a:cs typeface="Times New Roman" pitchFamily="18" charset="0"/>
              </a:rPr>
              <a:t>&lt;head&gt;</a:t>
            </a:r>
          </a:p>
          <a:p>
            <a:pPr>
              <a:buNone/>
            </a:pPr>
            <a:r>
              <a:rPr lang="en-US" b="1" dirty="0">
                <a:latin typeface="Times New Roman" pitchFamily="18" charset="0"/>
                <a:cs typeface="Times New Roman" pitchFamily="18" charset="0"/>
              </a:rPr>
              <a:t>	&lt;title&gt;validation Example:&lt;/title&gt;</a:t>
            </a:r>
          </a:p>
          <a:p>
            <a:pPr>
              <a:buNone/>
            </a:pPr>
            <a:r>
              <a:rPr lang="en-US" b="1" dirty="0">
                <a:latin typeface="Times New Roman" pitchFamily="18" charset="0"/>
                <a:cs typeface="Times New Roman" pitchFamily="18" charset="0"/>
              </a:rPr>
              <a:t>	&lt;script type="text/</a:t>
            </a:r>
            <a:r>
              <a:rPr lang="en-US" b="1" dirty="0" err="1">
                <a:latin typeface="Times New Roman" pitchFamily="18" charset="0"/>
                <a:cs typeface="Times New Roman" pitchFamily="18" charset="0"/>
              </a:rPr>
              <a:t>javascript</a:t>
            </a:r>
            <a:r>
              <a:rPr lang="en-US" b="1" dirty="0">
                <a:latin typeface="Times New Roman" pitchFamily="18" charset="0"/>
                <a:cs typeface="Times New Roman" pitchFamily="18" charset="0"/>
              </a:rPr>
              <a:t>"&gt;</a:t>
            </a:r>
          </a:p>
          <a:p>
            <a:pPr>
              <a:buNone/>
            </a:pPr>
            <a:r>
              <a:rPr lang="en-US" b="1" dirty="0">
                <a:latin typeface="Times New Roman" pitchFamily="18" charset="0"/>
                <a:cs typeface="Times New Roman" pitchFamily="18" charset="0"/>
              </a:rPr>
              <a:t>	function validate()</a:t>
            </a:r>
          </a:p>
          <a:p>
            <a:pPr>
              <a:buNone/>
            </a:pPr>
            <a:r>
              <a:rPr lang="en-US" b="1" dirty="0">
                <a:latin typeface="Times New Roman" pitchFamily="18" charset="0"/>
                <a:cs typeface="Times New Roman" pitchFamily="18" charset="0"/>
              </a:rPr>
              <a:t>	{</a:t>
            </a:r>
          </a:p>
          <a:p>
            <a:pPr>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patt</a:t>
            </a:r>
            <a:r>
              <a:rPr lang="en-US" b="1" dirty="0">
                <a:latin typeface="Times New Roman" pitchFamily="18" charset="0"/>
                <a:cs typeface="Times New Roman" pitchFamily="18" charset="0"/>
              </a:rPr>
              <a:t>=/^[\w\-\.\+]+\@[a-zA-Z0-9\.\-]+\.[a-zA-z0-9]{2,4}$/;</a:t>
            </a:r>
          </a:p>
          <a:p>
            <a:pPr>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v= </a:t>
            </a:r>
            <a:r>
              <a:rPr lang="en-US" b="1" dirty="0" err="1">
                <a:latin typeface="Times New Roman" pitchFamily="18" charset="0"/>
                <a:cs typeface="Times New Roman" pitchFamily="18" charset="0"/>
              </a:rPr>
              <a:t>document.getElementById</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elem</a:t>
            </a:r>
            <a:r>
              <a:rPr lang="en-US" b="1" dirty="0">
                <a:latin typeface="Times New Roman" pitchFamily="18" charset="0"/>
                <a:cs typeface="Times New Roman" pitchFamily="18" charset="0"/>
              </a:rPr>
              <a:t>").value;</a:t>
            </a:r>
          </a:p>
          <a:p>
            <a:pPr>
              <a:buNone/>
            </a:pPr>
            <a:r>
              <a:rPr lang="en-US" b="1" dirty="0">
                <a:latin typeface="Times New Roman" pitchFamily="18" charset="0"/>
                <a:cs typeface="Times New Roman" pitchFamily="18" charset="0"/>
              </a:rPr>
              <a:t>	if(</a:t>
            </a:r>
            <a:r>
              <a:rPr lang="en-US" b="1" dirty="0" err="1">
                <a:latin typeface="Times New Roman" pitchFamily="18" charset="0"/>
                <a:cs typeface="Times New Roman" pitchFamily="18" charset="0"/>
              </a:rPr>
              <a:t>v.match</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patt</a:t>
            </a:r>
            <a:r>
              <a:rPr lang="en-US" b="1" dirty="0">
                <a:latin typeface="Times New Roman" pitchFamily="18" charset="0"/>
                <a:cs typeface="Times New Roman" pitchFamily="18" charset="0"/>
              </a:rPr>
              <a:t>))</a:t>
            </a:r>
          </a:p>
          <a:p>
            <a:pPr>
              <a:buNone/>
            </a:pPr>
            <a:r>
              <a:rPr lang="en-US" b="1" dirty="0">
                <a:latin typeface="Times New Roman" pitchFamily="18" charset="0"/>
                <a:cs typeface="Times New Roman" pitchFamily="18" charset="0"/>
              </a:rPr>
              <a:t>	alert("valid Email");</a:t>
            </a:r>
          </a:p>
          <a:p>
            <a:pPr>
              <a:buNone/>
            </a:pPr>
            <a:r>
              <a:rPr lang="en-US" b="1" dirty="0">
                <a:latin typeface="Times New Roman" pitchFamily="18" charset="0"/>
                <a:cs typeface="Times New Roman" pitchFamily="18" charset="0"/>
              </a:rPr>
              <a:t>	else</a:t>
            </a:r>
          </a:p>
          <a:p>
            <a:pPr>
              <a:buNone/>
            </a:pPr>
            <a:r>
              <a:rPr lang="en-US" b="1" dirty="0">
                <a:latin typeface="Times New Roman" pitchFamily="18" charset="0"/>
                <a:cs typeface="Times New Roman" pitchFamily="18" charset="0"/>
              </a:rPr>
              <a:t>	alert("Invalid Email"); </a:t>
            </a:r>
          </a:p>
          <a:p>
            <a:pPr>
              <a:buNone/>
            </a:pPr>
            <a:r>
              <a:rPr lang="en-US" b="1" dirty="0">
                <a:latin typeface="Times New Roman" pitchFamily="18" charset="0"/>
                <a:cs typeface="Times New Roman" pitchFamily="18" charset="0"/>
              </a:rPr>
              <a:t>	&lt;/script&gt;</a:t>
            </a:r>
          </a:p>
          <a:p>
            <a:pPr>
              <a:buNone/>
            </a:pPr>
            <a:r>
              <a:rPr lang="en-US" b="1" dirty="0">
                <a:latin typeface="Times New Roman" pitchFamily="18" charset="0"/>
                <a:cs typeface="Times New Roman" pitchFamily="18" charset="0"/>
              </a:rPr>
              <a:t>&lt;/head&gt;</a:t>
            </a:r>
          </a:p>
          <a:p>
            <a:pPr>
              <a:buNone/>
            </a:pPr>
            <a:r>
              <a:rPr lang="en-US" b="1" dirty="0">
                <a:latin typeface="Times New Roman" pitchFamily="18" charset="0"/>
                <a:cs typeface="Times New Roman" pitchFamily="18" charset="0"/>
              </a:rPr>
              <a:t>&lt;body&gt;&lt;form&gt;</a:t>
            </a:r>
          </a:p>
          <a:p>
            <a:pPr>
              <a:buNone/>
            </a:pPr>
            <a:r>
              <a:rPr lang="en-US" b="1" dirty="0">
                <a:latin typeface="Times New Roman" pitchFamily="18" charset="0"/>
                <a:cs typeface="Times New Roman" pitchFamily="18" charset="0"/>
              </a:rPr>
              <a:t>Email ID: &lt;input type="text" id='</a:t>
            </a:r>
            <a:r>
              <a:rPr lang="en-US" b="1" dirty="0" err="1">
                <a:latin typeface="Times New Roman" pitchFamily="18" charset="0"/>
                <a:cs typeface="Times New Roman" pitchFamily="18" charset="0"/>
              </a:rPr>
              <a:t>elem</a:t>
            </a:r>
            <a:r>
              <a:rPr lang="en-US" b="1" dirty="0">
                <a:latin typeface="Times New Roman" pitchFamily="18" charset="0"/>
                <a:cs typeface="Times New Roman" pitchFamily="18" charset="0"/>
              </a:rPr>
              <a:t>'/&gt;</a:t>
            </a:r>
          </a:p>
          <a:p>
            <a:pPr>
              <a:buNone/>
            </a:pPr>
            <a:r>
              <a:rPr lang="en-US" b="1" dirty="0">
                <a:latin typeface="Times New Roman" pitchFamily="18" charset="0"/>
                <a:cs typeface="Times New Roman" pitchFamily="18" charset="0"/>
              </a:rPr>
              <a:t>&lt;input type="button" </a:t>
            </a:r>
            <a:r>
              <a:rPr lang="en-US" b="1" dirty="0" err="1">
                <a:latin typeface="Times New Roman" pitchFamily="18" charset="0"/>
                <a:cs typeface="Times New Roman" pitchFamily="18" charset="0"/>
              </a:rPr>
              <a:t>onclick</a:t>
            </a:r>
            <a:r>
              <a:rPr lang="en-US" b="1" dirty="0">
                <a:latin typeface="Times New Roman" pitchFamily="18" charset="0"/>
                <a:cs typeface="Times New Roman" pitchFamily="18" charset="0"/>
              </a:rPr>
              <a:t>="validate()" value="Check"/&gt;</a:t>
            </a:r>
          </a:p>
          <a:p>
            <a:pPr>
              <a:buNone/>
            </a:pPr>
            <a:r>
              <a:rPr lang="en-US" b="1" dirty="0">
                <a:latin typeface="Times New Roman" pitchFamily="18" charset="0"/>
                <a:cs typeface="Times New Roman" pitchFamily="18" charset="0"/>
              </a:rPr>
              <a:t>&lt;/form&gt;</a:t>
            </a:r>
          </a:p>
          <a:p>
            <a:pPr>
              <a:buNone/>
            </a:pPr>
            <a:r>
              <a:rPr lang="en-US" b="1" dirty="0">
                <a:latin typeface="Times New Roman" pitchFamily="18" charset="0"/>
                <a:cs typeface="Times New Roman" pitchFamily="18" charset="0"/>
              </a:rPr>
              <a:t>&lt;/body&gt;</a:t>
            </a:r>
          </a:p>
          <a:p>
            <a:pPr>
              <a:buNone/>
            </a:pPr>
            <a:r>
              <a:rPr lang="en-US" b="1" dirty="0">
                <a:latin typeface="Times New Roman" pitchFamily="18" charset="0"/>
                <a:cs typeface="Times New Roman" pitchFamily="18" charset="0"/>
              </a:rPr>
              <a:t>&lt;/html&gt;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55000" lnSpcReduction="20000"/>
          </a:bodyPr>
          <a:lstStyle/>
          <a:p>
            <a:pPr>
              <a:buNone/>
            </a:pPr>
            <a:r>
              <a:rPr lang="en-US" b="1" dirty="0">
                <a:latin typeface="Times New Roman" pitchFamily="18" charset="0"/>
                <a:cs typeface="Times New Roman" pitchFamily="18" charset="0"/>
              </a:rPr>
              <a:t>Example (without regular expression)</a:t>
            </a:r>
          </a:p>
          <a:p>
            <a:pPr lvl="1">
              <a:buNone/>
            </a:pPr>
            <a:r>
              <a:rPr lang="en-US" b="1" dirty="0">
                <a:latin typeface="Times New Roman" pitchFamily="18" charset="0"/>
                <a:cs typeface="Times New Roman" pitchFamily="18" charset="0"/>
              </a:rPr>
              <a:t>&lt;!DOCTYPE html&gt;</a:t>
            </a:r>
          </a:p>
          <a:p>
            <a:pPr lvl="1">
              <a:buNone/>
            </a:pPr>
            <a:r>
              <a:rPr lang="en-US" b="1" dirty="0">
                <a:latin typeface="Times New Roman" pitchFamily="18" charset="0"/>
                <a:cs typeface="Times New Roman" pitchFamily="18" charset="0"/>
              </a:rPr>
              <a:t>&lt;html&gt;</a:t>
            </a:r>
          </a:p>
          <a:p>
            <a:pPr lvl="1">
              <a:buNone/>
            </a:pPr>
            <a:r>
              <a:rPr lang="en-US" b="1" dirty="0">
                <a:latin typeface="Times New Roman" pitchFamily="18" charset="0"/>
                <a:cs typeface="Times New Roman" pitchFamily="18" charset="0"/>
              </a:rPr>
              <a:t>&lt;head&gt;</a:t>
            </a:r>
          </a:p>
          <a:p>
            <a:pPr lvl="1">
              <a:buNone/>
            </a:pPr>
            <a:r>
              <a:rPr lang="en-US" b="1" dirty="0">
                <a:latin typeface="Times New Roman" pitchFamily="18" charset="0"/>
                <a:cs typeface="Times New Roman" pitchFamily="18" charset="0"/>
              </a:rPr>
              <a:t>	&lt;title&gt;validation Example:&lt;/title&gt;</a:t>
            </a:r>
          </a:p>
          <a:p>
            <a:pPr lvl="1">
              <a:buNone/>
            </a:pPr>
            <a:r>
              <a:rPr lang="en-US" b="1" dirty="0">
                <a:latin typeface="Times New Roman" pitchFamily="18" charset="0"/>
                <a:cs typeface="Times New Roman" pitchFamily="18" charset="0"/>
              </a:rPr>
              <a:t>	&lt;script type="text/</a:t>
            </a:r>
            <a:r>
              <a:rPr lang="en-US" b="1" dirty="0" err="1">
                <a:latin typeface="Times New Roman" pitchFamily="18" charset="0"/>
                <a:cs typeface="Times New Roman" pitchFamily="18" charset="0"/>
              </a:rPr>
              <a:t>javascript</a:t>
            </a:r>
            <a:r>
              <a:rPr lang="en-US" b="1" dirty="0">
                <a:latin typeface="Times New Roman" pitchFamily="18" charset="0"/>
                <a:cs typeface="Times New Roman" pitchFamily="18" charset="0"/>
              </a:rPr>
              <a:t>"&gt;</a:t>
            </a:r>
          </a:p>
          <a:p>
            <a:pPr lvl="1">
              <a:buNone/>
            </a:pPr>
            <a:r>
              <a:rPr lang="en-US" b="1" dirty="0">
                <a:latin typeface="Times New Roman" pitchFamily="18" charset="0"/>
                <a:cs typeface="Times New Roman" pitchFamily="18" charset="0"/>
              </a:rPr>
              <a:t>	function validate()</a:t>
            </a:r>
          </a:p>
          <a:p>
            <a:pPr lvl="1">
              <a:buNone/>
            </a:pPr>
            <a:r>
              <a:rPr lang="en-US" b="1" dirty="0">
                <a:latin typeface="Times New Roman" pitchFamily="18" charset="0"/>
                <a:cs typeface="Times New Roman" pitchFamily="18" charset="0"/>
              </a:rPr>
              <a:t>	{</a:t>
            </a:r>
          </a:p>
          <a:p>
            <a:pPr lvl="1">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v= </a:t>
            </a:r>
            <a:r>
              <a:rPr lang="en-US" b="1" dirty="0" err="1">
                <a:latin typeface="Times New Roman" pitchFamily="18" charset="0"/>
                <a:cs typeface="Times New Roman" pitchFamily="18" charset="0"/>
              </a:rPr>
              <a:t>document.getElementById</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elem</a:t>
            </a:r>
            <a:r>
              <a:rPr lang="en-US" b="1" dirty="0">
                <a:latin typeface="Times New Roman" pitchFamily="18" charset="0"/>
                <a:cs typeface="Times New Roman" pitchFamily="18" charset="0"/>
              </a:rPr>
              <a:t>").value</a:t>
            </a:r>
          </a:p>
          <a:p>
            <a:pPr lvl="1">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atpos</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v.indexof</a:t>
            </a:r>
            <a:r>
              <a:rPr lang="en-US" b="1" dirty="0">
                <a:latin typeface="Times New Roman" pitchFamily="18" charset="0"/>
                <a:cs typeface="Times New Roman" pitchFamily="18" charset="0"/>
              </a:rPr>
              <a:t>('@');</a:t>
            </a:r>
          </a:p>
          <a:p>
            <a:pPr lvl="1">
              <a:buNone/>
            </a:pP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var</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dotpos</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v.indexof</a:t>
            </a:r>
            <a:r>
              <a:rPr lang="en-US" b="1" dirty="0">
                <a:latin typeface="Times New Roman" pitchFamily="18" charset="0"/>
                <a:cs typeface="Times New Roman" pitchFamily="18" charset="0"/>
              </a:rPr>
              <a:t>('.');</a:t>
            </a:r>
          </a:p>
          <a:p>
            <a:pPr lvl="1">
              <a:buNone/>
            </a:pPr>
            <a:r>
              <a:rPr lang="en-US" b="1" dirty="0">
                <a:latin typeface="Times New Roman" pitchFamily="18" charset="0"/>
                <a:cs typeface="Times New Roman" pitchFamily="18" charset="0"/>
              </a:rPr>
              <a:t>	if(</a:t>
            </a:r>
            <a:r>
              <a:rPr lang="en-US" b="1" dirty="0" err="1">
                <a:latin typeface="Times New Roman" pitchFamily="18" charset="0"/>
                <a:cs typeface="Times New Roman" pitchFamily="18" charset="0"/>
              </a:rPr>
              <a:t>atpos</a:t>
            </a:r>
            <a:r>
              <a:rPr lang="en-US" b="1" dirty="0">
                <a:latin typeface="Times New Roman" pitchFamily="18" charset="0"/>
                <a:cs typeface="Times New Roman" pitchFamily="18" charset="0"/>
              </a:rPr>
              <a:t>&lt;1||</a:t>
            </a:r>
            <a:r>
              <a:rPr lang="en-US" b="1" dirty="0" err="1">
                <a:latin typeface="Times New Roman" pitchFamily="18" charset="0"/>
                <a:cs typeface="Times New Roman" pitchFamily="18" charset="0"/>
              </a:rPr>
              <a:t>dotpos</a:t>
            </a:r>
            <a:r>
              <a:rPr lang="en-US" b="1" dirty="0">
                <a:latin typeface="Times New Roman" pitchFamily="18" charset="0"/>
                <a:cs typeface="Times New Roman" pitchFamily="18" charset="0"/>
              </a:rPr>
              <a:t>&gt;=v.length-2||</a:t>
            </a:r>
            <a:r>
              <a:rPr lang="en-US" b="1" dirty="0" err="1">
                <a:latin typeface="Times New Roman" pitchFamily="18" charset="0"/>
                <a:cs typeface="Times New Roman" pitchFamily="18" charset="0"/>
              </a:rPr>
              <a:t>dotpos</a:t>
            </a:r>
            <a:r>
              <a:rPr lang="en-US" b="1" dirty="0">
                <a:latin typeface="Times New Roman" pitchFamily="18" charset="0"/>
                <a:cs typeface="Times New Roman" pitchFamily="18" charset="0"/>
              </a:rPr>
              <a:t>&lt;3)</a:t>
            </a:r>
          </a:p>
          <a:p>
            <a:pPr lvl="1">
              <a:buNone/>
            </a:pPr>
            <a:r>
              <a:rPr lang="en-US" b="1" dirty="0">
                <a:latin typeface="Times New Roman" pitchFamily="18" charset="0"/>
                <a:cs typeface="Times New Roman" pitchFamily="18" charset="0"/>
              </a:rPr>
              <a:t>	alert("invalid Email");</a:t>
            </a:r>
          </a:p>
          <a:p>
            <a:pPr lvl="1">
              <a:buNone/>
            </a:pPr>
            <a:r>
              <a:rPr lang="en-US" b="1" dirty="0">
                <a:latin typeface="Times New Roman" pitchFamily="18" charset="0"/>
                <a:cs typeface="Times New Roman" pitchFamily="18" charset="0"/>
              </a:rPr>
              <a:t>	else</a:t>
            </a:r>
          </a:p>
          <a:p>
            <a:pPr lvl="1">
              <a:buNone/>
            </a:pPr>
            <a:r>
              <a:rPr lang="en-US" b="1" dirty="0">
                <a:latin typeface="Times New Roman" pitchFamily="18" charset="0"/>
                <a:cs typeface="Times New Roman" pitchFamily="18" charset="0"/>
              </a:rPr>
              <a:t>	alert("valid Email"); </a:t>
            </a:r>
          </a:p>
          <a:p>
            <a:pPr lvl="1">
              <a:buNone/>
            </a:pPr>
            <a:r>
              <a:rPr lang="en-US" b="1" dirty="0">
                <a:latin typeface="Times New Roman" pitchFamily="18" charset="0"/>
                <a:cs typeface="Times New Roman" pitchFamily="18" charset="0"/>
              </a:rPr>
              <a:t>	&lt;/script&gt;</a:t>
            </a:r>
          </a:p>
          <a:p>
            <a:pPr lvl="1">
              <a:buNone/>
            </a:pPr>
            <a:r>
              <a:rPr lang="en-US" b="1" dirty="0">
                <a:latin typeface="Times New Roman" pitchFamily="18" charset="0"/>
                <a:cs typeface="Times New Roman" pitchFamily="18" charset="0"/>
              </a:rPr>
              <a:t>&lt;/head&gt;</a:t>
            </a:r>
          </a:p>
          <a:p>
            <a:pPr lvl="1">
              <a:buNone/>
            </a:pPr>
            <a:r>
              <a:rPr lang="en-US" b="1" dirty="0">
                <a:latin typeface="Times New Roman" pitchFamily="18" charset="0"/>
                <a:cs typeface="Times New Roman" pitchFamily="18" charset="0"/>
              </a:rPr>
              <a:t>&lt;body&gt;&lt;form&gt;</a:t>
            </a:r>
          </a:p>
          <a:p>
            <a:pPr lvl="1">
              <a:buNone/>
            </a:pPr>
            <a:r>
              <a:rPr lang="en-US" b="1" dirty="0">
                <a:latin typeface="Times New Roman" pitchFamily="18" charset="0"/>
                <a:cs typeface="Times New Roman" pitchFamily="18" charset="0"/>
              </a:rPr>
              <a:t>Email ID: &lt;input type="text" id='</a:t>
            </a:r>
            <a:r>
              <a:rPr lang="en-US" b="1" dirty="0" err="1">
                <a:latin typeface="Times New Roman" pitchFamily="18" charset="0"/>
                <a:cs typeface="Times New Roman" pitchFamily="18" charset="0"/>
              </a:rPr>
              <a:t>elem</a:t>
            </a:r>
            <a:r>
              <a:rPr lang="en-US" b="1" dirty="0">
                <a:latin typeface="Times New Roman" pitchFamily="18" charset="0"/>
                <a:cs typeface="Times New Roman" pitchFamily="18" charset="0"/>
              </a:rPr>
              <a:t>'/&gt;</a:t>
            </a:r>
          </a:p>
          <a:p>
            <a:pPr lvl="1">
              <a:buNone/>
            </a:pPr>
            <a:r>
              <a:rPr lang="en-US" b="1" dirty="0">
                <a:latin typeface="Times New Roman" pitchFamily="18" charset="0"/>
                <a:cs typeface="Times New Roman" pitchFamily="18" charset="0"/>
              </a:rPr>
              <a:t>&lt;input type="button" </a:t>
            </a:r>
            <a:r>
              <a:rPr lang="en-US" b="1" dirty="0" err="1">
                <a:latin typeface="Times New Roman" pitchFamily="18" charset="0"/>
                <a:cs typeface="Times New Roman" pitchFamily="18" charset="0"/>
              </a:rPr>
              <a:t>onclick</a:t>
            </a:r>
            <a:r>
              <a:rPr lang="en-US" b="1" dirty="0">
                <a:latin typeface="Times New Roman" pitchFamily="18" charset="0"/>
                <a:cs typeface="Times New Roman" pitchFamily="18" charset="0"/>
              </a:rPr>
              <a:t>="validate()" value="Check"/&gt;</a:t>
            </a:r>
          </a:p>
          <a:p>
            <a:pPr lvl="1">
              <a:buNone/>
            </a:pPr>
            <a:r>
              <a:rPr lang="en-US" b="1" dirty="0">
                <a:latin typeface="Times New Roman" pitchFamily="18" charset="0"/>
                <a:cs typeface="Times New Roman" pitchFamily="18" charset="0"/>
              </a:rPr>
              <a:t>&lt;/form&gt;</a:t>
            </a:r>
          </a:p>
          <a:p>
            <a:pPr lvl="1">
              <a:buNone/>
            </a:pPr>
            <a:r>
              <a:rPr lang="en-US" b="1" dirty="0">
                <a:latin typeface="Times New Roman" pitchFamily="18" charset="0"/>
                <a:cs typeface="Times New Roman" pitchFamily="18" charset="0"/>
              </a:rPr>
              <a:t>&lt;/body&gt;</a:t>
            </a:r>
          </a:p>
          <a:p>
            <a:pPr lvl="1">
              <a:buNone/>
            </a:pPr>
            <a:r>
              <a:rPr lang="en-US" b="1" dirty="0">
                <a:latin typeface="Times New Roman" pitchFamily="18" charset="0"/>
                <a:cs typeface="Times New Roman" pitchFamily="18" charset="0"/>
              </a:rPr>
              <a:t>&lt;/html&gt;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Handling</a:t>
            </a:r>
          </a:p>
        </p:txBody>
      </p:sp>
      <p:sp>
        <p:nvSpPr>
          <p:cNvPr id="3" name="Content Placeholder 2"/>
          <p:cNvSpPr>
            <a:spLocks noGrp="1"/>
          </p:cNvSpPr>
          <p:nvPr>
            <p:ph idx="1"/>
          </p:nvPr>
        </p:nvSpPr>
        <p:spPr/>
        <p:txBody>
          <a:bodyPr>
            <a:normAutofit fontScale="92500" lnSpcReduction="20000"/>
          </a:bodyPr>
          <a:lstStyle/>
          <a:p>
            <a:pPr marL="457200" lvl="0" indent="-406400">
              <a:lnSpc>
                <a:spcPct val="150000"/>
              </a:lnSpc>
              <a:spcBef>
                <a:spcPts val="0"/>
              </a:spcBef>
              <a:buSzPts val="2800"/>
              <a:buChar char="●"/>
            </a:pPr>
            <a:r>
              <a:rPr lang="en-US" dirty="0">
                <a:latin typeface="Times New Roman" pitchFamily="18" charset="0"/>
                <a:cs typeface="Times New Roman" pitchFamily="18" charset="0"/>
              </a:rPr>
              <a:t>The try statement lets you test a block of code for errors.</a:t>
            </a:r>
          </a:p>
          <a:p>
            <a:pPr marL="457200" lvl="0" indent="-406400">
              <a:lnSpc>
                <a:spcPct val="150000"/>
              </a:lnSpc>
              <a:spcBef>
                <a:spcPts val="0"/>
              </a:spcBef>
              <a:buSzPts val="2800"/>
              <a:buChar char="●"/>
            </a:pPr>
            <a:r>
              <a:rPr lang="en-US" dirty="0">
                <a:latin typeface="Times New Roman" pitchFamily="18" charset="0"/>
                <a:cs typeface="Times New Roman" pitchFamily="18" charset="0"/>
              </a:rPr>
              <a:t>The catch statement lets you handle the error.</a:t>
            </a:r>
          </a:p>
          <a:p>
            <a:pPr marL="457200" lvl="0" indent="-406400">
              <a:lnSpc>
                <a:spcPct val="150000"/>
              </a:lnSpc>
              <a:spcBef>
                <a:spcPts val="0"/>
              </a:spcBef>
              <a:buSzPts val="2800"/>
              <a:buChar char="●"/>
            </a:pPr>
            <a:r>
              <a:rPr lang="en-US" dirty="0">
                <a:latin typeface="Times New Roman" pitchFamily="18" charset="0"/>
                <a:cs typeface="Times New Roman" pitchFamily="18" charset="0"/>
              </a:rPr>
              <a:t>The throw statement lets you create custom errors.</a:t>
            </a:r>
          </a:p>
          <a:p>
            <a:pPr marL="457200" lvl="0" indent="-406400">
              <a:lnSpc>
                <a:spcPct val="150000"/>
              </a:lnSpc>
              <a:spcBef>
                <a:spcPts val="0"/>
              </a:spcBef>
              <a:buSzPts val="2800"/>
              <a:buChar char="●"/>
            </a:pPr>
            <a:r>
              <a:rPr lang="en-US" dirty="0">
                <a:latin typeface="Times New Roman" pitchFamily="18" charset="0"/>
                <a:cs typeface="Times New Roman" pitchFamily="18" charset="0"/>
              </a:rPr>
              <a:t>The finally statement lets you execute code, after try and catch, regardless of the result.</a:t>
            </a:r>
          </a:p>
          <a:p>
            <a:pPr marL="457200" lvl="0" indent="0">
              <a:lnSpc>
                <a:spcPct val="150000"/>
              </a:lnSpc>
              <a:spcBef>
                <a:spcPts val="0"/>
              </a:spcBef>
              <a:buNone/>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51;p48"/>
          <p:cNvPicPr preferRelativeResize="0">
            <a:picLocks noGrp="1"/>
          </p:cNvPicPr>
          <p:nvPr>
            <p:ph idx="1"/>
          </p:nvPr>
        </p:nvPicPr>
        <p:blipFill>
          <a:blip r:embed="rId2">
            <a:alphaModFix/>
          </a:blip>
          <a:stretch>
            <a:fillRect/>
          </a:stretch>
        </p:blipFill>
        <p:spPr>
          <a:xfrm>
            <a:off x="304800" y="304800"/>
            <a:ext cx="4924425" cy="6172200"/>
          </a:xfrm>
          <a:prstGeom prst="rect">
            <a:avLst/>
          </a:prstGeom>
          <a:noFill/>
          <a:ln>
            <a:noFill/>
          </a:ln>
        </p:spPr>
      </p:pic>
      <p:pic>
        <p:nvPicPr>
          <p:cNvPr id="5" name="Google Shape;352;p48"/>
          <p:cNvPicPr preferRelativeResize="0"/>
          <p:nvPr/>
        </p:nvPicPr>
        <p:blipFill>
          <a:blip r:embed="rId3">
            <a:alphaModFix/>
          </a:blip>
          <a:stretch>
            <a:fillRect/>
          </a:stretch>
        </p:blipFill>
        <p:spPr>
          <a:xfrm>
            <a:off x="5715000" y="609600"/>
            <a:ext cx="2582100" cy="40386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04800"/>
            <a:ext cx="8229600" cy="5821363"/>
          </a:xfrm>
        </p:spPr>
        <p:txBody>
          <a:bodyPr>
            <a:normAutofit lnSpcReduction="10000"/>
          </a:bodyPr>
          <a:lstStyle/>
          <a:p>
            <a:pPr marL="0" indent="0" algn="ctr">
              <a:buNone/>
            </a:pPr>
            <a:r>
              <a:rPr lang="en-US" sz="3600" b="1" u="sng" dirty="0" smtClean="0"/>
              <a:t>Cookies in JavaScript</a:t>
            </a:r>
          </a:p>
          <a:p>
            <a:r>
              <a:rPr lang="en-US" sz="3600" dirty="0" smtClean="0"/>
              <a:t>Cookies are small piece of information stored in the browsers.</a:t>
            </a:r>
          </a:p>
          <a:p>
            <a:r>
              <a:rPr lang="en-US" sz="3600" smtClean="0"/>
              <a:t>cookies </a:t>
            </a:r>
            <a:r>
              <a:rPr lang="en-US" sz="3600" dirty="0"/>
              <a:t>were invented to solve the problem "how to remember information about the user":</a:t>
            </a:r>
          </a:p>
          <a:p>
            <a:r>
              <a:rPr lang="en-US" sz="3600" dirty="0"/>
              <a:t>When a user visits a web page, his/her name can be stored in a cookie.</a:t>
            </a:r>
          </a:p>
          <a:p>
            <a:r>
              <a:rPr lang="en-US" sz="3600" dirty="0"/>
              <a:t>Next time the user visits the page, the cookie "remembers" his/her name.</a:t>
            </a:r>
          </a:p>
          <a:p>
            <a:endParaRPr lang="en-US" sz="3600" dirty="0"/>
          </a:p>
        </p:txBody>
      </p:sp>
    </p:spTree>
    <p:extLst>
      <p:ext uri="{BB962C8B-B14F-4D97-AF65-F5344CB8AC3E}">
        <p14:creationId xmlns:p14="http://schemas.microsoft.com/office/powerpoint/2010/main" val="4015366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04800"/>
            <a:ext cx="8229600" cy="5821363"/>
          </a:xfrm>
        </p:spPr>
        <p:txBody>
          <a:bodyPr>
            <a:normAutofit fontScale="92500"/>
          </a:bodyPr>
          <a:lstStyle/>
          <a:p>
            <a:r>
              <a:rPr lang="en-US" sz="3600" dirty="0"/>
              <a:t>JavaScript can create, read, and delete cookies </a:t>
            </a:r>
            <a:r>
              <a:rPr lang="en-US" sz="3600" dirty="0" smtClean="0"/>
              <a:t>with the</a:t>
            </a:r>
            <a:r>
              <a:rPr lang="en-US" sz="3600" dirty="0"/>
              <a:t> </a:t>
            </a:r>
            <a:r>
              <a:rPr lang="en-US" sz="3600" b="1" dirty="0" err="1">
                <a:solidFill>
                  <a:srgbClr val="FF0000"/>
                </a:solidFill>
              </a:rPr>
              <a:t>document.cookie</a:t>
            </a:r>
            <a:r>
              <a:rPr lang="en-US" sz="3600" dirty="0"/>
              <a:t> property.</a:t>
            </a:r>
          </a:p>
          <a:p>
            <a:pPr marL="0" indent="0">
              <a:buNone/>
            </a:pPr>
            <a:r>
              <a:rPr lang="en-US" sz="3600" b="1" dirty="0" smtClean="0"/>
              <a:t>1)With </a:t>
            </a:r>
            <a:r>
              <a:rPr lang="en-US" sz="3600" b="1" dirty="0"/>
              <a:t>JavaScript, a cookie can be created like this</a:t>
            </a:r>
            <a:r>
              <a:rPr lang="en-US" sz="3600" b="1" dirty="0" smtClean="0"/>
              <a:t>:-</a:t>
            </a:r>
            <a:endParaRPr lang="en-US" sz="3600" b="1" dirty="0"/>
          </a:p>
          <a:p>
            <a:pPr marL="0" indent="0">
              <a:buNone/>
            </a:pPr>
            <a:r>
              <a:rPr lang="en-US" sz="3600" dirty="0" err="1"/>
              <a:t>document.cookie</a:t>
            </a:r>
            <a:r>
              <a:rPr lang="en-US" sz="3600" dirty="0"/>
              <a:t> = "username=John Doe</a:t>
            </a:r>
            <a:r>
              <a:rPr lang="en-US" sz="3600" dirty="0" smtClean="0"/>
              <a:t>";</a:t>
            </a:r>
          </a:p>
          <a:p>
            <a:pPr marL="0" indent="0">
              <a:buNone/>
            </a:pPr>
            <a:r>
              <a:rPr lang="en-US" sz="3600" b="1" dirty="0" smtClean="0"/>
              <a:t>2)</a:t>
            </a:r>
            <a:r>
              <a:rPr lang="en-US" sz="3600" b="1" dirty="0"/>
              <a:t> </a:t>
            </a:r>
            <a:r>
              <a:rPr lang="en-US" sz="3600" b="1" dirty="0" smtClean="0"/>
              <a:t>We an </a:t>
            </a:r>
            <a:r>
              <a:rPr lang="en-US" sz="3600" b="1" dirty="0"/>
              <a:t>also add an expiry date (in UTC time). By default, the cookie is deleted when the browser is closed</a:t>
            </a:r>
            <a:r>
              <a:rPr lang="en-US" sz="3600" b="1" dirty="0" smtClean="0"/>
              <a:t>:-</a:t>
            </a:r>
            <a:endParaRPr lang="en-US" sz="3600" b="1" dirty="0"/>
          </a:p>
          <a:p>
            <a:pPr marL="0" indent="0">
              <a:buNone/>
            </a:pPr>
            <a:r>
              <a:rPr lang="en-US" sz="3600" dirty="0" err="1"/>
              <a:t>document.cookie</a:t>
            </a:r>
            <a:r>
              <a:rPr lang="en-US" sz="3600" dirty="0"/>
              <a:t> = "username=John Doe; expires=Thu, 18 Dec 2013 12:00:00 UTC";</a:t>
            </a:r>
          </a:p>
          <a:p>
            <a:pPr marL="0" indent="0">
              <a:buNone/>
            </a:pPr>
            <a:endParaRPr lang="en-US" sz="3600" dirty="0"/>
          </a:p>
        </p:txBody>
      </p:sp>
    </p:spTree>
    <p:extLst>
      <p:ext uri="{BB962C8B-B14F-4D97-AF65-F5344CB8AC3E}">
        <p14:creationId xmlns:p14="http://schemas.microsoft.com/office/powerpoint/2010/main" val="5509828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04800"/>
            <a:ext cx="8229600" cy="5821363"/>
          </a:xfrm>
        </p:spPr>
        <p:txBody>
          <a:bodyPr>
            <a:normAutofit/>
          </a:bodyPr>
          <a:lstStyle/>
          <a:p>
            <a:pPr marL="0" indent="0">
              <a:buNone/>
            </a:pPr>
            <a:r>
              <a:rPr lang="en-US" sz="3600" dirty="0" smtClean="0"/>
              <a:t>3) </a:t>
            </a:r>
            <a:r>
              <a:rPr lang="en-US" sz="3600" b="1" dirty="0" smtClean="0"/>
              <a:t>Read </a:t>
            </a:r>
            <a:r>
              <a:rPr lang="en-US" sz="3600" b="1" dirty="0"/>
              <a:t>a Cookie with JavaScript</a:t>
            </a:r>
          </a:p>
          <a:p>
            <a:r>
              <a:rPr lang="en-US" sz="3600" dirty="0"/>
              <a:t>With JavaScript, cookies can be read like this:</a:t>
            </a:r>
          </a:p>
          <a:p>
            <a:pPr marL="0" indent="0">
              <a:buNone/>
            </a:pPr>
            <a:r>
              <a:rPr lang="en-US" sz="3600" dirty="0"/>
              <a:t>let x = </a:t>
            </a:r>
            <a:r>
              <a:rPr lang="en-US" sz="3600" dirty="0" err="1"/>
              <a:t>document.cookie</a:t>
            </a:r>
            <a:r>
              <a:rPr lang="en-US" sz="3600" dirty="0"/>
              <a:t>;</a:t>
            </a:r>
          </a:p>
          <a:p>
            <a:r>
              <a:rPr lang="en-US" sz="3600" dirty="0" err="1"/>
              <a:t>document.cookie</a:t>
            </a:r>
            <a:r>
              <a:rPr lang="en-US" sz="3600" dirty="0"/>
              <a:t> will return all cookies in one string much like: cookie1=value; cookie2=value; cookie3=value;</a:t>
            </a:r>
          </a:p>
        </p:txBody>
      </p:sp>
    </p:spTree>
    <p:extLst>
      <p:ext uri="{BB962C8B-B14F-4D97-AF65-F5344CB8AC3E}">
        <p14:creationId xmlns:p14="http://schemas.microsoft.com/office/powerpoint/2010/main" val="1523406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0CCA636ADD2645A7688547A8D1F673" ma:contentTypeVersion="0" ma:contentTypeDescription="Create a new document." ma:contentTypeScope="" ma:versionID="349826220fffbbc9d3cef0e15e2bf153">
  <xsd:schema xmlns:xsd="http://www.w3.org/2001/XMLSchema" xmlns:xs="http://www.w3.org/2001/XMLSchema" xmlns:p="http://schemas.microsoft.com/office/2006/metadata/properties" targetNamespace="http://schemas.microsoft.com/office/2006/metadata/properties" ma:root="true" ma:fieldsID="b34f15b030d40ffca33e4aeb8eb001f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3A32C96-5353-4A59-B0DD-214B0CBAA8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B392F13-6D57-46BF-BC03-E9A28BF6A3AB}">
  <ds:schemaRefs>
    <ds:schemaRef ds:uri="http://schemas.microsoft.com/sharepoint/v3/contenttype/forms"/>
  </ds:schemaRefs>
</ds:datastoreItem>
</file>

<file path=customXml/itemProps3.xml><?xml version="1.0" encoding="utf-8"?>
<ds:datastoreItem xmlns:ds="http://schemas.openxmlformats.org/officeDocument/2006/customXml" ds:itemID="{476AABF3-B34E-4D07-A4C3-2578C77D2AC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1065</TotalTime>
  <Words>3458</Words>
  <Application>Microsoft Office PowerPoint</Application>
  <PresentationFormat>On-screen Show (4:3)</PresentationFormat>
  <Paragraphs>951</Paragraphs>
  <Slides>93</Slides>
  <Notes>1</Notes>
  <HiddenSlides>0</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Office Theme</vt:lpstr>
      <vt:lpstr>Unit-1 Java Script</vt:lpstr>
      <vt:lpstr>History of Java script</vt:lpstr>
      <vt:lpstr>Overview/Introduction Of JavaScript</vt:lpstr>
      <vt:lpstr>Overview/Introduction Of JavaScript</vt:lpstr>
      <vt:lpstr>PowerPoint Presentation</vt:lpstr>
      <vt:lpstr>Where to Put the JavaScript</vt:lpstr>
      <vt:lpstr>Primitives</vt:lpstr>
      <vt:lpstr>JavaScript Variables </vt:lpstr>
      <vt:lpstr>JavaScript Variables</vt:lpstr>
      <vt:lpstr>Way to include java script in html</vt:lpstr>
      <vt:lpstr>Operators</vt:lpstr>
      <vt:lpstr>Control Statement</vt:lpstr>
      <vt:lpstr>Branching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Pop-up Boxes</vt:lpstr>
      <vt:lpstr>Alert box</vt:lpstr>
      <vt:lpstr>PowerPoint Presentation</vt:lpstr>
      <vt:lpstr>Confirmation Box</vt:lpstr>
      <vt:lpstr>PowerPoint Presentation</vt:lpstr>
      <vt:lpstr>Prompt Box</vt:lpstr>
      <vt:lpstr>PowerPoint Presentation</vt:lpstr>
      <vt:lpstr>Events</vt:lpstr>
      <vt:lpstr>Event</vt:lpstr>
      <vt:lpstr>PowerPoint Presentation</vt:lpstr>
      <vt:lpstr>PowerPoint Presentation</vt:lpstr>
      <vt:lpstr>Java Script Object</vt:lpstr>
      <vt:lpstr>PowerPoint Presentation</vt:lpstr>
      <vt:lpstr>PowerPoint Presentation</vt:lpstr>
      <vt:lpstr>PowerPoint Presentation</vt:lpstr>
      <vt:lpstr>Java script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 object model</vt:lpstr>
      <vt:lpstr>PowerPoint Presentation</vt:lpstr>
      <vt:lpstr>PowerPoint Presentation</vt:lpstr>
      <vt:lpstr>Document Object model</vt:lpstr>
      <vt:lpstr>PowerPoint Presentation</vt:lpstr>
      <vt:lpstr>PowerPoint Presentation</vt:lpstr>
      <vt:lpstr>PowerPoint Presentation</vt:lpstr>
      <vt:lpstr>PowerPoint Presentation</vt:lpstr>
      <vt:lpstr>Validation </vt:lpstr>
      <vt:lpstr>PowerPoint Presentation</vt:lpstr>
      <vt:lpstr> Some of Validation rules for field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 Handling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Unit-3 Java Script and JQuery</dc:title>
  <dc:creator>BHUPI</dc:creator>
  <cp:lastModifiedBy>Windows User</cp:lastModifiedBy>
  <cp:revision>197</cp:revision>
  <dcterms:created xsi:type="dcterms:W3CDTF">2019-08-26T02:21:36Z</dcterms:created>
  <dcterms:modified xsi:type="dcterms:W3CDTF">2024-08-03T10:19:53Z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0x0101008B0CCA636ADD2645A7688547A8D1F673</vt:lpwstr>
  </property>
</Properties>
</file>